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1E3DF2-CBD1-4DCF-80F6-5106A365EDC5}" type="doc">
      <dgm:prSet loTypeId="urn:microsoft.com/office/officeart/2005/8/layout/vList2" loCatId="list" qsTypeId="urn:microsoft.com/office/officeart/2005/8/quickstyle/simple1#1" qsCatId="simple" csTypeId="urn:microsoft.com/office/officeart/2005/8/colors/accent1_2#1" csCatId="accent1"/>
      <dgm:spPr/>
      <dgm:t>
        <a:bodyPr/>
        <a:lstStyle/>
        <a:p>
          <a:endParaRPr lang="en-IN"/>
        </a:p>
      </dgm:t>
    </dgm:pt>
    <dgm:pt modelId="{4434F1E7-5DDF-445A-A0D5-1FDB18CAB86E}">
      <dgm:prSet/>
      <dgm:spPr/>
      <dgm:t>
        <a:bodyPr/>
        <a:lstStyle/>
        <a:p>
          <a:pPr algn="ctr"/>
          <a:r>
            <a:rPr lang="en-IN"/>
            <a:t>Customer Management </a:t>
          </a:r>
        </a:p>
      </dgm:t>
    </dgm:pt>
    <dgm:pt modelId="{98AAEBC1-B95A-4236-8D88-CD6311480768}" type="parTrans" cxnId="{1CEE3A4D-85FC-4026-A582-7CA26141E2FF}">
      <dgm:prSet/>
      <dgm:spPr/>
      <dgm:t>
        <a:bodyPr/>
        <a:lstStyle/>
        <a:p>
          <a:endParaRPr lang="en-IN"/>
        </a:p>
      </dgm:t>
    </dgm:pt>
    <dgm:pt modelId="{824752D7-CADE-403D-A20A-5C03235C1057}" type="sibTrans" cxnId="{1CEE3A4D-85FC-4026-A582-7CA26141E2FF}">
      <dgm:prSet/>
      <dgm:spPr/>
      <dgm:t>
        <a:bodyPr/>
        <a:lstStyle/>
        <a:p>
          <a:endParaRPr lang="en-IN"/>
        </a:p>
      </dgm:t>
    </dgm:pt>
    <dgm:pt modelId="{7601FE61-1952-4B60-8F07-8901B9C2DFAE}">
      <dgm:prSet/>
      <dgm:spPr/>
      <dgm:t>
        <a:bodyPr/>
        <a:lstStyle/>
        <a:p>
          <a:pPr algn="ctr"/>
          <a:r>
            <a:rPr lang="en-IN"/>
            <a:t>Account Management </a:t>
          </a:r>
        </a:p>
      </dgm:t>
    </dgm:pt>
    <dgm:pt modelId="{20434E13-A333-470A-AAC0-94BB818E392F}" type="parTrans" cxnId="{6A0B6F51-56AA-4ED8-AC36-3150AE87BFC4}">
      <dgm:prSet/>
      <dgm:spPr/>
      <dgm:t>
        <a:bodyPr/>
        <a:lstStyle/>
        <a:p>
          <a:endParaRPr lang="en-IN"/>
        </a:p>
      </dgm:t>
    </dgm:pt>
    <dgm:pt modelId="{00593EAC-3EBB-48B1-8C8F-2819E1029431}" type="sibTrans" cxnId="{6A0B6F51-56AA-4ED8-AC36-3150AE87BFC4}">
      <dgm:prSet/>
      <dgm:spPr/>
      <dgm:t>
        <a:bodyPr/>
        <a:lstStyle/>
        <a:p>
          <a:endParaRPr lang="en-IN"/>
        </a:p>
      </dgm:t>
    </dgm:pt>
    <dgm:pt modelId="{580EAD2F-BE67-4697-8DBA-94D90C9DD437}">
      <dgm:prSet/>
      <dgm:spPr/>
      <dgm:t>
        <a:bodyPr/>
        <a:lstStyle/>
        <a:p>
          <a:pPr algn="ctr"/>
          <a:r>
            <a:rPr lang="en-IN"/>
            <a:t>Branch Management </a:t>
          </a:r>
        </a:p>
      </dgm:t>
    </dgm:pt>
    <dgm:pt modelId="{92B9A0A6-8617-41A8-A9E5-2D1EDE0B84B1}" type="parTrans" cxnId="{123011BE-74EB-4EB2-86BF-3F72137F83EC}">
      <dgm:prSet/>
      <dgm:spPr/>
      <dgm:t>
        <a:bodyPr/>
        <a:lstStyle/>
        <a:p>
          <a:endParaRPr lang="en-IN"/>
        </a:p>
      </dgm:t>
    </dgm:pt>
    <dgm:pt modelId="{91F81938-6C76-4458-ABDB-CB890CD6C18B}" type="sibTrans" cxnId="{123011BE-74EB-4EB2-86BF-3F72137F83EC}">
      <dgm:prSet/>
      <dgm:spPr/>
      <dgm:t>
        <a:bodyPr/>
        <a:lstStyle/>
        <a:p>
          <a:endParaRPr lang="en-IN"/>
        </a:p>
      </dgm:t>
    </dgm:pt>
    <dgm:pt modelId="{E50999AB-0AE7-48B0-9458-0FB58E8524CF}">
      <dgm:prSet/>
      <dgm:spPr/>
      <dgm:t>
        <a:bodyPr/>
        <a:lstStyle/>
        <a:p>
          <a:pPr algn="ctr"/>
          <a:r>
            <a:rPr lang="en-IN"/>
            <a:t>Employee Management </a:t>
          </a:r>
        </a:p>
      </dgm:t>
    </dgm:pt>
    <dgm:pt modelId="{A1FA437B-61FD-4429-85CE-631E6EC148C5}" type="parTrans" cxnId="{78C20117-AC02-42DE-88E6-AC3BB430132E}">
      <dgm:prSet/>
      <dgm:spPr/>
      <dgm:t>
        <a:bodyPr/>
        <a:lstStyle/>
        <a:p>
          <a:endParaRPr lang="en-IN"/>
        </a:p>
      </dgm:t>
    </dgm:pt>
    <dgm:pt modelId="{FD5A8515-2ADC-46C5-AC50-960645F1E917}" type="sibTrans" cxnId="{78C20117-AC02-42DE-88E6-AC3BB430132E}">
      <dgm:prSet/>
      <dgm:spPr/>
      <dgm:t>
        <a:bodyPr/>
        <a:lstStyle/>
        <a:p>
          <a:endParaRPr lang="en-IN"/>
        </a:p>
      </dgm:t>
    </dgm:pt>
    <dgm:pt modelId="{D290739F-9DD8-45BC-876B-D460C6FA840A}">
      <dgm:prSet/>
      <dgm:spPr/>
      <dgm:t>
        <a:bodyPr/>
        <a:lstStyle/>
        <a:p>
          <a:pPr algn="ctr"/>
          <a:r>
            <a:rPr lang="en-IN"/>
            <a:t>Transaction Management </a:t>
          </a:r>
        </a:p>
      </dgm:t>
    </dgm:pt>
    <dgm:pt modelId="{DAD265A0-ECBA-4109-8C67-567BC6104C02}" type="parTrans" cxnId="{79F56CDB-2637-4F19-8A4F-9C72B778AE69}">
      <dgm:prSet/>
      <dgm:spPr/>
      <dgm:t>
        <a:bodyPr/>
        <a:lstStyle/>
        <a:p>
          <a:endParaRPr lang="en-IN"/>
        </a:p>
      </dgm:t>
    </dgm:pt>
    <dgm:pt modelId="{14441B39-D1C5-4F1C-A243-62FF80D46E8B}" type="sibTrans" cxnId="{79F56CDB-2637-4F19-8A4F-9C72B778AE69}">
      <dgm:prSet/>
      <dgm:spPr/>
      <dgm:t>
        <a:bodyPr/>
        <a:lstStyle/>
        <a:p>
          <a:endParaRPr lang="en-IN"/>
        </a:p>
      </dgm:t>
    </dgm:pt>
    <dgm:pt modelId="{69BD7C57-1275-4934-9267-1A17ED86DC6F}">
      <dgm:prSet/>
      <dgm:spPr/>
      <dgm:t>
        <a:bodyPr/>
        <a:lstStyle/>
        <a:p>
          <a:pPr algn="ctr"/>
          <a:r>
            <a:rPr lang="en-IN"/>
            <a:t>Loan Management</a:t>
          </a:r>
        </a:p>
      </dgm:t>
    </dgm:pt>
    <dgm:pt modelId="{BBBB2CEE-FC4E-4B1E-87B2-3B809243B93D}" type="parTrans" cxnId="{A946B81D-F5EA-45A6-B7B1-0392E7235255}">
      <dgm:prSet/>
      <dgm:spPr/>
      <dgm:t>
        <a:bodyPr/>
        <a:lstStyle/>
        <a:p>
          <a:endParaRPr lang="en-IN"/>
        </a:p>
      </dgm:t>
    </dgm:pt>
    <dgm:pt modelId="{0EB340A9-C155-40EB-901E-CF91E16D5C76}" type="sibTrans" cxnId="{A946B81D-F5EA-45A6-B7B1-0392E7235255}">
      <dgm:prSet/>
      <dgm:spPr/>
      <dgm:t>
        <a:bodyPr/>
        <a:lstStyle/>
        <a:p>
          <a:endParaRPr lang="en-IN"/>
        </a:p>
      </dgm:t>
    </dgm:pt>
    <dgm:pt modelId="{87463CAC-49F7-4E1F-88C8-3CA3A44C3594}" type="pres">
      <dgm:prSet presAssocID="{3C1E3DF2-CBD1-4DCF-80F6-5106A365EDC5}" presName="linear" presStyleCnt="0">
        <dgm:presLayoutVars>
          <dgm:animLvl val="lvl"/>
          <dgm:resizeHandles val="exact"/>
        </dgm:presLayoutVars>
      </dgm:prSet>
      <dgm:spPr/>
    </dgm:pt>
    <dgm:pt modelId="{9D7FCEC8-13BC-4564-AB55-CE2D1BCC9706}" type="pres">
      <dgm:prSet presAssocID="{4434F1E7-5DDF-445A-A0D5-1FDB18CAB86E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B45B5DF5-DFEF-4592-A352-55CE9447427A}" type="pres">
      <dgm:prSet presAssocID="{824752D7-CADE-403D-A20A-5C03235C1057}" presName="spacer" presStyleCnt="0"/>
      <dgm:spPr/>
    </dgm:pt>
    <dgm:pt modelId="{E57DA568-2CC7-4795-91CE-7666B1B5DA36}" type="pres">
      <dgm:prSet presAssocID="{7601FE61-1952-4B60-8F07-8901B9C2DFAE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8F574A01-7FB2-40C4-8E78-443B0CAD1D39}" type="pres">
      <dgm:prSet presAssocID="{00593EAC-3EBB-48B1-8C8F-2819E1029431}" presName="spacer" presStyleCnt="0"/>
      <dgm:spPr/>
    </dgm:pt>
    <dgm:pt modelId="{BA805F31-1BC1-4741-BE88-1C93D70D6FEB}" type="pres">
      <dgm:prSet presAssocID="{580EAD2F-BE67-4697-8DBA-94D90C9DD437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0071FEC0-F84F-4191-8EF1-66F2DFE5C6E5}" type="pres">
      <dgm:prSet presAssocID="{91F81938-6C76-4458-ABDB-CB890CD6C18B}" presName="spacer" presStyleCnt="0"/>
      <dgm:spPr/>
    </dgm:pt>
    <dgm:pt modelId="{E3163ADE-A140-4DF2-AFFD-EA19E7178262}" type="pres">
      <dgm:prSet presAssocID="{E50999AB-0AE7-48B0-9458-0FB58E8524CF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DAE0519F-04DC-417F-AE7E-ADA608F37B01}" type="pres">
      <dgm:prSet presAssocID="{FD5A8515-2ADC-46C5-AC50-960645F1E917}" presName="spacer" presStyleCnt="0"/>
      <dgm:spPr/>
    </dgm:pt>
    <dgm:pt modelId="{7FF9DC5D-E016-4F23-BFCE-48E60E4678F6}" type="pres">
      <dgm:prSet presAssocID="{D290739F-9DD8-45BC-876B-D460C6FA840A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C3BC69F5-40AD-40FF-841E-095A26EF78EC}" type="pres">
      <dgm:prSet presAssocID="{14441B39-D1C5-4F1C-A243-62FF80D46E8B}" presName="spacer" presStyleCnt="0"/>
      <dgm:spPr/>
    </dgm:pt>
    <dgm:pt modelId="{6E27F6B4-05DB-4AE5-BFF7-C4BD02905D83}" type="pres">
      <dgm:prSet presAssocID="{69BD7C57-1275-4934-9267-1A17ED86DC6F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78C20117-AC02-42DE-88E6-AC3BB430132E}" srcId="{3C1E3DF2-CBD1-4DCF-80F6-5106A365EDC5}" destId="{E50999AB-0AE7-48B0-9458-0FB58E8524CF}" srcOrd="3" destOrd="0" parTransId="{A1FA437B-61FD-4429-85CE-631E6EC148C5}" sibTransId="{FD5A8515-2ADC-46C5-AC50-960645F1E917}"/>
    <dgm:cxn modelId="{A946B81D-F5EA-45A6-B7B1-0392E7235255}" srcId="{3C1E3DF2-CBD1-4DCF-80F6-5106A365EDC5}" destId="{69BD7C57-1275-4934-9267-1A17ED86DC6F}" srcOrd="5" destOrd="0" parTransId="{BBBB2CEE-FC4E-4B1E-87B2-3B809243B93D}" sibTransId="{0EB340A9-C155-40EB-901E-CF91E16D5C76}"/>
    <dgm:cxn modelId="{1CEE3A4D-85FC-4026-A582-7CA26141E2FF}" srcId="{3C1E3DF2-CBD1-4DCF-80F6-5106A365EDC5}" destId="{4434F1E7-5DDF-445A-A0D5-1FDB18CAB86E}" srcOrd="0" destOrd="0" parTransId="{98AAEBC1-B95A-4236-8D88-CD6311480768}" sibTransId="{824752D7-CADE-403D-A20A-5C03235C1057}"/>
    <dgm:cxn modelId="{6A0B6F51-56AA-4ED8-AC36-3150AE87BFC4}" srcId="{3C1E3DF2-CBD1-4DCF-80F6-5106A365EDC5}" destId="{7601FE61-1952-4B60-8F07-8901B9C2DFAE}" srcOrd="1" destOrd="0" parTransId="{20434E13-A333-470A-AAC0-94BB818E392F}" sibTransId="{00593EAC-3EBB-48B1-8C8F-2819E1029431}"/>
    <dgm:cxn modelId="{A9672D82-775B-472F-9DFB-D9EFA7CBC2B3}" type="presOf" srcId="{580EAD2F-BE67-4697-8DBA-94D90C9DD437}" destId="{BA805F31-1BC1-4741-BE88-1C93D70D6FEB}" srcOrd="0" destOrd="0" presId="urn:microsoft.com/office/officeart/2005/8/layout/vList2"/>
    <dgm:cxn modelId="{EFA74B82-A144-46DD-90DC-7F764CC4095B}" type="presOf" srcId="{3C1E3DF2-CBD1-4DCF-80F6-5106A365EDC5}" destId="{87463CAC-49F7-4E1F-88C8-3CA3A44C3594}" srcOrd="0" destOrd="0" presId="urn:microsoft.com/office/officeart/2005/8/layout/vList2"/>
    <dgm:cxn modelId="{37FB9D8C-16F7-4BAC-B177-8CADBD8A65BE}" type="presOf" srcId="{E50999AB-0AE7-48B0-9458-0FB58E8524CF}" destId="{E3163ADE-A140-4DF2-AFFD-EA19E7178262}" srcOrd="0" destOrd="0" presId="urn:microsoft.com/office/officeart/2005/8/layout/vList2"/>
    <dgm:cxn modelId="{194967A4-26A0-43EA-B0E3-18D7570CB630}" type="presOf" srcId="{69BD7C57-1275-4934-9267-1A17ED86DC6F}" destId="{6E27F6B4-05DB-4AE5-BFF7-C4BD02905D83}" srcOrd="0" destOrd="0" presId="urn:microsoft.com/office/officeart/2005/8/layout/vList2"/>
    <dgm:cxn modelId="{123011BE-74EB-4EB2-86BF-3F72137F83EC}" srcId="{3C1E3DF2-CBD1-4DCF-80F6-5106A365EDC5}" destId="{580EAD2F-BE67-4697-8DBA-94D90C9DD437}" srcOrd="2" destOrd="0" parTransId="{92B9A0A6-8617-41A8-A9E5-2D1EDE0B84B1}" sibTransId="{91F81938-6C76-4458-ABDB-CB890CD6C18B}"/>
    <dgm:cxn modelId="{F51539CE-D7EC-4600-B63F-7020E38C7249}" type="presOf" srcId="{7601FE61-1952-4B60-8F07-8901B9C2DFAE}" destId="{E57DA568-2CC7-4795-91CE-7666B1B5DA36}" srcOrd="0" destOrd="0" presId="urn:microsoft.com/office/officeart/2005/8/layout/vList2"/>
    <dgm:cxn modelId="{79F56CDB-2637-4F19-8A4F-9C72B778AE69}" srcId="{3C1E3DF2-CBD1-4DCF-80F6-5106A365EDC5}" destId="{D290739F-9DD8-45BC-876B-D460C6FA840A}" srcOrd="4" destOrd="0" parTransId="{DAD265A0-ECBA-4109-8C67-567BC6104C02}" sibTransId="{14441B39-D1C5-4F1C-A243-62FF80D46E8B}"/>
    <dgm:cxn modelId="{A8F99DFA-4E42-4DB5-8D89-99238350C8D3}" type="presOf" srcId="{D290739F-9DD8-45BC-876B-D460C6FA840A}" destId="{7FF9DC5D-E016-4F23-BFCE-48E60E4678F6}" srcOrd="0" destOrd="0" presId="urn:microsoft.com/office/officeart/2005/8/layout/vList2"/>
    <dgm:cxn modelId="{0D4E17FE-6568-411A-B802-8D57A19CE229}" type="presOf" srcId="{4434F1E7-5DDF-445A-A0D5-1FDB18CAB86E}" destId="{9D7FCEC8-13BC-4564-AB55-CE2D1BCC9706}" srcOrd="0" destOrd="0" presId="urn:microsoft.com/office/officeart/2005/8/layout/vList2"/>
    <dgm:cxn modelId="{9B97E2FA-A989-46B2-9D96-C85DEE27C351}" type="presParOf" srcId="{87463CAC-49F7-4E1F-88C8-3CA3A44C3594}" destId="{9D7FCEC8-13BC-4564-AB55-CE2D1BCC9706}" srcOrd="0" destOrd="0" presId="urn:microsoft.com/office/officeart/2005/8/layout/vList2"/>
    <dgm:cxn modelId="{12BB5CE1-2E34-44AC-9C9B-E34B6DF90E39}" type="presParOf" srcId="{87463CAC-49F7-4E1F-88C8-3CA3A44C3594}" destId="{B45B5DF5-DFEF-4592-A352-55CE9447427A}" srcOrd="1" destOrd="0" presId="urn:microsoft.com/office/officeart/2005/8/layout/vList2"/>
    <dgm:cxn modelId="{92FA4E86-0FBB-439A-812F-E99D50D7A5A2}" type="presParOf" srcId="{87463CAC-49F7-4E1F-88C8-3CA3A44C3594}" destId="{E57DA568-2CC7-4795-91CE-7666B1B5DA36}" srcOrd="2" destOrd="0" presId="urn:microsoft.com/office/officeart/2005/8/layout/vList2"/>
    <dgm:cxn modelId="{91CACF8E-9765-44BD-8E2B-1EACF40AA052}" type="presParOf" srcId="{87463CAC-49F7-4E1F-88C8-3CA3A44C3594}" destId="{8F574A01-7FB2-40C4-8E78-443B0CAD1D39}" srcOrd="3" destOrd="0" presId="urn:microsoft.com/office/officeart/2005/8/layout/vList2"/>
    <dgm:cxn modelId="{3EFAE82D-CB7C-44C0-A186-7C15F82D2C53}" type="presParOf" srcId="{87463CAC-49F7-4E1F-88C8-3CA3A44C3594}" destId="{BA805F31-1BC1-4741-BE88-1C93D70D6FEB}" srcOrd="4" destOrd="0" presId="urn:microsoft.com/office/officeart/2005/8/layout/vList2"/>
    <dgm:cxn modelId="{F6C3474C-D15A-4D11-BD10-4B99D52EC8E8}" type="presParOf" srcId="{87463CAC-49F7-4E1F-88C8-3CA3A44C3594}" destId="{0071FEC0-F84F-4191-8EF1-66F2DFE5C6E5}" srcOrd="5" destOrd="0" presId="urn:microsoft.com/office/officeart/2005/8/layout/vList2"/>
    <dgm:cxn modelId="{F881823E-79AF-4D01-9879-A53D763FFBD8}" type="presParOf" srcId="{87463CAC-49F7-4E1F-88C8-3CA3A44C3594}" destId="{E3163ADE-A140-4DF2-AFFD-EA19E7178262}" srcOrd="6" destOrd="0" presId="urn:microsoft.com/office/officeart/2005/8/layout/vList2"/>
    <dgm:cxn modelId="{8C3B3A67-9E69-4956-8E09-31F866B9F2AF}" type="presParOf" srcId="{87463CAC-49F7-4E1F-88C8-3CA3A44C3594}" destId="{DAE0519F-04DC-417F-AE7E-ADA608F37B01}" srcOrd="7" destOrd="0" presId="urn:microsoft.com/office/officeart/2005/8/layout/vList2"/>
    <dgm:cxn modelId="{33414241-BC0B-45AA-9DEA-00E092893628}" type="presParOf" srcId="{87463CAC-49F7-4E1F-88C8-3CA3A44C3594}" destId="{7FF9DC5D-E016-4F23-BFCE-48E60E4678F6}" srcOrd="8" destOrd="0" presId="urn:microsoft.com/office/officeart/2005/8/layout/vList2"/>
    <dgm:cxn modelId="{09C4A145-FC8E-427D-815F-782E5219D4C1}" type="presParOf" srcId="{87463CAC-49F7-4E1F-88C8-3CA3A44C3594}" destId="{C3BC69F5-40AD-40FF-841E-095A26EF78EC}" srcOrd="9" destOrd="0" presId="urn:microsoft.com/office/officeart/2005/8/layout/vList2"/>
    <dgm:cxn modelId="{EA39BD34-CB18-4A0A-95B3-8EBFEE64C146}" type="presParOf" srcId="{87463CAC-49F7-4E1F-88C8-3CA3A44C3594}" destId="{6E27F6B4-05DB-4AE5-BFF7-C4BD02905D83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7FCEC8-13BC-4564-AB55-CE2D1BCC9706}">
      <dsp:nvSpPr>
        <dsp:cNvPr id="0" name=""/>
        <dsp:cNvSpPr/>
      </dsp:nvSpPr>
      <dsp:spPr>
        <a:xfrm>
          <a:off x="0" y="3410"/>
          <a:ext cx="3395208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Customer Management </a:t>
          </a:r>
        </a:p>
      </dsp:txBody>
      <dsp:txXfrm>
        <a:off x="18734" y="22144"/>
        <a:ext cx="3357740" cy="346292"/>
      </dsp:txXfrm>
    </dsp:sp>
    <dsp:sp modelId="{E57DA568-2CC7-4795-91CE-7666B1B5DA36}">
      <dsp:nvSpPr>
        <dsp:cNvPr id="0" name=""/>
        <dsp:cNvSpPr/>
      </dsp:nvSpPr>
      <dsp:spPr>
        <a:xfrm>
          <a:off x="0" y="433250"/>
          <a:ext cx="3395208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Account Management </a:t>
          </a:r>
        </a:p>
      </dsp:txBody>
      <dsp:txXfrm>
        <a:off x="18734" y="451984"/>
        <a:ext cx="3357740" cy="346292"/>
      </dsp:txXfrm>
    </dsp:sp>
    <dsp:sp modelId="{BA805F31-1BC1-4741-BE88-1C93D70D6FEB}">
      <dsp:nvSpPr>
        <dsp:cNvPr id="0" name=""/>
        <dsp:cNvSpPr/>
      </dsp:nvSpPr>
      <dsp:spPr>
        <a:xfrm>
          <a:off x="0" y="863090"/>
          <a:ext cx="3395208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Branch Management </a:t>
          </a:r>
        </a:p>
      </dsp:txBody>
      <dsp:txXfrm>
        <a:off x="18734" y="881824"/>
        <a:ext cx="3357740" cy="346292"/>
      </dsp:txXfrm>
    </dsp:sp>
    <dsp:sp modelId="{E3163ADE-A140-4DF2-AFFD-EA19E7178262}">
      <dsp:nvSpPr>
        <dsp:cNvPr id="0" name=""/>
        <dsp:cNvSpPr/>
      </dsp:nvSpPr>
      <dsp:spPr>
        <a:xfrm>
          <a:off x="0" y="1292930"/>
          <a:ext cx="3395208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Employee Management </a:t>
          </a:r>
        </a:p>
      </dsp:txBody>
      <dsp:txXfrm>
        <a:off x="18734" y="1311664"/>
        <a:ext cx="3357740" cy="346292"/>
      </dsp:txXfrm>
    </dsp:sp>
    <dsp:sp modelId="{7FF9DC5D-E016-4F23-BFCE-48E60E4678F6}">
      <dsp:nvSpPr>
        <dsp:cNvPr id="0" name=""/>
        <dsp:cNvSpPr/>
      </dsp:nvSpPr>
      <dsp:spPr>
        <a:xfrm>
          <a:off x="0" y="1722770"/>
          <a:ext cx="3395208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Transaction Management </a:t>
          </a:r>
        </a:p>
      </dsp:txBody>
      <dsp:txXfrm>
        <a:off x="18734" y="1741504"/>
        <a:ext cx="3357740" cy="346292"/>
      </dsp:txXfrm>
    </dsp:sp>
    <dsp:sp modelId="{6E27F6B4-05DB-4AE5-BFF7-C4BD02905D83}">
      <dsp:nvSpPr>
        <dsp:cNvPr id="0" name=""/>
        <dsp:cNvSpPr/>
      </dsp:nvSpPr>
      <dsp:spPr>
        <a:xfrm>
          <a:off x="0" y="2152610"/>
          <a:ext cx="3395208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Loan Management</a:t>
          </a:r>
        </a:p>
      </dsp:txBody>
      <dsp:txXfrm>
        <a:off x="18734" y="2171344"/>
        <a:ext cx="3357740" cy="346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0BF08A-D188-40D8-9FE3-372EAB62215E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120E0C-8026-476E-B231-B186750FDE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9129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120E0C-8026-476E-B231-B186750FDE4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257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120E0C-8026-476E-B231-B186750FDE4A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296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A73C23E7-2D5F-7C41-6E21-3EBF98D7B7F8}"/>
              </a:ext>
            </a:extLst>
          </p:cNvPr>
          <p:cNvSpPr/>
          <p:nvPr userDrawn="1"/>
        </p:nvSpPr>
        <p:spPr>
          <a:xfrm>
            <a:off x="10040740" y="174672"/>
            <a:ext cx="1694060" cy="77958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50800" dist="12700" dir="5400000" algn="bl" rotWithShape="0">
              <a:srgbClr val="AAAAAA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0" descr="/home/claude/build/assets/logo.png">
            <a:extLst>
              <a:ext uri="{FF2B5EF4-FFF2-40B4-BE49-F238E27FC236}">
                <a16:creationId xmlns:a16="http://schemas.microsoft.com/office/drawing/2014/main" id="{773DD21F-AB50-8954-5E7A-4489DDA3761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182585" y="344093"/>
            <a:ext cx="1410370" cy="44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89027" y="1234440"/>
            <a:ext cx="6583469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82D4A"/>
                </a:solidFill>
                <a:latin typeface="Aptos Display"/>
              </a:defRPr>
            </a:pPr>
            <a:r>
              <a:rPr lang="en-US" dirty="0"/>
              <a:t>BANK ACCOUNT MANAGEMENT</a:t>
            </a:r>
          </a:p>
          <a:p>
            <a:pPr algn="ctr">
              <a:defRPr sz="3600" b="1">
                <a:solidFill>
                  <a:srgbClr val="182D4A"/>
                </a:solidFill>
                <a:latin typeface="Aptos Display"/>
              </a:defRPr>
            </a:pPr>
            <a:r>
              <a:rPr lang="en-US" dirty="0"/>
              <a:t>SYSTEM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079667" y="2470550"/>
            <a:ext cx="4002186" cy="14080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275B91"/>
                </a:solidFill>
                <a:latin typeface="Aptos"/>
              </a:defRPr>
            </a:pPr>
            <a:r>
              <a:rPr dirty="0"/>
              <a:t>Capstone Project – Review II</a:t>
            </a:r>
          </a:p>
          <a:p>
            <a:pPr algn="ctr">
              <a:spcAft>
                <a:spcPts val="700"/>
              </a:spcAft>
              <a:defRPr sz="1600" b="0">
                <a:solidFill>
                  <a:srgbClr val="5F6973"/>
                </a:solidFill>
                <a:latin typeface="Aptos"/>
              </a:defRPr>
            </a:pPr>
            <a:r>
              <a:rPr dirty="0"/>
              <a:t>Database Implementation</a:t>
            </a:r>
          </a:p>
          <a:p>
            <a:pPr algn="ctr">
              <a:spcAft>
                <a:spcPts val="700"/>
              </a:spcAft>
              <a:defRPr sz="1600" b="0">
                <a:solidFill>
                  <a:srgbClr val="5F6973"/>
                </a:solidFill>
                <a:latin typeface="Aptos"/>
              </a:defRPr>
            </a:pPr>
            <a:r>
              <a:rPr dirty="0"/>
              <a:t>Database Management Systems (2501IT05)</a:t>
            </a:r>
            <a:endParaRPr lang="en-IN" dirty="0"/>
          </a:p>
          <a:p>
            <a:pPr algn="ctr">
              <a:spcAft>
                <a:spcPts val="700"/>
              </a:spcAft>
              <a:defRPr sz="1600" b="0">
                <a:solidFill>
                  <a:srgbClr val="5F6973"/>
                </a:solidFill>
                <a:latin typeface="Aptos"/>
              </a:defRPr>
            </a:pPr>
            <a:r>
              <a:rPr lang="en-US" dirty="0"/>
              <a:t>Faculty – Dr.P.Kishore Kumar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756C36-A6CD-0A6C-5CDD-D3431469F599}"/>
              </a:ext>
            </a:extLst>
          </p:cNvPr>
          <p:cNvSpPr txBox="1"/>
          <p:nvPr/>
        </p:nvSpPr>
        <p:spPr>
          <a:xfrm>
            <a:off x="2998840" y="4100052"/>
            <a:ext cx="6429306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JASWANTH KARTHIKEYA                 (25B11AIC83)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A.PRASANNA KUMAR                         (25B11AI072)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K.MURALI KRISHNA                            (25B11AI518)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K.PRASANNA KUMAR                          (25B11AI488)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1. 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 lang="en-US" dirty="0"/>
              <a:t>	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EB4352-9DF3-D1F9-B0EE-558483907B6C}"/>
              </a:ext>
            </a:extLst>
          </p:cNvPr>
          <p:cNvSpPr txBox="1"/>
          <p:nvPr/>
        </p:nvSpPr>
        <p:spPr>
          <a:xfrm>
            <a:off x="906449" y="1455656"/>
            <a:ext cx="104400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Bank Account Management System</a:t>
            </a:r>
            <a:r>
              <a:rPr lang="en-IN" dirty="0"/>
              <a:t> is a database system for managing bank-related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It stores </a:t>
            </a:r>
            <a:r>
              <a:rPr lang="en-IN" b="1" dirty="0"/>
              <a:t>customer, account, branch, employee, transaction, and loan</a:t>
            </a:r>
            <a:r>
              <a:rPr lang="en-IN" dirty="0"/>
              <a:t> details.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It maintains relationships between different tables using </a:t>
            </a:r>
            <a:r>
              <a:rPr lang="en-IN" b="1" dirty="0"/>
              <a:t>Primary Keys and Foreign Keys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SQL is used to </a:t>
            </a:r>
            <a:r>
              <a:rPr lang="en-IN" b="1" dirty="0"/>
              <a:t>insert, update, delete, retrieve, and </a:t>
            </a:r>
            <a:r>
              <a:rPr lang="en-IN" b="1" dirty="0" err="1"/>
              <a:t>analyze</a:t>
            </a:r>
            <a:r>
              <a:rPr lang="en-IN" b="1" dirty="0"/>
              <a:t> data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Constraints are used to maintain </a:t>
            </a:r>
            <a:r>
              <a:rPr lang="en-IN" b="1" dirty="0"/>
              <a:t>data accuracy and integrity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system reduces </a:t>
            </a:r>
            <a:r>
              <a:rPr lang="en-IN" b="1" dirty="0"/>
              <a:t>data duplication</a:t>
            </a:r>
            <a:r>
              <a:rPr lang="en-IN" dirty="0"/>
              <a:t> through normalization.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D2E7D8-AF27-DFA0-DC86-1379C56E693C}"/>
              </a:ext>
            </a:extLst>
          </p:cNvPr>
          <p:cNvSpPr txBox="1"/>
          <p:nvPr/>
        </p:nvSpPr>
        <p:spPr>
          <a:xfrm>
            <a:off x="596347" y="3341579"/>
            <a:ext cx="60946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latin typeface="Aptos Display" panose="020B0004020202020204" pitchFamily="34" charset="0"/>
              </a:rPr>
              <a:t>Main Modules :</a:t>
            </a: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4326DEF2-C5DD-36C1-0D7D-19177EC8A8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9515597"/>
              </p:ext>
            </p:extLst>
          </p:nvPr>
        </p:nvGraphicFramePr>
        <p:xfrm>
          <a:off x="1709530" y="3776014"/>
          <a:ext cx="3395208" cy="25397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2. Existing System and 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196859"/>
              </p:ext>
            </p:extLst>
          </p:nvPr>
        </p:nvGraphicFramePr>
        <p:xfrm>
          <a:off x="640080" y="1417320"/>
          <a:ext cx="10841603" cy="4204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6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Existing System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Proposed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Records may be maintained manually.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is stored in a centralized database.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More chances of duplicate data.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Normalization reduces data duplication.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Difficult to search and update records.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SQL makes searching and updating easier.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relationships are not clearly maintained.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Primary and Foreign Keys maintain relationships.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accuracy can be difficult to maintain.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Constraints improve data integrity.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Reports and analysis take more time.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SQL queries provide quick information and analysis.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8902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DC8D48-D572-442F-1470-595CF947BAC9}"/>
              </a:ext>
            </a:extLst>
          </p:cNvPr>
          <p:cNvSpPr txBox="1"/>
          <p:nvPr/>
        </p:nvSpPr>
        <p:spPr>
          <a:xfrm>
            <a:off x="1759227" y="5958309"/>
            <a:ext cx="10112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Aptos" panose="020B0004020202020204" pitchFamily="34" charset="0"/>
              </a:rPr>
              <a:t>Manual and scattered data → Organized, connected, and reliable database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9599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3. Functional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6DE9582-4F06-A826-9E6A-5CE1C3330D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682023"/>
              </p:ext>
            </p:extLst>
          </p:nvPr>
        </p:nvGraphicFramePr>
        <p:xfrm>
          <a:off x="1019092" y="1776920"/>
          <a:ext cx="10153815" cy="3719247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3123401">
                  <a:extLst>
                    <a:ext uri="{9D8B030D-6E8A-4147-A177-3AD203B41FA5}">
                      <a16:colId xmlns:a16="http://schemas.microsoft.com/office/drawing/2014/main" val="1070120650"/>
                    </a:ext>
                  </a:extLst>
                </a:gridCol>
                <a:gridCol w="7030414">
                  <a:extLst>
                    <a:ext uri="{9D8B030D-6E8A-4147-A177-3AD203B41FA5}">
                      <a16:colId xmlns:a16="http://schemas.microsoft.com/office/drawing/2014/main" val="3653513020"/>
                    </a:ext>
                  </a:extLst>
                </a:gridCol>
              </a:tblGrid>
              <a:tr h="506211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Customer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Add, view, update, and manage customer details.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3362457"/>
                  </a:ext>
                </a:extLst>
              </a:tr>
              <a:tr h="506211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Account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Store account number, type, balance, opening date, and status.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7561482"/>
                  </a:ext>
                </a:extLst>
              </a:tr>
              <a:tr h="506211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Branch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Maintain branch details such as name, IFSC code, address, and city.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773443"/>
                  </a:ext>
                </a:extLst>
              </a:tr>
              <a:tr h="506211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Employee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Store employee details and their assigned branch.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3567783"/>
                  </a:ext>
                </a:extLst>
              </a:tr>
              <a:tr h="506211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Transaction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Record deposits and withdrawals with amount, date, and status.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855460"/>
                  </a:ext>
                </a:extLst>
              </a:tr>
              <a:tr h="506211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Loan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Maintain loan type, loan amount, interest rate, and customer details.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0685067"/>
                  </a:ext>
                </a:extLst>
              </a:tr>
              <a:tr h="681981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Data Retrieval &amp;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Use SQL queries, joins, aggregate functions, 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GROUP BY</a:t>
                      </a:r>
                      <a:r>
                        <a:rPr lang="en-IN" dirty="0"/>
                        <a:t>, and 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HAVING</a:t>
                      </a:r>
                      <a:r>
                        <a:rPr lang="en-IN" dirty="0"/>
                        <a:t> to retrieve useful information.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737644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EE9AC7E-50E2-DF3F-D448-3B06FB784F26}"/>
              </a:ext>
            </a:extLst>
          </p:cNvPr>
          <p:cNvSpPr txBox="1"/>
          <p:nvPr/>
        </p:nvSpPr>
        <p:spPr>
          <a:xfrm>
            <a:off x="594360" y="1275588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system should provide the following functions: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351091-B03D-9F45-24FC-E83050BB28A6}"/>
              </a:ext>
            </a:extLst>
          </p:cNvPr>
          <p:cNvSpPr txBox="1"/>
          <p:nvPr/>
        </p:nvSpPr>
        <p:spPr>
          <a:xfrm>
            <a:off x="594360" y="5779008"/>
            <a:ext cx="98675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Key Requirement :</a:t>
            </a:r>
          </a:p>
          <a:p>
            <a:pPr>
              <a:buNone/>
            </a:pPr>
            <a:r>
              <a:rPr lang="en-IN" b="1" dirty="0"/>
              <a:t>	</a:t>
            </a:r>
            <a:r>
              <a:rPr lang="en-IN" dirty="0"/>
              <a:t>The database must maintain accurate, consistent, and secure relationships between all tables.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4. Database Schema Used for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731682"/>
              </p:ext>
            </p:extLst>
          </p:nvPr>
        </p:nvGraphicFramePr>
        <p:xfrm>
          <a:off x="822960" y="1417320"/>
          <a:ext cx="10515600" cy="28824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4051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Table</a:t>
                      </a:r>
                    </a:p>
                  </a:txBody>
                  <a:tcPr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Primary Key</a:t>
                      </a:r>
                    </a:p>
                  </a:txBody>
                  <a:tcPr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Foreign Keys</a:t>
                      </a:r>
                    </a:p>
                  </a:txBody>
                  <a:tcPr>
                    <a:solidFill>
                      <a:srgbClr val="18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05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IN" sz="1400" kern="1200" dirty="0">
                          <a:solidFill>
                            <a:srgbClr val="232323"/>
                          </a:solidFill>
                          <a:latin typeface="Aptos"/>
                          <a:ea typeface="+mn-ea"/>
                          <a:cs typeface="+mn-cs"/>
                        </a:rPr>
                        <a:t>1. CUSTOMER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IN" sz="1400" kern="1200" dirty="0">
                          <a:solidFill>
                            <a:srgbClr val="232323"/>
                          </a:solidFill>
                          <a:latin typeface="Aptos"/>
                          <a:ea typeface="+mn-ea"/>
                          <a:cs typeface="+mn-cs"/>
                        </a:rPr>
                        <a:t>Customer_ID (PK)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dirty="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05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IN" sz="1400" kern="1200" dirty="0">
                          <a:solidFill>
                            <a:srgbClr val="232323"/>
                          </a:solidFill>
                          <a:latin typeface="Aptos"/>
                          <a:ea typeface="+mn-ea"/>
                          <a:cs typeface="+mn-cs"/>
                        </a:rPr>
                        <a:t>2. ACCOUNT</a:t>
                      </a:r>
                      <a:endParaRPr dirty="0"/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IN" sz="1400" kern="1200" dirty="0">
                          <a:solidFill>
                            <a:srgbClr val="232323"/>
                          </a:solidFill>
                          <a:latin typeface="Aptos"/>
                          <a:ea typeface="+mn-ea"/>
                          <a:cs typeface="+mn-cs"/>
                        </a:rPr>
                        <a:t>Account_Number (PK)</a:t>
                      </a:r>
                      <a:endParaRPr dirty="0"/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IN" sz="1400" kern="1200" dirty="0">
                          <a:solidFill>
                            <a:srgbClr val="232323"/>
                          </a:solidFill>
                          <a:latin typeface="Aptos"/>
                          <a:ea typeface="+mn-ea"/>
                          <a:cs typeface="+mn-cs"/>
                        </a:rPr>
                        <a:t>Customer_ID (FK), Branch_ID (FK)</a:t>
                      </a:r>
                      <a:endParaRPr dirty="0"/>
                    </a:p>
                  </a:txBody>
                  <a:tcPr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667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IN" sz="1400" kern="1200" dirty="0">
                          <a:solidFill>
                            <a:srgbClr val="232323"/>
                          </a:solidFill>
                          <a:latin typeface="Aptos"/>
                          <a:ea typeface="+mn-ea"/>
                          <a:cs typeface="+mn-cs"/>
                        </a:rPr>
                        <a:t>3. BRANCH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IN" sz="1400" kern="1200" dirty="0">
                          <a:solidFill>
                            <a:srgbClr val="232323"/>
                          </a:solidFill>
                          <a:latin typeface="Aptos"/>
                          <a:ea typeface="+mn-ea"/>
                          <a:cs typeface="+mn-cs"/>
                        </a:rPr>
                        <a:t>Branch_ID (PK)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IN" dirty="0"/>
                        <a:t>—</a:t>
                      </a:r>
                    </a:p>
                    <a:p>
                      <a:pPr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05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IN" sz="1400" kern="1200" dirty="0">
                          <a:solidFill>
                            <a:srgbClr val="232323"/>
                          </a:solidFill>
                          <a:latin typeface="Aptos"/>
                          <a:ea typeface="+mn-ea"/>
                          <a:cs typeface="+mn-cs"/>
                        </a:rPr>
                        <a:t>4. EMPLOYEE</a:t>
                      </a:r>
                      <a:endParaRPr dirty="0"/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IN" sz="1400" kern="1200" dirty="0">
                          <a:solidFill>
                            <a:srgbClr val="232323"/>
                          </a:solidFill>
                          <a:latin typeface="Aptos"/>
                          <a:ea typeface="+mn-ea"/>
                          <a:cs typeface="+mn-cs"/>
                        </a:rPr>
                        <a:t>Employee_ID (PK)</a:t>
                      </a:r>
                      <a:endParaRPr dirty="0"/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IN" sz="1400" kern="1200" dirty="0">
                          <a:solidFill>
                            <a:srgbClr val="232323"/>
                          </a:solidFill>
                          <a:latin typeface="Aptos"/>
                          <a:ea typeface="+mn-ea"/>
                          <a:cs typeface="+mn-cs"/>
                        </a:rPr>
                        <a:t>Branch_ID (FK)</a:t>
                      </a:r>
                      <a:endParaRPr dirty="0"/>
                    </a:p>
                  </a:txBody>
                  <a:tcPr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05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IN" sz="1400" kern="1200" dirty="0">
                          <a:solidFill>
                            <a:srgbClr val="232323"/>
                          </a:solidFill>
                          <a:latin typeface="Aptos"/>
                          <a:ea typeface="+mn-ea"/>
                          <a:cs typeface="+mn-cs"/>
                        </a:rPr>
                        <a:t>5. TRANSACTION 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IN" sz="1400" kern="1200" dirty="0">
                          <a:solidFill>
                            <a:srgbClr val="232323"/>
                          </a:solidFill>
                          <a:latin typeface="Aptos"/>
                          <a:ea typeface="+mn-ea"/>
                          <a:cs typeface="+mn-cs"/>
                        </a:rPr>
                        <a:t>Transaction_ID (PK)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IN" sz="1400" kern="1200" dirty="0">
                          <a:solidFill>
                            <a:srgbClr val="232323"/>
                          </a:solidFill>
                          <a:latin typeface="Aptos"/>
                          <a:ea typeface="+mn-ea"/>
                          <a:cs typeface="+mn-cs"/>
                        </a:rPr>
                        <a:t>Account_Number (FK)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056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IN" sz="1400" kern="1200" dirty="0">
                          <a:solidFill>
                            <a:srgbClr val="232323"/>
                          </a:solidFill>
                          <a:latin typeface="Aptos"/>
                          <a:ea typeface="+mn-ea"/>
                          <a:cs typeface="+mn-cs"/>
                        </a:rPr>
                        <a:t>6. LOAN</a:t>
                      </a:r>
                      <a:endParaRPr dirty="0"/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IN" sz="1400" kern="1200" dirty="0">
                          <a:solidFill>
                            <a:srgbClr val="232323"/>
                          </a:solidFill>
                          <a:latin typeface="Aptos"/>
                          <a:ea typeface="+mn-ea"/>
                          <a:cs typeface="+mn-cs"/>
                        </a:rPr>
                        <a:t>Loan_ID (PK)</a:t>
                      </a:r>
                      <a:endParaRPr dirty="0"/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IN" sz="1400" kern="1200" dirty="0">
                          <a:solidFill>
                            <a:srgbClr val="232323"/>
                          </a:solidFill>
                          <a:latin typeface="Aptos"/>
                          <a:ea typeface="+mn-ea"/>
                          <a:cs typeface="+mn-cs"/>
                        </a:rPr>
                        <a:t>Customer_ID (FK)</a:t>
                      </a:r>
                      <a:endParaRPr dirty="0"/>
                    </a:p>
                  </a:txBody>
                  <a:tcPr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338CB3-9C0B-3ED0-20A3-AD2BE7E21635}"/>
              </a:ext>
            </a:extLst>
          </p:cNvPr>
          <p:cNvSpPr txBox="1"/>
          <p:nvPr/>
        </p:nvSpPr>
        <p:spPr>
          <a:xfrm>
            <a:off x="594360" y="4608568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Relationships 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14F10C-31DF-EA2D-B1FF-AAF8A0376BEB}"/>
              </a:ext>
            </a:extLst>
          </p:cNvPr>
          <p:cNvSpPr txBox="1"/>
          <p:nvPr/>
        </p:nvSpPr>
        <p:spPr>
          <a:xfrm>
            <a:off x="1478943" y="5138933"/>
            <a:ext cx="6989195" cy="917306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Customer → Account </a:t>
            </a:r>
            <a:r>
              <a:rPr lang="en-IN" b="1" dirty="0"/>
              <a:t>(1:M)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Branch → Account </a:t>
            </a:r>
            <a:r>
              <a:rPr lang="en-IN" b="1" dirty="0"/>
              <a:t>(1:M)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Branch → Employee </a:t>
            </a:r>
            <a:r>
              <a:rPr lang="en-IN" b="1" dirty="0"/>
              <a:t>(1:M)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Account → Transaction </a:t>
            </a:r>
            <a:r>
              <a:rPr lang="en-IN" b="1" dirty="0"/>
              <a:t>(1:M)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Customer → Loan </a:t>
            </a:r>
            <a:r>
              <a:rPr lang="en-IN" b="1" dirty="0"/>
              <a:t>(1:M)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5. Table Design and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291145"/>
              </p:ext>
            </p:extLst>
          </p:nvPr>
        </p:nvGraphicFramePr>
        <p:xfrm>
          <a:off x="502920" y="1325880"/>
          <a:ext cx="11155680" cy="3877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12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Table</a:t>
                      </a:r>
                      <a:endParaRPr lang="en-IN" dirty="0"/>
                    </a:p>
                  </a:txBody>
                  <a:tcPr anchor="ctr"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Key / Validation Rules</a:t>
                      </a:r>
                      <a:endParaRPr lang="en-IN" dirty="0"/>
                    </a:p>
                  </a:txBody>
                  <a:tcPr anchor="ctr">
                    <a:solidFill>
                      <a:srgbClr val="18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Customer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PK Customer_ID; NOT NULL Name, Phone; UNIQUE Email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7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Account</a:t>
                      </a:r>
                    </a:p>
                  </a:txBody>
                  <a:tcPr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PK Account_Number; NOT NULL Account_Type, Balance; FKs Customer_ID, Branch_ID; CHECK Balance &gt;= 0</a:t>
                      </a:r>
                    </a:p>
                  </a:txBody>
                  <a:tcPr anchor="ctr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Branch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PK Branch_ID; NOT NULL Branch_Name; UNIQUE IFSC_Code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Employee</a:t>
                      </a:r>
                    </a:p>
                  </a:txBody>
                  <a:tcPr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PK Employee_ID; NOT NULL Employee_Name; FK Branch_ID</a:t>
                      </a:r>
                    </a:p>
                  </a:txBody>
                  <a:tcPr anchor="ctr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7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Bank_Transaction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PK Transaction_ID; NOT NULL Transaction_Type, Amount; FK Account_Number; CHECK Amount &gt;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7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Loan</a:t>
                      </a:r>
                    </a:p>
                  </a:txBody>
                  <a:tcPr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PK Loan_ID; NOT NULL Loan_Type, Loan_Amount; FK Customer_ID; CHECK Loan_Amount &gt; 0</a:t>
                      </a:r>
                    </a:p>
                  </a:txBody>
                  <a:tcPr anchor="ctr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10AFC6-2D13-A13E-7BDD-A9BEE371709A}"/>
              </a:ext>
            </a:extLst>
          </p:cNvPr>
          <p:cNvSpPr txBox="1"/>
          <p:nvPr/>
        </p:nvSpPr>
        <p:spPr>
          <a:xfrm>
            <a:off x="900485" y="5562041"/>
            <a:ext cx="107581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Primary Keys</a:t>
            </a:r>
            <a:r>
              <a:rPr lang="en-IN" dirty="0"/>
              <a:t> identify records, </a:t>
            </a:r>
            <a:r>
              <a:rPr lang="en-IN" b="1" dirty="0"/>
              <a:t>Foreign Keys</a:t>
            </a:r>
            <a:r>
              <a:rPr lang="en-IN" dirty="0"/>
              <a:t> connect tables, and </a:t>
            </a:r>
            <a:r>
              <a:rPr lang="en-IN" b="1" dirty="0"/>
              <a:t>Constraints</a:t>
            </a:r>
            <a:r>
              <a:rPr lang="en-IN" dirty="0"/>
              <a:t> maintain valid and consistent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1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6. Normalization up to 3NF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1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1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8A162-9FE7-9D31-50CB-342316939106}"/>
              </a:ext>
            </a:extLst>
          </p:cNvPr>
          <p:cNvSpPr txBox="1"/>
          <p:nvPr/>
        </p:nvSpPr>
        <p:spPr>
          <a:xfrm>
            <a:off x="594360" y="1283050"/>
            <a:ext cx="98854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Purpose:</a:t>
            </a:r>
            <a:br>
              <a:rPr lang="en-IN" dirty="0"/>
            </a:br>
            <a:r>
              <a:rPr lang="en-IN" dirty="0"/>
              <a:t>	Normalization organizes the database to </a:t>
            </a:r>
            <a:r>
              <a:rPr lang="en-IN" b="1" dirty="0"/>
              <a:t>reduce duplicate data</a:t>
            </a:r>
            <a:r>
              <a:rPr lang="en-IN" dirty="0"/>
              <a:t> and </a:t>
            </a:r>
            <a:r>
              <a:rPr lang="en-IN" b="1" dirty="0"/>
              <a:t>avoid data inconsistency</a:t>
            </a:r>
            <a:r>
              <a:rPr lang="en-IN" dirty="0"/>
              <a:t>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B226F15-AB99-D472-407C-F88955AAC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468630"/>
              </p:ext>
            </p:extLst>
          </p:nvPr>
        </p:nvGraphicFramePr>
        <p:xfrm>
          <a:off x="674868" y="2101435"/>
          <a:ext cx="10811786" cy="270625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405893">
                  <a:extLst>
                    <a:ext uri="{9D8B030D-6E8A-4147-A177-3AD203B41FA5}">
                      <a16:colId xmlns:a16="http://schemas.microsoft.com/office/drawing/2014/main" val="1860674282"/>
                    </a:ext>
                  </a:extLst>
                </a:gridCol>
                <a:gridCol w="5405893">
                  <a:extLst>
                    <a:ext uri="{9D8B030D-6E8A-4147-A177-3AD203B41FA5}">
                      <a16:colId xmlns:a16="http://schemas.microsoft.com/office/drawing/2014/main" val="233917957"/>
                    </a:ext>
                  </a:extLst>
                </a:gridCol>
              </a:tblGrid>
              <a:tr h="3429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Normal 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Implementation in Our Database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771020"/>
                  </a:ext>
                </a:extLst>
              </a:tr>
              <a:tr h="4202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1NF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Each table has atomic values and no repeating groups.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0106558"/>
                  </a:ext>
                </a:extLst>
              </a:tr>
              <a:tr h="600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2NF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All non-key attributes depend on the complete primary key.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1952704"/>
                  </a:ext>
                </a:extLst>
              </a:tr>
              <a:tr h="600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3NF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unnecessary dependency between non-key attributes.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4180228"/>
                  </a:ext>
                </a:extLst>
              </a:tr>
              <a:tr h="600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duplication is reduced and tables are easier to maintain.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843897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B9C311A-1982-77B2-BB83-88720232F1E9}"/>
              </a:ext>
            </a:extLst>
          </p:cNvPr>
          <p:cNvSpPr txBox="1"/>
          <p:nvPr/>
        </p:nvSpPr>
        <p:spPr>
          <a:xfrm>
            <a:off x="1027707" y="4986143"/>
            <a:ext cx="58740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Example</a:t>
            </a:r>
          </a:p>
          <a:p>
            <a:pPr>
              <a:buNone/>
            </a:pPr>
            <a:r>
              <a:rPr lang="en-IN" dirty="0"/>
              <a:t>Instead of storing customer details repeatedly in the </a:t>
            </a:r>
            <a:r>
              <a:rPr lang="en-IN" b="1" dirty="0"/>
              <a:t>Account</a:t>
            </a:r>
            <a:r>
              <a:rPr lang="en-IN" dirty="0"/>
              <a:t> table:</a:t>
            </a:r>
          </a:p>
          <a:p>
            <a:pPr>
              <a:buNone/>
            </a:pPr>
            <a:r>
              <a:rPr lang="en-IN" b="1" dirty="0"/>
              <a:t>Customer</a:t>
            </a:r>
            <a:r>
              <a:rPr lang="en-IN" dirty="0"/>
              <a:t> → stores customer details</a:t>
            </a:r>
            <a:br>
              <a:rPr lang="en-IN" dirty="0"/>
            </a:br>
            <a:r>
              <a:rPr lang="en-IN" b="1" dirty="0"/>
              <a:t>Account</a:t>
            </a:r>
            <a:r>
              <a:rPr lang="en-IN" dirty="0"/>
              <a:t> → stores account details + </a:t>
            </a:r>
            <a:r>
              <a:rPr lang="en-IN" dirty="0">
                <a:latin typeface="+mn-lt"/>
              </a:rPr>
              <a:t>Customer_ID</a:t>
            </a:r>
            <a:r>
              <a:rPr lang="en-IN" dirty="0"/>
              <a:t> as FK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7. SQL Implementation – DDL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E54F44-0315-8D4D-EC57-817449B814FF}"/>
              </a:ext>
            </a:extLst>
          </p:cNvPr>
          <p:cNvSpPr txBox="1"/>
          <p:nvPr/>
        </p:nvSpPr>
        <p:spPr>
          <a:xfrm>
            <a:off x="820973" y="1239211"/>
            <a:ext cx="60946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/>
              <a:t>DDL</a:t>
            </a:r>
            <a:r>
              <a:rPr lang="en-IN" sz="2200" dirty="0"/>
              <a:t> – Data Definition Language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C4C2A8-0204-1379-E0CD-BB45F23ABD42}"/>
              </a:ext>
            </a:extLst>
          </p:cNvPr>
          <p:cNvSpPr txBox="1"/>
          <p:nvPr/>
        </p:nvSpPr>
        <p:spPr>
          <a:xfrm>
            <a:off x="1502797" y="1670098"/>
            <a:ext cx="713033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DDL is used to </a:t>
            </a:r>
            <a:r>
              <a:rPr lang="en-IN" b="1" dirty="0"/>
              <a:t>create and modify the structure of the database</a:t>
            </a:r>
            <a:r>
              <a:rPr lang="en-IN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33F25B-FBAE-1053-7F04-F5A31F2D4884}"/>
              </a:ext>
            </a:extLst>
          </p:cNvPr>
          <p:cNvSpPr txBox="1"/>
          <p:nvPr/>
        </p:nvSpPr>
        <p:spPr>
          <a:xfrm>
            <a:off x="909433" y="2295830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Commands used in our project: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7D9590-C01F-C069-266A-060D1C569C56}"/>
              </a:ext>
            </a:extLst>
          </p:cNvPr>
          <p:cNvSpPr txBox="1"/>
          <p:nvPr/>
        </p:nvSpPr>
        <p:spPr>
          <a:xfrm>
            <a:off x="1468012" y="2756766"/>
            <a:ext cx="4977516" cy="1562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CREATE DATABASE</a:t>
            </a:r>
            <a:r>
              <a:rPr lang="en-IN" sz="1600" dirty="0"/>
              <a:t> – Creates the bank database.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CREATE TABLE</a:t>
            </a:r>
            <a:r>
              <a:rPr lang="en-IN" sz="1600" dirty="0"/>
              <a:t> – Creates all required tables.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ALTER TABLE</a:t>
            </a:r>
            <a:r>
              <a:rPr lang="en-IN" sz="1600" dirty="0"/>
              <a:t> – Adds or modifies columns.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TRUNCATE</a:t>
            </a:r>
            <a:r>
              <a:rPr lang="en-IN" sz="1600" dirty="0"/>
              <a:t> – Removes all records while keeping the table structure.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DROP TABLE</a:t>
            </a:r>
            <a:r>
              <a:rPr lang="en-IN" sz="1600" dirty="0"/>
              <a:t> – Removes a table completely.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95F003-1CC7-8C74-FF20-285E3B86E8CB}"/>
              </a:ext>
            </a:extLst>
          </p:cNvPr>
          <p:cNvSpPr txBox="1"/>
          <p:nvPr/>
        </p:nvSpPr>
        <p:spPr>
          <a:xfrm>
            <a:off x="6572180" y="2295830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 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55EA04-DD92-0100-B86C-40504C5063DC}"/>
              </a:ext>
            </a:extLst>
          </p:cNvPr>
          <p:cNvSpPr txBox="1"/>
          <p:nvPr/>
        </p:nvSpPr>
        <p:spPr>
          <a:xfrm>
            <a:off x="7365393" y="2756766"/>
            <a:ext cx="420176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CREATE TABLE Customer (</a:t>
            </a:r>
          </a:p>
          <a:p>
            <a:r>
              <a:rPr lang="en-IN" sz="1600" dirty="0"/>
              <a:t>    </a:t>
            </a:r>
            <a:r>
              <a:rPr lang="en-US" sz="1600" dirty="0" err="1"/>
              <a:t>Customer_ID</a:t>
            </a:r>
            <a:r>
              <a:rPr lang="en-US" sz="1600" dirty="0"/>
              <a:t> INT PRIMARY KEY,</a:t>
            </a:r>
          </a:p>
          <a:p>
            <a:r>
              <a:rPr lang="en-US" sz="1600" dirty="0"/>
              <a:t>    Name    VARCHAR(100) NOT NULL,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Date_of_Birth</a:t>
            </a:r>
            <a:r>
              <a:rPr lang="en-US" sz="1600" dirty="0"/>
              <a:t> DATE NOT NULL,</a:t>
            </a:r>
          </a:p>
          <a:p>
            <a:r>
              <a:rPr lang="en-US" sz="1600" dirty="0"/>
              <a:t>    Gender VARCHAR(10),</a:t>
            </a:r>
          </a:p>
          <a:p>
            <a:r>
              <a:rPr lang="en-US" sz="1600" dirty="0"/>
              <a:t>    Phone VARCHAR(15) NOT NULL,</a:t>
            </a:r>
          </a:p>
          <a:p>
            <a:r>
              <a:rPr lang="en-US" sz="1600" dirty="0"/>
              <a:t>    Email VARCHAR(100) UNIQUE,</a:t>
            </a:r>
          </a:p>
          <a:p>
            <a:r>
              <a:rPr lang="en-US" sz="1600" dirty="0"/>
              <a:t>    Address VARCHAR(200)</a:t>
            </a:r>
          </a:p>
          <a:p>
            <a:r>
              <a:rPr lang="en-IN" sz="1600" dirty="0"/>
              <a:t>);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91DF1F-9283-F681-96C3-D5F089164B8C}"/>
              </a:ext>
            </a:extLst>
          </p:cNvPr>
          <p:cNvSpPr txBox="1"/>
          <p:nvPr/>
        </p:nvSpPr>
        <p:spPr>
          <a:xfrm>
            <a:off x="1547471" y="5500911"/>
            <a:ext cx="90970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000" b="1" dirty="0"/>
              <a:t>DDL defines the structure of our Bank Account Management System database.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8. SQL Implementation – DML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16A53F-A40A-696A-D487-BBDE4E67199A}"/>
              </a:ext>
            </a:extLst>
          </p:cNvPr>
          <p:cNvSpPr txBox="1"/>
          <p:nvPr/>
        </p:nvSpPr>
        <p:spPr>
          <a:xfrm>
            <a:off x="932769" y="1213386"/>
            <a:ext cx="609463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/>
              <a:t>DML</a:t>
            </a:r>
            <a:r>
              <a:rPr lang="en-IN" sz="2200" dirty="0"/>
              <a:t> – Data Manipulation Language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F358C5-A5E6-848E-003C-6EF4FAA34551}"/>
              </a:ext>
            </a:extLst>
          </p:cNvPr>
          <p:cNvSpPr txBox="1"/>
          <p:nvPr/>
        </p:nvSpPr>
        <p:spPr>
          <a:xfrm>
            <a:off x="1420586" y="1647679"/>
            <a:ext cx="7721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DML is used to </a:t>
            </a:r>
            <a:r>
              <a:rPr lang="en-IN" b="1" dirty="0"/>
              <a:t>add, modify, and remove data</a:t>
            </a:r>
            <a:r>
              <a:rPr lang="en-IN" dirty="0"/>
              <a:t> stored in the tables.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51E5AF-F5EE-F7C8-6538-B5939377CA76}"/>
              </a:ext>
            </a:extLst>
          </p:cNvPr>
          <p:cNvSpPr txBox="1"/>
          <p:nvPr/>
        </p:nvSpPr>
        <p:spPr>
          <a:xfrm>
            <a:off x="932769" y="218747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Commands used in our project: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38F4DF-0E39-CB7D-B0C2-B009849685DF}"/>
              </a:ext>
            </a:extLst>
          </p:cNvPr>
          <p:cNvSpPr txBox="1"/>
          <p:nvPr/>
        </p:nvSpPr>
        <p:spPr>
          <a:xfrm>
            <a:off x="1420586" y="2549229"/>
            <a:ext cx="60946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INSERT</a:t>
            </a:r>
            <a:r>
              <a:rPr lang="en-IN" dirty="0"/>
              <a:t> – Adds new records.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UPDATE</a:t>
            </a:r>
            <a:r>
              <a:rPr lang="en-IN" dirty="0"/>
              <a:t> – Modifies existing records.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DELETE</a:t>
            </a:r>
            <a:r>
              <a:rPr lang="en-IN" dirty="0"/>
              <a:t> – Removes records.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9BCFD4-A1AC-C78F-6C32-313E14A4324E}"/>
              </a:ext>
            </a:extLst>
          </p:cNvPr>
          <p:cNvSpPr txBox="1"/>
          <p:nvPr/>
        </p:nvSpPr>
        <p:spPr>
          <a:xfrm>
            <a:off x="6080760" y="2176491"/>
            <a:ext cx="60946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Example 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3E3DF7-1C7C-5B89-89B2-CED256956F23}"/>
              </a:ext>
            </a:extLst>
          </p:cNvPr>
          <p:cNvSpPr txBox="1"/>
          <p:nvPr/>
        </p:nvSpPr>
        <p:spPr>
          <a:xfrm>
            <a:off x="6442030" y="2476202"/>
            <a:ext cx="448178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ym typeface="Wingdings" panose="05000000000000000000" pitchFamily="2" charset="2"/>
              </a:rPr>
              <a:t></a:t>
            </a:r>
            <a:r>
              <a:rPr lang="en-IN" sz="1600" dirty="0"/>
              <a:t> INSERT</a:t>
            </a:r>
          </a:p>
          <a:p>
            <a:r>
              <a:rPr lang="en-IN" sz="1600" dirty="0"/>
              <a:t>INSERT INTO Customer</a:t>
            </a:r>
          </a:p>
          <a:p>
            <a:r>
              <a:rPr lang="en-IN" sz="1600" dirty="0"/>
              <a:t>VALUES (106, 'Ravi Kumar', '2002-06-10',</a:t>
            </a:r>
          </a:p>
          <a:p>
            <a:r>
              <a:rPr lang="en-IN" sz="1600" dirty="0"/>
              <a:t>        'Male', '9876543215',</a:t>
            </a:r>
          </a:p>
          <a:p>
            <a:r>
              <a:rPr lang="en-IN" sz="1600" dirty="0"/>
              <a:t>        'ravi@gmail.com', 'Hyderabad');</a:t>
            </a:r>
          </a:p>
          <a:p>
            <a:endParaRPr lang="en-IN" sz="1600" dirty="0"/>
          </a:p>
          <a:p>
            <a:r>
              <a:rPr lang="en-IN" sz="1600" dirty="0">
                <a:sym typeface="Wingdings" panose="05000000000000000000" pitchFamily="2" charset="2"/>
              </a:rPr>
              <a:t></a:t>
            </a:r>
            <a:r>
              <a:rPr lang="en-IN" sz="1600" dirty="0"/>
              <a:t> UPDATE</a:t>
            </a:r>
          </a:p>
          <a:p>
            <a:r>
              <a:rPr lang="en-IN" sz="1600" dirty="0"/>
              <a:t>UPDATE Customer</a:t>
            </a:r>
          </a:p>
          <a:p>
            <a:r>
              <a:rPr lang="en-IN" sz="1600" dirty="0"/>
              <a:t>SET Phone = '9876543220'</a:t>
            </a:r>
          </a:p>
          <a:p>
            <a:r>
              <a:rPr lang="en-IN" sz="1600" dirty="0"/>
              <a:t>WHERE </a:t>
            </a:r>
            <a:r>
              <a:rPr lang="en-IN" sz="1600" dirty="0" err="1"/>
              <a:t>Customer_ID</a:t>
            </a:r>
            <a:r>
              <a:rPr lang="en-IN" sz="1600" dirty="0"/>
              <a:t> = 106;</a:t>
            </a:r>
          </a:p>
          <a:p>
            <a:endParaRPr lang="en-IN" sz="1600" dirty="0"/>
          </a:p>
          <a:p>
            <a:r>
              <a:rPr lang="en-IN" sz="1600" dirty="0">
                <a:sym typeface="Wingdings" panose="05000000000000000000" pitchFamily="2" charset="2"/>
              </a:rPr>
              <a:t></a:t>
            </a:r>
            <a:r>
              <a:rPr lang="en-IN" sz="1600" dirty="0"/>
              <a:t> DELETE</a:t>
            </a:r>
          </a:p>
          <a:p>
            <a:r>
              <a:rPr lang="en-IN" sz="1600" dirty="0"/>
              <a:t>DELETE FROM Customer</a:t>
            </a:r>
          </a:p>
          <a:p>
            <a:r>
              <a:rPr lang="en-IN" sz="1600" dirty="0"/>
              <a:t>WHERE </a:t>
            </a:r>
            <a:r>
              <a:rPr lang="en-IN" sz="1600" dirty="0" err="1"/>
              <a:t>Customer_ID</a:t>
            </a:r>
            <a:r>
              <a:rPr lang="en-IN" sz="1600" dirty="0"/>
              <a:t> = 106;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E59918-3A83-D38E-4AF1-C405EE6EC9BC}"/>
              </a:ext>
            </a:extLst>
          </p:cNvPr>
          <p:cNvSpPr txBox="1"/>
          <p:nvPr/>
        </p:nvSpPr>
        <p:spPr>
          <a:xfrm>
            <a:off x="766763" y="4485013"/>
            <a:ext cx="54946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DML manages the actual data stored inside our database tables.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9. DQL – Data Retrieval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800AF0-22EF-51DB-DBE5-4FCA0203644A}"/>
              </a:ext>
            </a:extLst>
          </p:cNvPr>
          <p:cNvSpPr txBox="1"/>
          <p:nvPr/>
        </p:nvSpPr>
        <p:spPr>
          <a:xfrm>
            <a:off x="990932" y="1193361"/>
            <a:ext cx="60946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/>
              <a:t>DQL</a:t>
            </a:r>
            <a:r>
              <a:rPr lang="en-IN" sz="2200" dirty="0"/>
              <a:t> – Data Query Language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A22686-C6C6-130F-2D47-4F65BC7A3D4E}"/>
              </a:ext>
            </a:extLst>
          </p:cNvPr>
          <p:cNvSpPr txBox="1"/>
          <p:nvPr/>
        </p:nvSpPr>
        <p:spPr>
          <a:xfrm>
            <a:off x="1588416" y="1547066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DQL is used to </a:t>
            </a:r>
            <a:r>
              <a:rPr lang="en-IN" b="1" dirty="0"/>
              <a:t>retrieve and view data</a:t>
            </a:r>
            <a:r>
              <a:rPr lang="en-IN" dirty="0"/>
              <a:t> from the database.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5DBCC6-D43B-0A34-95BD-947C8E77705E}"/>
              </a:ext>
            </a:extLst>
          </p:cNvPr>
          <p:cNvSpPr txBox="1"/>
          <p:nvPr/>
        </p:nvSpPr>
        <p:spPr>
          <a:xfrm>
            <a:off x="1036847" y="1824979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Queries implemented: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2CBC10-FA0F-3B7B-9ABA-550DEDD1605F}"/>
              </a:ext>
            </a:extLst>
          </p:cNvPr>
          <p:cNvSpPr txBox="1"/>
          <p:nvPr/>
        </p:nvSpPr>
        <p:spPr>
          <a:xfrm>
            <a:off x="1673679" y="6376154"/>
            <a:ext cx="95059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DQL helps us search, filter, sort, and retrieve required information from the database.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837D5F5-E487-5083-EECF-9561B34B032E}"/>
              </a:ext>
            </a:extLst>
          </p:cNvPr>
          <p:cNvSpPr/>
          <p:nvPr/>
        </p:nvSpPr>
        <p:spPr>
          <a:xfrm>
            <a:off x="1992086" y="2194311"/>
            <a:ext cx="7837714" cy="4052674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0E156C-C6DD-E3DA-6077-185F788B75B1}"/>
              </a:ext>
            </a:extLst>
          </p:cNvPr>
          <p:cNvSpPr txBox="1"/>
          <p:nvPr/>
        </p:nvSpPr>
        <p:spPr>
          <a:xfrm>
            <a:off x="2646589" y="2472224"/>
            <a:ext cx="6898821" cy="3841959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r>
              <a:rPr lang="en-IN" sz="1600" dirty="0">
                <a:sym typeface="Wingdings" panose="05000000000000000000" pitchFamily="2" charset="2"/>
              </a:rPr>
              <a:t></a:t>
            </a:r>
            <a:r>
              <a:rPr lang="en-IN" sz="1600" dirty="0"/>
              <a:t> SELECT</a:t>
            </a:r>
          </a:p>
          <a:p>
            <a:r>
              <a:rPr lang="en-IN" sz="1600" dirty="0"/>
              <a:t>SELECT * FROM Customer;</a:t>
            </a:r>
          </a:p>
          <a:p>
            <a:endParaRPr lang="en-IN" sz="1600" dirty="0"/>
          </a:p>
          <a:p>
            <a:r>
              <a:rPr lang="en-IN" sz="1600" dirty="0">
                <a:sym typeface="Wingdings" panose="05000000000000000000" pitchFamily="2" charset="2"/>
              </a:rPr>
              <a:t></a:t>
            </a:r>
            <a:r>
              <a:rPr lang="en-IN" sz="1600" dirty="0"/>
              <a:t> WHERE</a:t>
            </a:r>
          </a:p>
          <a:p>
            <a:r>
              <a:rPr lang="en-IN" sz="1600" dirty="0"/>
              <a:t>SELECT * FROM Account</a:t>
            </a:r>
          </a:p>
          <a:p>
            <a:r>
              <a:rPr lang="en-IN" sz="1600" dirty="0"/>
              <a:t>WHERE Balance &gt; 30000;</a:t>
            </a:r>
          </a:p>
          <a:p>
            <a:endParaRPr lang="en-IN" sz="1600" dirty="0"/>
          </a:p>
          <a:p>
            <a:r>
              <a:rPr lang="en-IN" sz="1600" dirty="0">
                <a:sym typeface="Wingdings" panose="05000000000000000000" pitchFamily="2" charset="2"/>
              </a:rPr>
              <a:t></a:t>
            </a:r>
            <a:r>
              <a:rPr lang="en-IN" sz="1600" dirty="0"/>
              <a:t> ORDER BY</a:t>
            </a:r>
          </a:p>
          <a:p>
            <a:r>
              <a:rPr lang="en-IN" sz="1600" dirty="0"/>
              <a:t>SELECT * FROM Account</a:t>
            </a:r>
          </a:p>
          <a:p>
            <a:r>
              <a:rPr lang="en-IN" sz="1600" dirty="0"/>
              <a:t>ORDER BY Balance DESC;</a:t>
            </a:r>
          </a:p>
          <a:p>
            <a:endParaRPr lang="en-IN" sz="1600" dirty="0"/>
          </a:p>
          <a:p>
            <a:r>
              <a:rPr lang="en-IN" sz="1600" dirty="0">
                <a:sym typeface="Wingdings" panose="05000000000000000000" pitchFamily="2" charset="2"/>
              </a:rPr>
              <a:t></a:t>
            </a:r>
            <a:r>
              <a:rPr lang="en-IN" sz="1600" dirty="0"/>
              <a:t> DISTINCT</a:t>
            </a:r>
          </a:p>
          <a:p>
            <a:r>
              <a:rPr lang="en-IN" sz="1600" dirty="0"/>
              <a:t>SELECT DISTINCT </a:t>
            </a:r>
            <a:r>
              <a:rPr lang="en-IN" sz="1600" dirty="0" err="1"/>
              <a:t>Account_Type</a:t>
            </a:r>
            <a:endParaRPr lang="en-IN" sz="1600" dirty="0"/>
          </a:p>
          <a:p>
            <a:r>
              <a:rPr lang="en-IN" sz="1600" dirty="0"/>
              <a:t>FROM Account;</a:t>
            </a:r>
          </a:p>
          <a:p>
            <a:endParaRPr lang="en-IN" sz="1600" dirty="0"/>
          </a:p>
          <a:p>
            <a:r>
              <a:rPr lang="en-IN" sz="1600" dirty="0">
                <a:sym typeface="Wingdings" panose="05000000000000000000" pitchFamily="2" charset="2"/>
              </a:rPr>
              <a:t></a:t>
            </a:r>
            <a:r>
              <a:rPr lang="en-IN" sz="1600" dirty="0"/>
              <a:t> LIKE</a:t>
            </a:r>
          </a:p>
          <a:p>
            <a:r>
              <a:rPr lang="en-IN" sz="1600" dirty="0"/>
              <a:t>SELECT * FROM Customer</a:t>
            </a:r>
          </a:p>
          <a:p>
            <a:r>
              <a:rPr lang="en-IN" sz="1600" dirty="0"/>
              <a:t>WHERE Name LIKE 'A%’;</a:t>
            </a:r>
          </a:p>
          <a:p>
            <a:endParaRPr lang="en-IN" sz="1600" dirty="0"/>
          </a:p>
          <a:p>
            <a:r>
              <a:rPr lang="en-IN" sz="1600" dirty="0">
                <a:sym typeface="Wingdings" panose="05000000000000000000" pitchFamily="2" charset="2"/>
              </a:rPr>
              <a:t> </a:t>
            </a:r>
            <a:r>
              <a:rPr lang="en-IN" sz="1600" dirty="0"/>
              <a:t>BETWEEN</a:t>
            </a:r>
          </a:p>
          <a:p>
            <a:r>
              <a:rPr lang="en-IN" sz="1600" dirty="0"/>
              <a:t>SELECT * FROM Account</a:t>
            </a:r>
          </a:p>
          <a:p>
            <a:r>
              <a:rPr lang="en-IN" sz="1600" dirty="0"/>
              <a:t>WHERE Balance BETWEEN 20000 AND 60000;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D678EE2-3C29-7C1C-F4D7-535CFBE7B01D}"/>
              </a:ext>
            </a:extLst>
          </p:cNvPr>
          <p:cNvSpPr/>
          <p:nvPr/>
        </p:nvSpPr>
        <p:spPr>
          <a:xfrm>
            <a:off x="315685" y="2900262"/>
            <a:ext cx="5502729" cy="1938047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10. SQL Queries – Joins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300081"/>
            <a:ext cx="10607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solidFill>
                  <a:srgbClr val="232323"/>
                </a:solidFill>
                <a:latin typeface="Aptos"/>
              </a:defRPr>
            </a:pPr>
            <a:r>
              <a:rPr lang="en-IN" dirty="0">
                <a:solidFill>
                  <a:srgbClr val="232323"/>
                </a:solidFill>
                <a:latin typeface="Aptos"/>
              </a:rPr>
              <a:t>Joins are used to </a:t>
            </a:r>
            <a:r>
              <a:rPr lang="en-IN" b="1" dirty="0">
                <a:solidFill>
                  <a:srgbClr val="232323"/>
                </a:solidFill>
                <a:latin typeface="Aptos"/>
              </a:rPr>
              <a:t>combine data from two or more related tables</a:t>
            </a:r>
            <a:r>
              <a:rPr lang="en-IN" dirty="0">
                <a:solidFill>
                  <a:srgbClr val="232323"/>
                </a:solidFill>
                <a:latin typeface="Aptos"/>
              </a:rPr>
              <a:t> using common fields.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C40373-A893-B372-E9CD-CFDA6BA52ABF}"/>
              </a:ext>
            </a:extLst>
          </p:cNvPr>
          <p:cNvSpPr txBox="1"/>
          <p:nvPr/>
        </p:nvSpPr>
        <p:spPr>
          <a:xfrm>
            <a:off x="594360" y="1858498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Joins implemented in our project 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BE8ABD-C066-E932-7009-43ED9215B115}"/>
              </a:ext>
            </a:extLst>
          </p:cNvPr>
          <p:cNvSpPr txBox="1"/>
          <p:nvPr/>
        </p:nvSpPr>
        <p:spPr>
          <a:xfrm>
            <a:off x="960120" y="2227830"/>
            <a:ext cx="44364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1. INNER JOIN 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8E908A-6330-6861-D0CA-8FE66DC9E2EB}"/>
              </a:ext>
            </a:extLst>
          </p:cNvPr>
          <p:cNvSpPr txBox="1"/>
          <p:nvPr/>
        </p:nvSpPr>
        <p:spPr>
          <a:xfrm>
            <a:off x="960120" y="2534042"/>
            <a:ext cx="4858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Displays matching records from related tables.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B435F4-8A9E-0CBD-6BF1-887161F32352}"/>
              </a:ext>
            </a:extLst>
          </p:cNvPr>
          <p:cNvSpPr txBox="1"/>
          <p:nvPr/>
        </p:nvSpPr>
        <p:spPr>
          <a:xfrm>
            <a:off x="557348" y="3043224"/>
            <a:ext cx="51358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dirty="0">
                <a:latin typeface="+mn-lt"/>
              </a:rPr>
              <a:t>SELECT </a:t>
            </a:r>
            <a:r>
              <a:rPr lang="en-IN" dirty="0" err="1">
                <a:latin typeface="+mn-lt"/>
              </a:rPr>
              <a:t>Customer.Name</a:t>
            </a:r>
            <a:r>
              <a:rPr lang="en-IN" dirty="0">
                <a:latin typeface="+mn-lt"/>
              </a:rPr>
              <a:t>, </a:t>
            </a:r>
            <a:r>
              <a:rPr lang="en-IN" dirty="0" err="1">
                <a:latin typeface="+mn-lt"/>
              </a:rPr>
              <a:t>Account.Account_Number</a:t>
            </a:r>
            <a:r>
              <a:rPr lang="en-IN" dirty="0">
                <a:latin typeface="+mn-lt"/>
              </a:rPr>
              <a:t>,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    </a:t>
            </a:r>
            <a:r>
              <a:rPr lang="en-IN" dirty="0" err="1">
                <a:latin typeface="+mn-lt"/>
              </a:rPr>
              <a:t>Account.Balance</a:t>
            </a:r>
            <a:endParaRPr lang="en-IN" dirty="0">
              <a:latin typeface="+mn-lt"/>
            </a:endParaRPr>
          </a:p>
          <a:p>
            <a:pPr rtl="0">
              <a:buNone/>
            </a:pPr>
            <a:r>
              <a:rPr lang="en-IN" dirty="0">
                <a:latin typeface="+mn-lt"/>
              </a:rPr>
              <a:t>FROM Customer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INNER JOIN Account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ON </a:t>
            </a:r>
            <a:r>
              <a:rPr lang="en-IN" dirty="0" err="1">
                <a:latin typeface="+mn-lt"/>
              </a:rPr>
              <a:t>Customer.Customer_ID</a:t>
            </a:r>
            <a:r>
              <a:rPr lang="en-IN" dirty="0">
                <a:latin typeface="+mn-lt"/>
              </a:rPr>
              <a:t> = </a:t>
            </a:r>
            <a:r>
              <a:rPr lang="en-IN" dirty="0" err="1">
                <a:latin typeface="+mn-lt"/>
              </a:rPr>
              <a:t>Account.Customer_ID</a:t>
            </a:r>
            <a:r>
              <a:rPr lang="en-IN" dirty="0">
                <a:latin typeface="+mn-lt"/>
              </a:rPr>
              <a:t>;</a:t>
            </a:r>
            <a:endParaRPr lang="en-IN" dirty="0">
              <a:latin typeface="Courier New" panose="02070309020205020404" pitchFamily="49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9BA579B-887A-4077-59C7-49E315079D15}"/>
              </a:ext>
            </a:extLst>
          </p:cNvPr>
          <p:cNvSpPr/>
          <p:nvPr/>
        </p:nvSpPr>
        <p:spPr>
          <a:xfrm>
            <a:off x="6263640" y="2882376"/>
            <a:ext cx="5502729" cy="1938047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555FCA-5E43-8416-6008-4825E72E6ED7}"/>
              </a:ext>
            </a:extLst>
          </p:cNvPr>
          <p:cNvSpPr txBox="1"/>
          <p:nvPr/>
        </p:nvSpPr>
        <p:spPr>
          <a:xfrm>
            <a:off x="6615249" y="3181723"/>
            <a:ext cx="51358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</a:t>
            </a:r>
            <a:r>
              <a:rPr lang="en-IN" dirty="0" err="1"/>
              <a:t>Account.Account_Number</a:t>
            </a:r>
            <a:r>
              <a:rPr lang="en-IN" dirty="0"/>
              <a:t>, </a:t>
            </a:r>
            <a:r>
              <a:rPr lang="en-IN" dirty="0" err="1"/>
              <a:t>Branch.Branch_Name</a:t>
            </a:r>
            <a:r>
              <a:rPr lang="en-IN" dirty="0"/>
              <a:t>, </a:t>
            </a:r>
            <a:r>
              <a:rPr lang="en-IN" dirty="0" err="1"/>
              <a:t>Branch.City</a:t>
            </a:r>
            <a:r>
              <a:rPr lang="en-IN" dirty="0"/>
              <a:t> FROM Account INNER JOIN Branch ON </a:t>
            </a:r>
            <a:r>
              <a:rPr lang="en-IN" dirty="0" err="1"/>
              <a:t>Account.Branch_ID</a:t>
            </a:r>
            <a:r>
              <a:rPr lang="en-IN" dirty="0"/>
              <a:t> = </a:t>
            </a:r>
            <a:r>
              <a:rPr lang="en-IN" dirty="0" err="1"/>
              <a:t>Branch.Branch_ID</a:t>
            </a:r>
            <a:r>
              <a:rPr lang="en-IN" dirty="0"/>
              <a:t>;</a:t>
            </a:r>
            <a:endParaRPr lang="en-IN" dirty="0">
              <a:latin typeface="Courier New" panose="020703090202050204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B6AC85-9EA4-EDA7-55B5-D912FC635EBB}"/>
              </a:ext>
            </a:extLst>
          </p:cNvPr>
          <p:cNvSpPr txBox="1"/>
          <p:nvPr/>
        </p:nvSpPr>
        <p:spPr>
          <a:xfrm>
            <a:off x="6490063" y="2229503"/>
            <a:ext cx="2351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2. JOIN with Branch 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188F2F-C732-45BA-B78E-190BB7A300F9}"/>
              </a:ext>
            </a:extLst>
          </p:cNvPr>
          <p:cNvSpPr txBox="1"/>
          <p:nvPr/>
        </p:nvSpPr>
        <p:spPr>
          <a:xfrm>
            <a:off x="2261167" y="5432209"/>
            <a:ext cx="7974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Joins help us view related information from multiple tables in a single result.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11. SQL Queries – Aggregate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591D01-F10F-4DC6-8822-5946A60114DA}"/>
              </a:ext>
            </a:extLst>
          </p:cNvPr>
          <p:cNvSpPr txBox="1"/>
          <p:nvPr/>
        </p:nvSpPr>
        <p:spPr>
          <a:xfrm>
            <a:off x="765314" y="1184946"/>
            <a:ext cx="60946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/>
              <a:t>Aggregate Functions 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A40ED0-C1CA-E8BB-D0C4-9EF1DFBAFD39}"/>
              </a:ext>
            </a:extLst>
          </p:cNvPr>
          <p:cNvSpPr txBox="1"/>
          <p:nvPr/>
        </p:nvSpPr>
        <p:spPr>
          <a:xfrm>
            <a:off x="1484906" y="1642769"/>
            <a:ext cx="10082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Aggregate functions are used to </a:t>
            </a:r>
            <a:r>
              <a:rPr lang="en-IN" b="1" dirty="0"/>
              <a:t>perform calculations on multiple records</a:t>
            </a:r>
            <a:r>
              <a:rPr lang="en-IN" dirty="0"/>
              <a:t> and return a single result.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B83B53-439B-9333-9F0C-61D16817C6D6}"/>
              </a:ext>
            </a:extLst>
          </p:cNvPr>
          <p:cNvSpPr txBox="1"/>
          <p:nvPr/>
        </p:nvSpPr>
        <p:spPr>
          <a:xfrm>
            <a:off x="765314" y="2039038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Functions used: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C7E172-5BF5-2E3F-E7D3-DA8598002E56}"/>
              </a:ext>
            </a:extLst>
          </p:cNvPr>
          <p:cNvSpPr txBox="1"/>
          <p:nvPr/>
        </p:nvSpPr>
        <p:spPr>
          <a:xfrm>
            <a:off x="1484906" y="2355714"/>
            <a:ext cx="609467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COUNT()</a:t>
            </a:r>
            <a:r>
              <a:rPr lang="en-IN" sz="1600" dirty="0"/>
              <a:t> – Counts the number of records.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SUM()</a:t>
            </a:r>
            <a:r>
              <a:rPr lang="en-IN" sz="1600" dirty="0"/>
              <a:t> – Calculates the total value.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AVG()</a:t>
            </a:r>
            <a:r>
              <a:rPr lang="en-IN" sz="1600" dirty="0"/>
              <a:t> – Calculates the average value.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MAX()</a:t>
            </a:r>
            <a:r>
              <a:rPr lang="en-IN" sz="1600" dirty="0"/>
              <a:t> – Finds the highest value.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MIN()</a:t>
            </a:r>
            <a:r>
              <a:rPr lang="en-IN" sz="1600" dirty="0"/>
              <a:t> – Finds the lowest value.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FACA3A-5B0C-94EB-4430-2F585BAD4B3C}"/>
              </a:ext>
            </a:extLst>
          </p:cNvPr>
          <p:cNvSpPr txBox="1"/>
          <p:nvPr/>
        </p:nvSpPr>
        <p:spPr>
          <a:xfrm>
            <a:off x="5647415" y="2039038"/>
            <a:ext cx="60946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Example :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68F75AF-3695-33D8-CA9C-6357FA2C6AB4}"/>
              </a:ext>
            </a:extLst>
          </p:cNvPr>
          <p:cNvSpPr/>
          <p:nvPr/>
        </p:nvSpPr>
        <p:spPr>
          <a:xfrm>
            <a:off x="5609646" y="2471509"/>
            <a:ext cx="6170212" cy="212299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SELECT COUNT(*) AS </a:t>
            </a:r>
            <a:r>
              <a:rPr lang="en-IN" dirty="0" err="1"/>
              <a:t>Total_Accounts</a:t>
            </a:r>
            <a:r>
              <a:rPr lang="en-IN" dirty="0"/>
              <a:t> FROM Account;</a:t>
            </a:r>
          </a:p>
          <a:p>
            <a:pPr algn="ctr"/>
            <a:r>
              <a:rPr lang="en-IN" dirty="0"/>
              <a:t>     SELECT SUM(Balance) AS </a:t>
            </a:r>
            <a:r>
              <a:rPr lang="en-IN" dirty="0" err="1"/>
              <a:t>Total_Balance</a:t>
            </a:r>
            <a:r>
              <a:rPr lang="en-IN" dirty="0"/>
              <a:t> FROM Account;</a:t>
            </a:r>
          </a:p>
          <a:p>
            <a:pPr algn="ctr"/>
            <a:r>
              <a:rPr lang="en-IN" dirty="0"/>
              <a:t>       SELECT AVG(Balance) AS </a:t>
            </a:r>
            <a:r>
              <a:rPr lang="en-IN" dirty="0" err="1"/>
              <a:t>Average_Balance</a:t>
            </a:r>
            <a:r>
              <a:rPr lang="en-IN" dirty="0"/>
              <a:t> FROM Account;</a:t>
            </a:r>
          </a:p>
          <a:p>
            <a:pPr algn="ctr"/>
            <a:r>
              <a:rPr lang="en-IN" dirty="0"/>
              <a:t>       SELECT MAX(Balance) AS </a:t>
            </a:r>
            <a:r>
              <a:rPr lang="en-IN" dirty="0" err="1"/>
              <a:t>Highest_Balance</a:t>
            </a:r>
            <a:r>
              <a:rPr lang="en-IN" dirty="0"/>
              <a:t> FROM Account;</a:t>
            </a:r>
          </a:p>
          <a:p>
            <a:pPr algn="ctr"/>
            <a:r>
              <a:rPr lang="en-IN" dirty="0"/>
              <a:t>        SELECT MIN(Balance) AS </a:t>
            </a:r>
            <a:r>
              <a:rPr lang="en-IN" dirty="0" err="1"/>
              <a:t>Lowest_Balance</a:t>
            </a:r>
            <a:r>
              <a:rPr lang="en-IN" dirty="0"/>
              <a:t> FROM Account;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F16CA0-D890-0C17-2FA6-8A66BBEA0FDD}"/>
              </a:ext>
            </a:extLst>
          </p:cNvPr>
          <p:cNvSpPr txBox="1"/>
          <p:nvPr/>
        </p:nvSpPr>
        <p:spPr>
          <a:xfrm>
            <a:off x="1484906" y="5030565"/>
            <a:ext cx="9583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Aggregate functions help us </a:t>
            </a:r>
            <a:r>
              <a:rPr lang="en-IN" b="1" dirty="0" err="1"/>
              <a:t>analyze</a:t>
            </a:r>
            <a:r>
              <a:rPr lang="en-IN" b="1" dirty="0"/>
              <a:t> account data and generate useful numerical information.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12. CRUD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236597-FD5B-CA27-C091-68651FD78631}"/>
              </a:ext>
            </a:extLst>
          </p:cNvPr>
          <p:cNvSpPr txBox="1"/>
          <p:nvPr/>
        </p:nvSpPr>
        <p:spPr>
          <a:xfrm>
            <a:off x="868680" y="1206812"/>
            <a:ext cx="60946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/>
              <a:t>CRUD Operations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D28E2E-477A-175F-ED2B-E80ADF7A0C4A}"/>
              </a:ext>
            </a:extLst>
          </p:cNvPr>
          <p:cNvSpPr txBox="1"/>
          <p:nvPr/>
        </p:nvSpPr>
        <p:spPr>
          <a:xfrm>
            <a:off x="1534601" y="1637699"/>
            <a:ext cx="78539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CRUD represents the four basic operations performed on database data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4BAA9C-F304-6A56-D4D4-45E9B938C62D}"/>
              </a:ext>
            </a:extLst>
          </p:cNvPr>
          <p:cNvSpPr txBox="1"/>
          <p:nvPr/>
        </p:nvSpPr>
        <p:spPr>
          <a:xfrm>
            <a:off x="987950" y="2013196"/>
            <a:ext cx="60946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C – Create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0163A1-9DA6-FAA8-478E-85B251B56603}"/>
              </a:ext>
            </a:extLst>
          </p:cNvPr>
          <p:cNvSpPr txBox="1"/>
          <p:nvPr/>
        </p:nvSpPr>
        <p:spPr>
          <a:xfrm>
            <a:off x="1266246" y="2367635"/>
            <a:ext cx="60946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600" dirty="0">
                <a:latin typeface="+mn-lt"/>
              </a:rPr>
              <a:t>INSERT INTO Customer</a:t>
            </a:r>
          </a:p>
          <a:p>
            <a:pPr rtl="0">
              <a:buNone/>
            </a:pPr>
            <a:r>
              <a:rPr lang="en-IN" sz="1600" dirty="0">
                <a:latin typeface="+mn-lt"/>
              </a:rPr>
              <a:t>VALUES (106, 'Ravi Kumar', '2002-06-10',</a:t>
            </a:r>
          </a:p>
          <a:p>
            <a:pPr rtl="0">
              <a:buNone/>
            </a:pPr>
            <a:r>
              <a:rPr lang="en-IN" sz="1600" dirty="0">
                <a:latin typeface="+mn-lt"/>
              </a:rPr>
              <a:t>        'Male', '9876543215',</a:t>
            </a:r>
          </a:p>
          <a:p>
            <a:pPr rtl="0">
              <a:buNone/>
            </a:pPr>
            <a:r>
              <a:rPr lang="en-IN" sz="1600" dirty="0">
                <a:latin typeface="+mn-lt"/>
              </a:rPr>
              <a:t>        'ravi@gmail.com', 'Hyderabad');</a:t>
            </a:r>
            <a:endParaRPr lang="en-IN" sz="1600" dirty="0">
              <a:latin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D1D3FC-4A76-2BF8-2800-9A4236D13882}"/>
              </a:ext>
            </a:extLst>
          </p:cNvPr>
          <p:cNvSpPr txBox="1"/>
          <p:nvPr/>
        </p:nvSpPr>
        <p:spPr>
          <a:xfrm>
            <a:off x="5461551" y="2010079"/>
            <a:ext cx="60946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R – Read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0D877B-90CB-B008-9D92-3EF22E836295}"/>
              </a:ext>
            </a:extLst>
          </p:cNvPr>
          <p:cNvSpPr txBox="1"/>
          <p:nvPr/>
        </p:nvSpPr>
        <p:spPr>
          <a:xfrm>
            <a:off x="5793518" y="2367635"/>
            <a:ext cx="60946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600" dirty="0">
                <a:latin typeface="+mn-lt"/>
              </a:rPr>
              <a:t>SELECT * FROM Customer;</a:t>
            </a:r>
            <a:endParaRPr lang="en-IN" sz="1600" dirty="0">
              <a:latin typeface="Courier New" panose="020703090202050204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0991B5-5E57-87D6-2137-2A93C04DA028}"/>
              </a:ext>
            </a:extLst>
          </p:cNvPr>
          <p:cNvSpPr txBox="1"/>
          <p:nvPr/>
        </p:nvSpPr>
        <p:spPr>
          <a:xfrm>
            <a:off x="987950" y="3544488"/>
            <a:ext cx="60946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U – Update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68072E-3DEA-3ECD-6933-1DE601BD9AA1}"/>
              </a:ext>
            </a:extLst>
          </p:cNvPr>
          <p:cNvSpPr txBox="1"/>
          <p:nvPr/>
        </p:nvSpPr>
        <p:spPr>
          <a:xfrm>
            <a:off x="1266246" y="3918751"/>
            <a:ext cx="60946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600" dirty="0">
                <a:latin typeface="+mn-lt"/>
              </a:rPr>
              <a:t>UPDATE Customer</a:t>
            </a:r>
          </a:p>
          <a:p>
            <a:pPr rtl="0">
              <a:buNone/>
            </a:pPr>
            <a:r>
              <a:rPr lang="en-IN" sz="1600" dirty="0">
                <a:latin typeface="+mn-lt"/>
              </a:rPr>
              <a:t>SET Phone = '9876543220'</a:t>
            </a:r>
          </a:p>
          <a:p>
            <a:pPr rtl="0">
              <a:buNone/>
            </a:pPr>
            <a:r>
              <a:rPr lang="en-IN" sz="1600" dirty="0">
                <a:latin typeface="+mn-lt"/>
              </a:rPr>
              <a:t>WHERE </a:t>
            </a:r>
            <a:r>
              <a:rPr lang="en-IN" sz="1600" dirty="0" err="1">
                <a:latin typeface="+mn-lt"/>
              </a:rPr>
              <a:t>Customer_ID</a:t>
            </a:r>
            <a:r>
              <a:rPr lang="en-IN" sz="1600" dirty="0">
                <a:latin typeface="+mn-lt"/>
              </a:rPr>
              <a:t> = 106;</a:t>
            </a:r>
            <a:endParaRPr lang="en-IN" sz="1600" dirty="0">
              <a:latin typeface="Courier New" panose="020703090202050204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5A7A58-D1A4-47F4-5E6E-52DF7BC246B1}"/>
              </a:ext>
            </a:extLst>
          </p:cNvPr>
          <p:cNvSpPr txBox="1"/>
          <p:nvPr/>
        </p:nvSpPr>
        <p:spPr>
          <a:xfrm>
            <a:off x="5459563" y="2737391"/>
            <a:ext cx="60946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D – Delete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CADECF-0B46-8C1D-E8FF-DC42ACB82F0B}"/>
              </a:ext>
            </a:extLst>
          </p:cNvPr>
          <p:cNvSpPr txBox="1"/>
          <p:nvPr/>
        </p:nvSpPr>
        <p:spPr>
          <a:xfrm>
            <a:off x="5793518" y="3082053"/>
            <a:ext cx="6094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600" dirty="0">
                <a:latin typeface="+mn-lt"/>
              </a:rPr>
              <a:t>DELETE FROM Customer</a:t>
            </a:r>
          </a:p>
          <a:p>
            <a:pPr rtl="0">
              <a:buNone/>
            </a:pPr>
            <a:r>
              <a:rPr lang="en-IN" sz="1600" dirty="0">
                <a:latin typeface="+mn-lt"/>
              </a:rPr>
              <a:t>WHERE </a:t>
            </a:r>
            <a:r>
              <a:rPr lang="en-IN" sz="1600" dirty="0" err="1">
                <a:latin typeface="+mn-lt"/>
              </a:rPr>
              <a:t>Customer_ID</a:t>
            </a:r>
            <a:r>
              <a:rPr lang="en-IN" sz="1600" dirty="0">
                <a:latin typeface="+mn-lt"/>
              </a:rPr>
              <a:t> = 106;</a:t>
            </a:r>
            <a:endParaRPr lang="en-IN" sz="1600" dirty="0">
              <a:latin typeface="Courier New" panose="020703090202050204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C26308F-035B-8FA4-349E-91BC27128591}"/>
              </a:ext>
            </a:extLst>
          </p:cNvPr>
          <p:cNvSpPr txBox="1"/>
          <p:nvPr/>
        </p:nvSpPr>
        <p:spPr>
          <a:xfrm>
            <a:off x="1447136" y="5281856"/>
            <a:ext cx="8937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CRUD operations allow us to add, view, modify, and remove records from the database.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B9BE299-756B-28F8-A110-9DEC0110A3FE}"/>
              </a:ext>
            </a:extLst>
          </p:cNvPr>
          <p:cNvSpPr/>
          <p:nvPr/>
        </p:nvSpPr>
        <p:spPr>
          <a:xfrm>
            <a:off x="1548184" y="2635400"/>
            <a:ext cx="4985468" cy="301801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13. Views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537786-2A09-4512-2490-08C27021841C}"/>
              </a:ext>
            </a:extLst>
          </p:cNvPr>
          <p:cNvSpPr txBox="1"/>
          <p:nvPr/>
        </p:nvSpPr>
        <p:spPr>
          <a:xfrm>
            <a:off x="848802" y="1125706"/>
            <a:ext cx="60946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/>
              <a:t>Database Views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B286B0-3FB6-D81E-8623-2D5D65329503}"/>
              </a:ext>
            </a:extLst>
          </p:cNvPr>
          <p:cNvSpPr txBox="1"/>
          <p:nvPr/>
        </p:nvSpPr>
        <p:spPr>
          <a:xfrm>
            <a:off x="1375576" y="1494356"/>
            <a:ext cx="70110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A </a:t>
            </a:r>
            <a:r>
              <a:rPr lang="en-IN" b="1" dirty="0"/>
              <a:t>View</a:t>
            </a:r>
            <a:r>
              <a:rPr lang="en-IN" dirty="0"/>
              <a:t> is a virtual table created from one or more tables.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It helps us </a:t>
            </a:r>
            <a:r>
              <a:rPr lang="en-IN" b="1" dirty="0"/>
              <a:t>display related information without storing duplicate data</a:t>
            </a:r>
            <a:r>
              <a:rPr lang="en-IN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7FBE8F-0479-B1D7-4795-3E87623065F3}"/>
              </a:ext>
            </a:extLst>
          </p:cNvPr>
          <p:cNvSpPr txBox="1"/>
          <p:nvPr/>
        </p:nvSpPr>
        <p:spPr>
          <a:xfrm>
            <a:off x="848802" y="2154715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View implemented in our project 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37B1B6-DA13-F14D-4762-E0BE27410D5D}"/>
              </a:ext>
            </a:extLst>
          </p:cNvPr>
          <p:cNvSpPr txBox="1"/>
          <p:nvPr/>
        </p:nvSpPr>
        <p:spPr>
          <a:xfrm>
            <a:off x="2107094" y="2714155"/>
            <a:ext cx="3867647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400" dirty="0">
                <a:latin typeface="+mn-lt"/>
              </a:rPr>
              <a:t>CREATE VIEW </a:t>
            </a:r>
            <a:r>
              <a:rPr lang="en-IN" sz="1400" dirty="0" err="1">
                <a:latin typeface="+mn-lt"/>
              </a:rPr>
              <a:t>Customer_Account_View</a:t>
            </a:r>
            <a:r>
              <a:rPr lang="en-IN" sz="1400" dirty="0">
                <a:latin typeface="+mn-lt"/>
              </a:rPr>
              <a:t> AS</a:t>
            </a:r>
          </a:p>
          <a:p>
            <a:pPr rtl="0">
              <a:buNone/>
            </a:pPr>
            <a:r>
              <a:rPr lang="en-IN" sz="1400" dirty="0">
                <a:latin typeface="+mn-lt"/>
              </a:rPr>
              <a:t>SELECT</a:t>
            </a:r>
          </a:p>
          <a:p>
            <a:pPr rtl="0">
              <a:buNone/>
            </a:pPr>
            <a:r>
              <a:rPr lang="en-IN" sz="1400" dirty="0">
                <a:latin typeface="+mn-lt"/>
              </a:rPr>
              <a:t>    </a:t>
            </a:r>
            <a:r>
              <a:rPr lang="en-IN" sz="1400" dirty="0" err="1">
                <a:latin typeface="+mn-lt"/>
              </a:rPr>
              <a:t>Customer.Name</a:t>
            </a:r>
            <a:r>
              <a:rPr lang="en-IN" sz="1400" dirty="0">
                <a:latin typeface="+mn-lt"/>
              </a:rPr>
              <a:t>,</a:t>
            </a:r>
          </a:p>
          <a:p>
            <a:pPr rtl="0">
              <a:buNone/>
            </a:pPr>
            <a:r>
              <a:rPr lang="en-IN" sz="1400" dirty="0">
                <a:latin typeface="+mn-lt"/>
              </a:rPr>
              <a:t>    </a:t>
            </a:r>
            <a:r>
              <a:rPr lang="en-IN" sz="1400" dirty="0" err="1">
                <a:latin typeface="+mn-lt"/>
              </a:rPr>
              <a:t>Account.Account_Number</a:t>
            </a:r>
            <a:r>
              <a:rPr lang="en-IN" sz="1400" dirty="0">
                <a:latin typeface="+mn-lt"/>
              </a:rPr>
              <a:t>,</a:t>
            </a:r>
          </a:p>
          <a:p>
            <a:pPr rtl="0">
              <a:buNone/>
            </a:pPr>
            <a:r>
              <a:rPr lang="en-IN" sz="1400" dirty="0">
                <a:latin typeface="+mn-lt"/>
              </a:rPr>
              <a:t>    </a:t>
            </a:r>
            <a:r>
              <a:rPr lang="en-IN" sz="1400" dirty="0" err="1">
                <a:latin typeface="+mn-lt"/>
              </a:rPr>
              <a:t>Account.Account_Type</a:t>
            </a:r>
            <a:r>
              <a:rPr lang="en-IN" sz="1400" dirty="0">
                <a:latin typeface="+mn-lt"/>
              </a:rPr>
              <a:t>,</a:t>
            </a:r>
          </a:p>
          <a:p>
            <a:pPr rtl="0">
              <a:buNone/>
            </a:pPr>
            <a:r>
              <a:rPr lang="en-IN" sz="1400" dirty="0">
                <a:latin typeface="+mn-lt"/>
              </a:rPr>
              <a:t>    </a:t>
            </a:r>
            <a:r>
              <a:rPr lang="en-IN" sz="1400" dirty="0" err="1">
                <a:latin typeface="+mn-lt"/>
              </a:rPr>
              <a:t>Account.Balance</a:t>
            </a:r>
            <a:r>
              <a:rPr lang="en-IN" sz="1400" dirty="0">
                <a:latin typeface="+mn-lt"/>
              </a:rPr>
              <a:t>,</a:t>
            </a:r>
          </a:p>
          <a:p>
            <a:pPr rtl="0">
              <a:buNone/>
            </a:pPr>
            <a:r>
              <a:rPr lang="en-IN" sz="1400" dirty="0">
                <a:latin typeface="+mn-lt"/>
              </a:rPr>
              <a:t>    </a:t>
            </a:r>
            <a:r>
              <a:rPr lang="en-IN" sz="1400" dirty="0" err="1">
                <a:latin typeface="+mn-lt"/>
              </a:rPr>
              <a:t>Branch.Branch_Name</a:t>
            </a:r>
            <a:r>
              <a:rPr lang="en-IN" sz="1400" dirty="0">
                <a:latin typeface="+mn-lt"/>
              </a:rPr>
              <a:t>,</a:t>
            </a:r>
          </a:p>
          <a:p>
            <a:pPr rtl="0">
              <a:buNone/>
            </a:pPr>
            <a:r>
              <a:rPr lang="en-IN" sz="1400" dirty="0">
                <a:latin typeface="+mn-lt"/>
              </a:rPr>
              <a:t>    </a:t>
            </a:r>
            <a:r>
              <a:rPr lang="en-IN" sz="1400" dirty="0" err="1">
                <a:latin typeface="+mn-lt"/>
              </a:rPr>
              <a:t>Branch.City</a:t>
            </a:r>
            <a:endParaRPr lang="en-IN" sz="1400" dirty="0">
              <a:latin typeface="+mn-lt"/>
            </a:endParaRPr>
          </a:p>
          <a:p>
            <a:pPr rtl="0">
              <a:buNone/>
            </a:pPr>
            <a:r>
              <a:rPr lang="en-IN" sz="1400" dirty="0">
                <a:latin typeface="+mn-lt"/>
              </a:rPr>
              <a:t>FROM Customer</a:t>
            </a:r>
          </a:p>
          <a:p>
            <a:pPr rtl="0">
              <a:buNone/>
            </a:pPr>
            <a:r>
              <a:rPr lang="en-IN" sz="1400" dirty="0">
                <a:latin typeface="+mn-lt"/>
              </a:rPr>
              <a:t>INNER JOIN Account</a:t>
            </a:r>
          </a:p>
          <a:p>
            <a:pPr rtl="0">
              <a:buNone/>
            </a:pPr>
            <a:r>
              <a:rPr lang="en-IN" sz="1400" dirty="0">
                <a:latin typeface="+mn-lt"/>
              </a:rPr>
              <a:t>ON </a:t>
            </a:r>
            <a:r>
              <a:rPr lang="en-IN" sz="1400" dirty="0" err="1">
                <a:latin typeface="+mn-lt"/>
              </a:rPr>
              <a:t>Customer.Customer_ID</a:t>
            </a:r>
            <a:r>
              <a:rPr lang="en-IN" sz="1400" dirty="0">
                <a:latin typeface="+mn-lt"/>
              </a:rPr>
              <a:t> = </a:t>
            </a:r>
            <a:r>
              <a:rPr lang="en-IN" sz="1400" dirty="0" err="1">
                <a:latin typeface="+mn-lt"/>
              </a:rPr>
              <a:t>Account.Customer_ID</a:t>
            </a:r>
            <a:endParaRPr lang="en-IN" sz="1400" dirty="0">
              <a:latin typeface="+mn-lt"/>
            </a:endParaRPr>
          </a:p>
          <a:p>
            <a:pPr rtl="0">
              <a:buNone/>
            </a:pPr>
            <a:r>
              <a:rPr lang="en-IN" sz="1400" dirty="0">
                <a:latin typeface="+mn-lt"/>
              </a:rPr>
              <a:t>INNER JOIN Branch</a:t>
            </a:r>
          </a:p>
          <a:p>
            <a:pPr rtl="0">
              <a:buNone/>
            </a:pPr>
            <a:r>
              <a:rPr lang="en-IN" sz="1400" dirty="0">
                <a:latin typeface="+mn-lt"/>
              </a:rPr>
              <a:t>ON </a:t>
            </a:r>
            <a:r>
              <a:rPr lang="en-IN" sz="1400" dirty="0" err="1">
                <a:latin typeface="+mn-lt"/>
              </a:rPr>
              <a:t>Account.Branch_ID</a:t>
            </a:r>
            <a:r>
              <a:rPr lang="en-IN" sz="1400" dirty="0">
                <a:latin typeface="+mn-lt"/>
              </a:rPr>
              <a:t> = </a:t>
            </a:r>
            <a:r>
              <a:rPr lang="en-IN" sz="1400" dirty="0" err="1">
                <a:latin typeface="+mn-lt"/>
              </a:rPr>
              <a:t>Branch.Branch_ID</a:t>
            </a:r>
            <a:r>
              <a:rPr lang="en-IN" sz="1400" dirty="0">
                <a:latin typeface="+mn-lt"/>
              </a:rPr>
              <a:t>;</a:t>
            </a:r>
            <a:endParaRPr lang="en-IN" sz="1400" dirty="0">
              <a:latin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3A9B47-E2B9-8D7B-6D37-75D156DE54AE}"/>
              </a:ext>
            </a:extLst>
          </p:cNvPr>
          <p:cNvSpPr txBox="1"/>
          <p:nvPr/>
        </p:nvSpPr>
        <p:spPr>
          <a:xfrm>
            <a:off x="7037569" y="3203592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To display the View 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009A0F-D682-EB4E-CE58-AD1B57F4DDE8}"/>
              </a:ext>
            </a:extLst>
          </p:cNvPr>
          <p:cNvSpPr txBox="1"/>
          <p:nvPr/>
        </p:nvSpPr>
        <p:spPr>
          <a:xfrm>
            <a:off x="7507469" y="3533439"/>
            <a:ext cx="42474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400" dirty="0">
                <a:latin typeface="+mn-lt"/>
              </a:rPr>
              <a:t>SELECT * FROM </a:t>
            </a:r>
            <a:r>
              <a:rPr lang="en-IN" sz="1400" dirty="0" err="1">
                <a:latin typeface="+mn-lt"/>
              </a:rPr>
              <a:t>Customer_Account_View</a:t>
            </a:r>
            <a:r>
              <a:rPr lang="en-IN" sz="1400" dirty="0">
                <a:latin typeface="+mn-lt"/>
              </a:rPr>
              <a:t>;</a:t>
            </a:r>
            <a:endParaRPr lang="en-IN" sz="1400" dirty="0">
              <a:latin typeface="Courier New" panose="020703090202050204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7183E9-D7E1-88B5-D2B3-D61C01F3897D}"/>
              </a:ext>
            </a:extLst>
          </p:cNvPr>
          <p:cNvSpPr txBox="1"/>
          <p:nvPr/>
        </p:nvSpPr>
        <p:spPr>
          <a:xfrm>
            <a:off x="1641730" y="5993562"/>
            <a:ext cx="9322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Our view combines Customer, Account, and Branch information into one easy-to-use result.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72FFA2-5BF4-8A73-57DA-5D5119E19701}"/>
              </a:ext>
            </a:extLst>
          </p:cNvPr>
          <p:cNvSpPr txBox="1"/>
          <p:nvPr/>
        </p:nvSpPr>
        <p:spPr>
          <a:xfrm>
            <a:off x="6533652" y="4275412"/>
            <a:ext cx="57394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/>
              <a:t>Customer + Account + Branch → </a:t>
            </a:r>
            <a:r>
              <a:rPr lang="en-IN" sz="1600" b="1" dirty="0" err="1"/>
              <a:t>Customer_Account_View</a:t>
            </a:r>
            <a:endParaRPr lang="en-IN" sz="16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14. Data Integrity and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212259"/>
              </p:ext>
            </p:extLst>
          </p:nvPr>
        </p:nvGraphicFramePr>
        <p:xfrm>
          <a:off x="594360" y="132588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3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How it is maintained</a:t>
                      </a:r>
                    </a:p>
                  </a:txBody>
                  <a:tcPr>
                    <a:solidFill>
                      <a:srgbClr val="18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Entity integrity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Primary keys prevent duplicate / NULL identifiers.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Referential integrity</a:t>
                      </a:r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Foreign keys prevent invalid references.</a:t>
                      </a:r>
                    </a:p>
                  </a:txBody>
                  <a:tcPr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Uniqueness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dirty="0"/>
                        <a:t>UNIQUE</a:t>
                      </a:r>
                      <a:r>
                        <a:rPr lang="en-IN" dirty="0"/>
                        <a:t> </a:t>
                      </a:r>
                      <a:r>
                        <a:rPr lang="en-IN" sz="1250" kern="1200" dirty="0">
                          <a:solidFill>
                            <a:srgbClr val="232323"/>
                          </a:solidFill>
                          <a:latin typeface="Aptos"/>
                          <a:ea typeface="+mn-ea"/>
                          <a:cs typeface="+mn-cs"/>
                        </a:rPr>
                        <a:t>constraints prevent duplicate Email and IFSC Code values.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Mandatory fields</a:t>
                      </a:r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dirty="0"/>
                        <a:t>NOT NULL </a:t>
                      </a:r>
                      <a:r>
                        <a:rPr lang="en-IN" sz="1250" kern="1200" dirty="0">
                          <a:solidFill>
                            <a:srgbClr val="232323"/>
                          </a:solidFill>
                          <a:latin typeface="Aptos"/>
                          <a:ea typeface="+mn-ea"/>
                          <a:cs typeface="+mn-cs"/>
                        </a:rPr>
                        <a:t>constraints ensure required fields are provided.</a:t>
                      </a:r>
                      <a:endParaRPr dirty="0"/>
                    </a:p>
                  </a:txBody>
                  <a:tcPr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Domain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dirty="0"/>
                        <a:t>CHECK </a:t>
                      </a:r>
                      <a:r>
                        <a:rPr lang="en-IN" sz="1250" kern="1200" dirty="0">
                          <a:solidFill>
                            <a:srgbClr val="232323"/>
                          </a:solidFill>
                          <a:latin typeface="Aptos"/>
                          <a:ea typeface="+mn-ea"/>
                          <a:cs typeface="+mn-cs"/>
                        </a:rPr>
                        <a:t>constraints allow only valid values, such as Balance ≥ 0 and Amount &gt; 0.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8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Business validation</a:t>
                      </a:r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lang="en-IN" dirty="0"/>
                        <a:t>Account status, transaction type, and the other values are restricted according to project rules.</a:t>
                      </a:r>
                      <a:endParaRPr dirty="0"/>
                    </a:p>
                  </a:txBody>
                  <a:tcPr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87D23700-E397-182E-14A3-4A1747F08CF7}"/>
              </a:ext>
            </a:extLst>
          </p:cNvPr>
          <p:cNvSpPr/>
          <p:nvPr/>
        </p:nvSpPr>
        <p:spPr>
          <a:xfrm>
            <a:off x="10040740" y="174672"/>
            <a:ext cx="1694060" cy="77958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50800" dist="12700" dir="5400000" algn="bl" rotWithShape="0">
              <a:srgbClr val="AAAAAA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0" descr="/home/claude/build/assets/logo.png">
            <a:extLst>
              <a:ext uri="{FF2B5EF4-FFF2-40B4-BE49-F238E27FC236}">
                <a16:creationId xmlns:a16="http://schemas.microsoft.com/office/drawing/2014/main" id="{E7EF409F-82BA-62C7-EC3D-73CBBB93C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2585" y="344093"/>
            <a:ext cx="1410370" cy="44074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15. SQL Output and Screenshots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Aptos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B7EA569-F07F-5FA0-9F62-9F852184C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740" y="1224541"/>
            <a:ext cx="10166220" cy="510843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16. Query Coverage for Demonstration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957471"/>
              </p:ext>
            </p:extLst>
          </p:nvPr>
        </p:nvGraphicFramePr>
        <p:xfrm>
          <a:off x="594360" y="1280160"/>
          <a:ext cx="10972800" cy="41813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459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Demonstration</a:t>
                      </a:r>
                    </a:p>
                  </a:txBody>
                  <a:tcPr>
                    <a:solidFill>
                      <a:srgbClr val="18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59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Basic SELECT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3–5 queries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59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Filtering / Sorting</a:t>
                      </a:r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3–5 queries</a:t>
                      </a:r>
                    </a:p>
                  </a:txBody>
                  <a:tcPr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59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Joins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5+ meaningful joins / multi-table queries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59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Aggregation</a:t>
                      </a:r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5+ COUNT, AVG, MIN, MAX, SUM queries</a:t>
                      </a:r>
                    </a:p>
                  </a:txBody>
                  <a:tcPr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59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GROUP BY / HAVING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2–3 queries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459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CRUD</a:t>
                      </a:r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At least one example for each operation</a:t>
                      </a:r>
                    </a:p>
                  </a:txBody>
                  <a:tcPr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459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dirty="0"/>
                        <a:t>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1–2 meaningful 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459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dirty="0"/>
                        <a:t>At least 2 constraint demonstrations</a:t>
                      </a:r>
                    </a:p>
                  </a:txBody>
                  <a:tcPr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704B59-0D75-623D-D98B-0E9E88B4F803}"/>
              </a:ext>
            </a:extLst>
          </p:cNvPr>
          <p:cNvSpPr txBox="1"/>
          <p:nvPr/>
        </p:nvSpPr>
        <p:spPr>
          <a:xfrm>
            <a:off x="713630" y="5630715"/>
            <a:ext cx="108535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Our database demonstrates SQL operations from basic retrieval to advanced queries, CRUD, views, and data validation.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74320"/>
            <a:ext cx="247696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1</a:t>
            </a:r>
            <a:r>
              <a:rPr lang="en-IN" dirty="0"/>
              <a:t>7</a:t>
            </a:r>
            <a:r>
              <a:rPr dirty="0"/>
              <a:t>.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7476" y="6446520"/>
            <a:ext cx="32252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rPr dirty="0"/>
              <a:t>1</a:t>
            </a:r>
            <a:r>
              <a:rPr lang="en-IN" dirty="0"/>
              <a:t>8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4B3292-83CA-0CB9-915C-67CDCD46E431}"/>
              </a:ext>
            </a:extLst>
          </p:cNvPr>
          <p:cNvSpPr txBox="1"/>
          <p:nvPr/>
        </p:nvSpPr>
        <p:spPr>
          <a:xfrm>
            <a:off x="944217" y="1680787"/>
            <a:ext cx="1027308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Successfully designed and implemented the </a:t>
            </a:r>
            <a:r>
              <a:rPr lang="en-IN" b="1" dirty="0"/>
              <a:t>Bank Account Management System</a:t>
            </a:r>
            <a:r>
              <a:rPr lang="en-IN" dirty="0"/>
              <a:t> using MySQL.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Six related tables manage </a:t>
            </a:r>
            <a:r>
              <a:rPr lang="en-IN" b="1" dirty="0"/>
              <a:t>Customer, Account, Branch, Employee, </a:t>
            </a:r>
            <a:r>
              <a:rPr lang="en-IN" b="1" dirty="0" err="1"/>
              <a:t>Bank_Transaction</a:t>
            </a:r>
            <a:r>
              <a:rPr lang="en-IN" b="1" dirty="0"/>
              <a:t>, and Loan</a:t>
            </a:r>
            <a:r>
              <a:rPr lang="en-IN" dirty="0"/>
              <a:t>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Primary Keys and Foreign Keys</a:t>
            </a:r>
            <a:r>
              <a:rPr lang="en-IN" dirty="0"/>
              <a:t> maintain relationships between tables.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Normalization up to 3NF</a:t>
            </a:r>
            <a:r>
              <a:rPr lang="en-IN" dirty="0"/>
              <a:t> reduces data redundancy and keeps the database organized.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Implemented </a:t>
            </a:r>
            <a:r>
              <a:rPr lang="en-IN" b="1" dirty="0"/>
              <a:t>DDL, DML, DQL, CRUD, Joins, Aggregate Functions, GROUP BY, HAVING, and Views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Constraints and validation</a:t>
            </a:r>
            <a:r>
              <a:rPr lang="en-IN" dirty="0"/>
              <a:t> help maintain accurate and consistent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system provides a structured foundation for </a:t>
            </a:r>
            <a:r>
              <a:rPr lang="en-IN" b="1" dirty="0"/>
              <a:t>efficient banking data management and reporting</a:t>
            </a:r>
            <a:r>
              <a:rPr lang="en-IN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8558D5-8C6B-2220-9492-79DE711E8AC3}"/>
              </a:ext>
            </a:extLst>
          </p:cNvPr>
          <p:cNvSpPr txBox="1"/>
          <p:nvPr/>
        </p:nvSpPr>
        <p:spPr>
          <a:xfrm>
            <a:off x="696402" y="4235771"/>
            <a:ext cx="113412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“Our project provides an organized, connected, and reliable database for managing important banking information.”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74320"/>
            <a:ext cx="408772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1</a:t>
            </a:r>
            <a:r>
              <a:rPr lang="en-IN" dirty="0"/>
              <a:t>8</a:t>
            </a:r>
            <a:r>
              <a:rPr dirty="0"/>
              <a:t>. 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7476" y="6446520"/>
            <a:ext cx="32252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rPr lang="en-IN" dirty="0"/>
              <a:t>19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CF4F30-E9D7-CCFF-344E-0A1276FFA0BC}"/>
              </a:ext>
            </a:extLst>
          </p:cNvPr>
          <p:cNvSpPr txBox="1"/>
          <p:nvPr/>
        </p:nvSpPr>
        <p:spPr>
          <a:xfrm>
            <a:off x="1081377" y="1470434"/>
            <a:ext cx="984371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Online Banking Integration</a:t>
            </a:r>
            <a:r>
              <a:rPr lang="en-IN" dirty="0"/>
              <a:t> – Connect the database with a web-based banking application.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Mobile Application</a:t>
            </a:r>
            <a:r>
              <a:rPr lang="en-IN" dirty="0"/>
              <a:t> – Provide access to account and transaction information through a mobile app.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Fund Transfer Module</a:t>
            </a:r>
            <a:r>
              <a:rPr lang="en-IN" dirty="0"/>
              <a:t> – Add secure money transfer between accounts.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Loan Management</a:t>
            </a:r>
            <a:r>
              <a:rPr lang="en-IN" dirty="0"/>
              <a:t> – Add loan approval, repayment, and tracking features.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Reports &amp; Analytics</a:t>
            </a:r>
            <a:r>
              <a:rPr lang="en-IN" dirty="0"/>
              <a:t> – Generate detailed customer, account, transaction, and loan reports.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User Authentication</a:t>
            </a:r>
            <a:r>
              <a:rPr lang="en-IN" dirty="0"/>
              <a:t> – Add secure login and role-based access for customers and bank employees.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Backup &amp; Recovery</a:t>
            </a:r>
            <a:r>
              <a:rPr lang="en-IN" dirty="0"/>
              <a:t> – Implement regular database backup and recovery mechanisms.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Audit Logging</a:t>
            </a:r>
            <a:r>
              <a:rPr lang="en-IN" dirty="0"/>
              <a:t> – Track important changes made to banking records.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FFE38A-DC97-8D6A-8D9A-BEE6046F288E}"/>
              </a:ext>
            </a:extLst>
          </p:cNvPr>
          <p:cNvSpPr txBox="1"/>
          <p:nvPr/>
        </p:nvSpPr>
        <p:spPr>
          <a:xfrm>
            <a:off x="769289" y="4352201"/>
            <a:ext cx="106607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“Future enhancements can extend the database into a complete and secure banking management application.”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880792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1</a:t>
            </a:r>
            <a:r>
              <a:rPr lang="en-IN"/>
              <a:t>9</a:t>
            </a:r>
            <a:r>
              <a:t>. </a:t>
            </a:r>
            <a:r>
              <a:rPr dirty="0"/>
              <a:t>Live Database Demonstration – Recommended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/>
              <a:t>1. Open the database / schema.</a:t>
            </a:r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/>
              <a:t>2. Show the six tables and relationships.</a:t>
            </a:r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/>
              <a:t>3. Show table structures and constraints.</a:t>
            </a:r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/>
              <a:t>4. Display inserted sample data.</a:t>
            </a:r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/>
              <a:t>5. Demonstrate DDL, DML, and DQL.</a:t>
            </a:r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/>
              <a:t>6. Demonstrate CRUD operations.</a:t>
            </a:r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/>
              <a:t>7. Run joins and aggregate queries.</a:t>
            </a:r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/>
              <a:t>8. Demonstrate a view.</a:t>
            </a:r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/>
              <a:t>9. Demonstrate validation / integrity.</a:t>
            </a:r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/>
              <a:t>10. Explain normalization up to 3NF and answer questions.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7476" y="6446520"/>
            <a:ext cx="32252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rPr lang="en-IN" dirty="0"/>
              <a:t>20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C76C123D-79D2-EE73-F1A3-4243A77F3D33}"/>
              </a:ext>
            </a:extLst>
          </p:cNvPr>
          <p:cNvSpPr/>
          <p:nvPr/>
        </p:nvSpPr>
        <p:spPr>
          <a:xfrm>
            <a:off x="10040740" y="174672"/>
            <a:ext cx="1694060" cy="77958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50800" dist="12700" dir="5400000" algn="bl" rotWithShape="0">
              <a:srgbClr val="AAAAAA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0" descr="/home/claude/build/assets/logo.png">
            <a:extLst>
              <a:ext uri="{FF2B5EF4-FFF2-40B4-BE49-F238E27FC236}">
                <a16:creationId xmlns:a16="http://schemas.microsoft.com/office/drawing/2014/main" id="{25C1DDE5-A98F-9B4E-FA0A-EB1C33C44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2585" y="344093"/>
            <a:ext cx="1410370" cy="4407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2228</Words>
  <Application>Microsoft Office PowerPoint</Application>
  <PresentationFormat>Widescreen</PresentationFormat>
  <Paragraphs>346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Courier New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Karthikeya Yalagandala</dc:creator>
  <cp:keywords/>
  <dc:description>generated using python-pptx</dc:description>
  <cp:lastModifiedBy>Karthikeya Yalagandala</cp:lastModifiedBy>
  <cp:revision>33</cp:revision>
  <dcterms:created xsi:type="dcterms:W3CDTF">2013-01-27T09:14:16Z</dcterms:created>
  <dcterms:modified xsi:type="dcterms:W3CDTF">2026-09-30T17:03:04Z</dcterms:modified>
  <cp:category/>
</cp:coreProperties>
</file>