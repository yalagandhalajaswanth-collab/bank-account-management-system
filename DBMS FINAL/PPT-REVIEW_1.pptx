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Roboto" panose="02000000000000000000" pitchFamily="2" charset="0"/>
      <p:regular r:id="rId14"/>
    </p:embeddedFont>
    <p:embeddedFont>
      <p:font typeface="Roboto Bold" panose="02000000000000000000" charset="0"/>
      <p:regular r:id="rId15"/>
    </p:embeddedFont>
    <p:embeddedFont>
      <p:font typeface="Roboto Slab" pitchFamily="2"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D478BB-5371-45D1-9810-F3DA3C6FC6F0}" v="8" dt="2026-08-11T01:53:58.8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611"/>
    <p:restoredTop sz="94610"/>
  </p:normalViewPr>
  <p:slideViewPr>
    <p:cSldViewPr snapToGrid="0" snapToObjects="1">
      <p:cViewPr varScale="1">
        <p:scale>
          <a:sx n="98" d="100"/>
          <a:sy n="98" d="100"/>
        </p:scale>
        <p:origin x="82"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eya Yalagandala" userId="e03980024f98a374" providerId="LiveId" clId="{2D3AA5D5-FFD9-497B-B7A6-EC2C04E0DF08}"/>
    <pc:docChg chg="undo custSel modSld modMainMaster">
      <pc:chgData name="Karthikeya Yalagandala" userId="e03980024f98a374" providerId="LiveId" clId="{2D3AA5D5-FFD9-497B-B7A6-EC2C04E0DF08}" dt="2026-08-11T02:03:15.213" v="126" actId="1076"/>
      <pc:docMkLst>
        <pc:docMk/>
      </pc:docMkLst>
      <pc:sldChg chg="modSp mod">
        <pc:chgData name="Karthikeya Yalagandala" userId="e03980024f98a374" providerId="LiveId" clId="{2D3AA5D5-FFD9-497B-B7A6-EC2C04E0DF08}" dt="2026-08-11T01:54:35.322" v="79" actId="1076"/>
        <pc:sldMkLst>
          <pc:docMk/>
          <pc:sldMk cId="0" sldId="257"/>
        </pc:sldMkLst>
        <pc:spChg chg="mod">
          <ac:chgData name="Karthikeya Yalagandala" userId="e03980024f98a374" providerId="LiveId" clId="{2D3AA5D5-FFD9-497B-B7A6-EC2C04E0DF08}" dt="2026-08-11T01:54:35.322" v="79" actId="1076"/>
          <ac:spMkLst>
            <pc:docMk/>
            <pc:sldMk cId="0" sldId="257"/>
            <ac:spMk id="3" creationId="{00000000-0000-0000-0000-000000000000}"/>
          </ac:spMkLst>
        </pc:spChg>
      </pc:sldChg>
      <pc:sldChg chg="modSp mod">
        <pc:chgData name="Karthikeya Yalagandala" userId="e03980024f98a374" providerId="LiveId" clId="{2D3AA5D5-FFD9-497B-B7A6-EC2C04E0DF08}" dt="2026-08-10T07:34:50.576" v="5" actId="1076"/>
        <pc:sldMkLst>
          <pc:docMk/>
          <pc:sldMk cId="0" sldId="258"/>
        </pc:sldMkLst>
        <pc:spChg chg="mod">
          <ac:chgData name="Karthikeya Yalagandala" userId="e03980024f98a374" providerId="LiveId" clId="{2D3AA5D5-FFD9-497B-B7A6-EC2C04E0DF08}" dt="2026-08-10T07:34:18.768" v="1" actId="1076"/>
          <ac:spMkLst>
            <pc:docMk/>
            <pc:sldMk cId="0" sldId="258"/>
            <ac:spMk id="3" creationId="{00000000-0000-0000-0000-000000000000}"/>
          </ac:spMkLst>
        </pc:spChg>
        <pc:spChg chg="mod">
          <ac:chgData name="Karthikeya Yalagandala" userId="e03980024f98a374" providerId="LiveId" clId="{2D3AA5D5-FFD9-497B-B7A6-EC2C04E0DF08}" dt="2026-08-10T07:34:26.456" v="2" actId="1076"/>
          <ac:spMkLst>
            <pc:docMk/>
            <pc:sldMk cId="0" sldId="258"/>
            <ac:spMk id="5" creationId="{00000000-0000-0000-0000-000000000000}"/>
          </ac:spMkLst>
        </pc:spChg>
        <pc:spChg chg="mod">
          <ac:chgData name="Karthikeya Yalagandala" userId="e03980024f98a374" providerId="LiveId" clId="{2D3AA5D5-FFD9-497B-B7A6-EC2C04E0DF08}" dt="2026-08-10T07:34:37.835" v="3" actId="1076"/>
          <ac:spMkLst>
            <pc:docMk/>
            <pc:sldMk cId="0" sldId="258"/>
            <ac:spMk id="6" creationId="{00000000-0000-0000-0000-000000000000}"/>
          </ac:spMkLst>
        </pc:spChg>
        <pc:spChg chg="mod">
          <ac:chgData name="Karthikeya Yalagandala" userId="e03980024f98a374" providerId="LiveId" clId="{2D3AA5D5-FFD9-497B-B7A6-EC2C04E0DF08}" dt="2026-08-10T07:34:43.539" v="4" actId="1076"/>
          <ac:spMkLst>
            <pc:docMk/>
            <pc:sldMk cId="0" sldId="258"/>
            <ac:spMk id="7" creationId="{00000000-0000-0000-0000-000000000000}"/>
          </ac:spMkLst>
        </pc:spChg>
        <pc:spChg chg="mod">
          <ac:chgData name="Karthikeya Yalagandala" userId="e03980024f98a374" providerId="LiveId" clId="{2D3AA5D5-FFD9-497B-B7A6-EC2C04E0DF08}" dt="2026-08-10T07:34:50.576" v="5" actId="1076"/>
          <ac:spMkLst>
            <pc:docMk/>
            <pc:sldMk cId="0" sldId="258"/>
            <ac:spMk id="8" creationId="{00000000-0000-0000-0000-000000000000}"/>
          </ac:spMkLst>
        </pc:spChg>
      </pc:sldChg>
      <pc:sldChg chg="modSp mod">
        <pc:chgData name="Karthikeya Yalagandala" userId="e03980024f98a374" providerId="LiveId" clId="{2D3AA5D5-FFD9-497B-B7A6-EC2C04E0DF08}" dt="2026-08-11T01:33:11.869" v="19" actId="255"/>
        <pc:sldMkLst>
          <pc:docMk/>
          <pc:sldMk cId="0" sldId="260"/>
        </pc:sldMkLst>
        <pc:spChg chg="mod">
          <ac:chgData name="Karthikeya Yalagandala" userId="e03980024f98a374" providerId="LiveId" clId="{2D3AA5D5-FFD9-497B-B7A6-EC2C04E0DF08}" dt="2026-08-11T01:32:17.512" v="16" actId="255"/>
          <ac:spMkLst>
            <pc:docMk/>
            <pc:sldMk cId="0" sldId="260"/>
            <ac:spMk id="20" creationId="{00000000-0000-0000-0000-000000000000}"/>
          </ac:spMkLst>
        </pc:spChg>
        <pc:spChg chg="mod">
          <ac:chgData name="Karthikeya Yalagandala" userId="e03980024f98a374" providerId="LiveId" clId="{2D3AA5D5-FFD9-497B-B7A6-EC2C04E0DF08}" dt="2026-08-11T01:33:11.869" v="19" actId="255"/>
          <ac:spMkLst>
            <pc:docMk/>
            <pc:sldMk cId="0" sldId="260"/>
            <ac:spMk id="28" creationId="{00000000-0000-0000-0000-000000000000}"/>
          </ac:spMkLst>
        </pc:spChg>
      </pc:sldChg>
      <pc:sldChg chg="modSp mod">
        <pc:chgData name="Karthikeya Yalagandala" userId="e03980024f98a374" providerId="LiveId" clId="{2D3AA5D5-FFD9-497B-B7A6-EC2C04E0DF08}" dt="2026-08-11T01:53:58.895" v="78"/>
        <pc:sldMkLst>
          <pc:docMk/>
          <pc:sldMk cId="0" sldId="261"/>
        </pc:sldMkLst>
        <pc:spChg chg="mod">
          <ac:chgData name="Karthikeya Yalagandala" userId="e03980024f98a374" providerId="LiveId" clId="{2D3AA5D5-FFD9-497B-B7A6-EC2C04E0DF08}" dt="2026-08-11T01:53:58.895" v="78"/>
          <ac:spMkLst>
            <pc:docMk/>
            <pc:sldMk cId="0" sldId="261"/>
            <ac:spMk id="18" creationId="{00000000-0000-0000-0000-000000000000}"/>
          </ac:spMkLst>
        </pc:spChg>
      </pc:sldChg>
      <pc:sldChg chg="delSp modSp mod">
        <pc:chgData name="Karthikeya Yalagandala" userId="e03980024f98a374" providerId="LiveId" clId="{2D3AA5D5-FFD9-497B-B7A6-EC2C04E0DF08}" dt="2026-08-11T01:35:03.918" v="34" actId="14100"/>
        <pc:sldMkLst>
          <pc:docMk/>
          <pc:sldMk cId="0" sldId="262"/>
        </pc:sldMkLst>
        <pc:spChg chg="mod">
          <ac:chgData name="Karthikeya Yalagandala" userId="e03980024f98a374" providerId="LiveId" clId="{2D3AA5D5-FFD9-497B-B7A6-EC2C04E0DF08}" dt="2026-08-11T01:34:35.044" v="31" actId="14100"/>
          <ac:spMkLst>
            <pc:docMk/>
            <pc:sldMk cId="0" sldId="262"/>
            <ac:spMk id="3" creationId="{00000000-0000-0000-0000-000000000000}"/>
          </ac:spMkLst>
        </pc:spChg>
        <pc:spChg chg="mod">
          <ac:chgData name="Karthikeya Yalagandala" userId="e03980024f98a374" providerId="LiveId" clId="{2D3AA5D5-FFD9-497B-B7A6-EC2C04E0DF08}" dt="2026-08-11T01:34:43.783" v="32" actId="14100"/>
          <ac:spMkLst>
            <pc:docMk/>
            <pc:sldMk cId="0" sldId="262"/>
            <ac:spMk id="10" creationId="{00000000-0000-0000-0000-000000000000}"/>
          </ac:spMkLst>
        </pc:spChg>
        <pc:spChg chg="mod">
          <ac:chgData name="Karthikeya Yalagandala" userId="e03980024f98a374" providerId="LiveId" clId="{2D3AA5D5-FFD9-497B-B7A6-EC2C04E0DF08}" dt="2026-08-11T01:35:03.918" v="34" actId="14100"/>
          <ac:spMkLst>
            <pc:docMk/>
            <pc:sldMk cId="0" sldId="262"/>
            <ac:spMk id="11" creationId="{00000000-0000-0000-0000-000000000000}"/>
          </ac:spMkLst>
        </pc:spChg>
        <pc:spChg chg="mod">
          <ac:chgData name="Karthikeya Yalagandala" userId="e03980024f98a374" providerId="LiveId" clId="{2D3AA5D5-FFD9-497B-B7A6-EC2C04E0DF08}" dt="2026-08-11T01:34:52.049" v="33" actId="14100"/>
          <ac:spMkLst>
            <pc:docMk/>
            <pc:sldMk cId="0" sldId="262"/>
            <ac:spMk id="12" creationId="{00000000-0000-0000-0000-000000000000}"/>
          </ac:spMkLst>
        </pc:spChg>
        <pc:spChg chg="mod">
          <ac:chgData name="Karthikeya Yalagandala" userId="e03980024f98a374" providerId="LiveId" clId="{2D3AA5D5-FFD9-497B-B7A6-EC2C04E0DF08}" dt="2026-08-11T01:34:22.571" v="28" actId="6549"/>
          <ac:spMkLst>
            <pc:docMk/>
            <pc:sldMk cId="0" sldId="262"/>
            <ac:spMk id="53" creationId="{00000000-0000-0000-0000-000000000000}"/>
          </ac:spMkLst>
        </pc:spChg>
        <pc:spChg chg="del">
          <ac:chgData name="Karthikeya Yalagandala" userId="e03980024f98a374" providerId="LiveId" clId="{2D3AA5D5-FFD9-497B-B7A6-EC2C04E0DF08}" dt="2026-08-11T01:34:15.188" v="26" actId="478"/>
          <ac:spMkLst>
            <pc:docMk/>
            <pc:sldMk cId="0" sldId="262"/>
            <ac:spMk id="54" creationId="{00000000-0000-0000-0000-000000000000}"/>
          </ac:spMkLst>
        </pc:spChg>
        <pc:spChg chg="mod">
          <ac:chgData name="Karthikeya Yalagandala" userId="e03980024f98a374" providerId="LiveId" clId="{2D3AA5D5-FFD9-497B-B7A6-EC2C04E0DF08}" dt="2026-08-11T01:34:26.940" v="30" actId="20577"/>
          <ac:spMkLst>
            <pc:docMk/>
            <pc:sldMk cId="0" sldId="262"/>
            <ac:spMk id="55" creationId="{00000000-0000-0000-0000-000000000000}"/>
          </ac:spMkLst>
        </pc:spChg>
        <pc:spChg chg="del">
          <ac:chgData name="Karthikeya Yalagandala" userId="e03980024f98a374" providerId="LiveId" clId="{2D3AA5D5-FFD9-497B-B7A6-EC2C04E0DF08}" dt="2026-08-11T01:33:55.220" v="20" actId="478"/>
          <ac:spMkLst>
            <pc:docMk/>
            <pc:sldMk cId="0" sldId="262"/>
            <ac:spMk id="56" creationId="{00000000-0000-0000-0000-000000000000}"/>
          </ac:spMkLst>
        </pc:spChg>
      </pc:sldChg>
      <pc:sldChg chg="addSp delSp modSp mod">
        <pc:chgData name="Karthikeya Yalagandala" userId="e03980024f98a374" providerId="LiveId" clId="{2D3AA5D5-FFD9-497B-B7A6-EC2C04E0DF08}" dt="2026-08-11T01:48:41.978" v="53" actId="20577"/>
        <pc:sldMkLst>
          <pc:docMk/>
          <pc:sldMk cId="0" sldId="264"/>
        </pc:sldMkLst>
        <pc:spChg chg="mod">
          <ac:chgData name="Karthikeya Yalagandala" userId="e03980024f98a374" providerId="LiveId" clId="{2D3AA5D5-FFD9-497B-B7A6-EC2C04E0DF08}" dt="2026-08-11T01:30:44.345" v="10" actId="255"/>
          <ac:spMkLst>
            <pc:docMk/>
            <pc:sldMk cId="0" sldId="264"/>
            <ac:spMk id="9" creationId="{00000000-0000-0000-0000-000000000000}"/>
          </ac:spMkLst>
        </pc:spChg>
        <pc:spChg chg="mod">
          <ac:chgData name="Karthikeya Yalagandala" userId="e03980024f98a374" providerId="LiveId" clId="{2D3AA5D5-FFD9-497B-B7A6-EC2C04E0DF08}" dt="2026-08-11T01:48:34.916" v="51" actId="1076"/>
          <ac:spMkLst>
            <pc:docMk/>
            <pc:sldMk cId="0" sldId="264"/>
            <ac:spMk id="22" creationId="{00000000-0000-0000-0000-000000000000}"/>
          </ac:spMkLst>
        </pc:spChg>
        <pc:spChg chg="mod">
          <ac:chgData name="Karthikeya Yalagandala" userId="e03980024f98a374" providerId="LiveId" clId="{2D3AA5D5-FFD9-497B-B7A6-EC2C04E0DF08}" dt="2026-08-11T01:48:41.978" v="53" actId="20577"/>
          <ac:spMkLst>
            <pc:docMk/>
            <pc:sldMk cId="0" sldId="264"/>
            <ac:spMk id="24" creationId="{00000000-0000-0000-0000-000000000000}"/>
          </ac:spMkLst>
        </pc:spChg>
        <pc:spChg chg="add del mod">
          <ac:chgData name="Karthikeya Yalagandala" userId="e03980024f98a374" providerId="LiveId" clId="{2D3AA5D5-FFD9-497B-B7A6-EC2C04E0DF08}" dt="2026-08-11T01:31:46.171" v="13"/>
          <ac:spMkLst>
            <pc:docMk/>
            <pc:sldMk cId="0" sldId="264"/>
            <ac:spMk id="25" creationId="{C0E61E4C-D557-5FCE-1B49-915114685A47}"/>
          </ac:spMkLst>
        </pc:spChg>
      </pc:sldChg>
      <pc:sldChg chg="modSp mod">
        <pc:chgData name="Karthikeya Yalagandala" userId="e03980024f98a374" providerId="LiveId" clId="{2D3AA5D5-FFD9-497B-B7A6-EC2C04E0DF08}" dt="2026-08-11T01:46:24.852" v="42" actId="27636"/>
        <pc:sldMkLst>
          <pc:docMk/>
          <pc:sldMk cId="0" sldId="265"/>
        </pc:sldMkLst>
        <pc:spChg chg="mod">
          <ac:chgData name="Karthikeya Yalagandala" userId="e03980024f98a374" providerId="LiveId" clId="{2D3AA5D5-FFD9-497B-B7A6-EC2C04E0DF08}" dt="2026-08-11T01:46:24.852" v="42" actId="27636"/>
          <ac:spMkLst>
            <pc:docMk/>
            <pc:sldMk cId="0" sldId="265"/>
            <ac:spMk id="3" creationId="{00000000-0000-0000-0000-000000000000}"/>
          </ac:spMkLst>
        </pc:spChg>
      </pc:sldChg>
      <pc:sldChg chg="modSp mod">
        <pc:chgData name="Karthikeya Yalagandala" userId="e03980024f98a374" providerId="LiveId" clId="{2D3AA5D5-FFD9-497B-B7A6-EC2C04E0DF08}" dt="2026-08-11T01:50:42.779" v="75" actId="12"/>
        <pc:sldMkLst>
          <pc:docMk/>
          <pc:sldMk cId="0" sldId="266"/>
        </pc:sldMkLst>
        <pc:spChg chg="mod">
          <ac:chgData name="Karthikeya Yalagandala" userId="e03980024f98a374" providerId="LiveId" clId="{2D3AA5D5-FFD9-497B-B7A6-EC2C04E0DF08}" dt="2026-08-11T01:50:42.779" v="75" actId="12"/>
          <ac:spMkLst>
            <pc:docMk/>
            <pc:sldMk cId="0" sldId="266"/>
            <ac:spMk id="16" creationId="{00000000-0000-0000-0000-000000000000}"/>
          </ac:spMkLst>
        </pc:spChg>
      </pc:sldChg>
      <pc:sldMasterChg chg="modSldLayout">
        <pc:chgData name="Karthikeya Yalagandala" userId="e03980024f98a374" providerId="LiveId" clId="{2D3AA5D5-FFD9-497B-B7A6-EC2C04E0DF08}" dt="2026-08-11T02:03:15.213" v="126" actId="1076"/>
        <pc:sldMasterMkLst>
          <pc:docMk/>
          <pc:sldMasterMk cId="0" sldId="2147483648"/>
        </pc:sldMasterMkLst>
        <pc:sldLayoutChg chg="addSp modSp mod">
          <pc:chgData name="Karthikeya Yalagandala" userId="e03980024f98a374" providerId="LiveId" clId="{2D3AA5D5-FFD9-497B-B7A6-EC2C04E0DF08}" dt="2026-08-11T02:03:15.213" v="126" actId="1076"/>
          <pc:sldLayoutMkLst>
            <pc:docMk/>
            <pc:sldMasterMk cId="0" sldId="2147483648"/>
            <pc:sldLayoutMk cId="0" sldId="2147483650"/>
          </pc:sldLayoutMkLst>
          <pc:spChg chg="mod ord">
            <ac:chgData name="Karthikeya Yalagandala" userId="e03980024f98a374" providerId="LiveId" clId="{2D3AA5D5-FFD9-497B-B7A6-EC2C04E0DF08}" dt="2026-08-11T02:03:15.213" v="126" actId="1076"/>
            <ac:spMkLst>
              <pc:docMk/>
              <pc:sldMasterMk cId="0" sldId="2147483648"/>
              <pc:sldLayoutMk cId="0" sldId="2147483650"/>
              <ac:spMk id="3" creationId="{00000000-0000-0000-0000-000000000000}"/>
            </ac:spMkLst>
          </pc:spChg>
          <pc:spChg chg="add mod ord">
            <ac:chgData name="Karthikeya Yalagandala" userId="e03980024f98a374" providerId="LiveId" clId="{2D3AA5D5-FFD9-497B-B7A6-EC2C04E0DF08}" dt="2026-08-11T02:02:58.298" v="124" actId="1076"/>
            <ac:spMkLst>
              <pc:docMk/>
              <pc:sldMasterMk cId="0" sldId="2147483648"/>
              <pc:sldLayoutMk cId="0" sldId="2147483650"/>
              <ac:spMk id="6" creationId="{18A9A20E-7AA7-5604-5E0A-FAE48A62F637}"/>
            </ac:spMkLst>
          </pc:spChg>
          <pc:picChg chg="add mod ord">
            <ac:chgData name="Karthikeya Yalagandala" userId="e03980024f98a374" providerId="LiveId" clId="{2D3AA5D5-FFD9-497B-B7A6-EC2C04E0DF08}" dt="2026-08-11T02:03:05.607" v="125" actId="1076"/>
            <ac:picMkLst>
              <pc:docMk/>
              <pc:sldMasterMk cId="0" sldId="2147483648"/>
              <pc:sldLayoutMk cId="0" sldId="2147483650"/>
              <ac:picMk id="5" creationId="{1BDA0B4A-D243-B63F-B85C-2D740319518E}"/>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8641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DF1F8"/>
          </a:solidFill>
          <a:ln/>
        </p:spPr>
      </p:sp>
      <p:sp>
        <p:nvSpPr>
          <p:cNvPr id="3" name="Shape 1"/>
          <p:cNvSpPr/>
          <p:nvPr/>
        </p:nvSpPr>
        <p:spPr>
          <a:xfrm>
            <a:off x="305" y="0"/>
            <a:ext cx="12191695" cy="6858000"/>
          </a:xfrm>
          <a:prstGeom prst="rect">
            <a:avLst/>
          </a:prstGeom>
          <a:solidFill>
            <a:srgbClr val="FBFCFE"/>
          </a:solidFill>
          <a:ln/>
        </p:spPr>
        <p:txBody>
          <a:bodyPr/>
          <a:lstStyle/>
          <a:p>
            <a:endParaRPr lang="en-IN"/>
          </a:p>
        </p:txBody>
      </p:sp>
      <p:sp>
        <p:nvSpPr>
          <p:cNvPr id="6" name="Shape 2">
            <a:extLst>
              <a:ext uri="{FF2B5EF4-FFF2-40B4-BE49-F238E27FC236}">
                <a16:creationId xmlns:a16="http://schemas.microsoft.com/office/drawing/2014/main" id="{18A9A20E-7AA7-5604-5E0A-FAE48A62F637}"/>
              </a:ext>
            </a:extLst>
          </p:cNvPr>
          <p:cNvSpPr/>
          <p:nvPr userDrawn="1"/>
        </p:nvSpPr>
        <p:spPr>
          <a:xfrm>
            <a:off x="10289260" y="165490"/>
            <a:ext cx="1694060" cy="779585"/>
          </a:xfrm>
          <a:prstGeom prst="roundRect">
            <a:avLst>
              <a:gd name="adj" fmla="val 12903"/>
            </a:avLst>
          </a:prstGeom>
          <a:solidFill>
            <a:srgbClr val="FFFFFF"/>
          </a:solidFill>
          <a:ln w="12700">
            <a:solidFill>
              <a:srgbClr val="D9E3EC"/>
            </a:solidFill>
            <a:prstDash val="solid"/>
          </a:ln>
          <a:effectLst>
            <a:outerShdw blurRad="50800" dist="12700" dir="5400000" algn="bl" rotWithShape="0">
              <a:srgbClr val="AAAAAA">
                <a:alpha val="25000"/>
              </a:srgbClr>
            </a:outerShdw>
          </a:effectLst>
        </p:spPr>
      </p:sp>
      <p:pic>
        <p:nvPicPr>
          <p:cNvPr id="5" name="Image 0" descr="/home/claude/build/assets/logo.png">
            <a:extLst>
              <a:ext uri="{FF2B5EF4-FFF2-40B4-BE49-F238E27FC236}">
                <a16:creationId xmlns:a16="http://schemas.microsoft.com/office/drawing/2014/main" id="{1BDA0B4A-D243-B63F-B85C-2D740319518E}"/>
              </a:ext>
            </a:extLst>
          </p:cNvPr>
          <p:cNvPicPr>
            <a:picLocks noChangeAspect="1"/>
          </p:cNvPicPr>
          <p:nvPr userDrawn="1"/>
        </p:nvPicPr>
        <p:blipFill>
          <a:blip r:embed="rId2"/>
          <a:stretch>
            <a:fillRect/>
          </a:stretch>
        </p:blipFill>
        <p:spPr>
          <a:xfrm>
            <a:off x="10431105" y="334911"/>
            <a:ext cx="1410370" cy="440741"/>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sv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526554"/>
            <a:ext cx="6296860" cy="1063228"/>
          </a:xfrm>
          <a:prstGeom prst="rect">
            <a:avLst/>
          </a:prstGeom>
          <a:noFill/>
          <a:ln/>
        </p:spPr>
        <p:txBody>
          <a:bodyPr wrap="square" lIns="0" tIns="0" rIns="0" bIns="0" rtlCol="0" anchor="t">
            <a:normAutofit/>
          </a:bodyPr>
          <a:lstStyle/>
          <a:p>
            <a:pPr marL="0" indent="0" algn="l">
              <a:lnSpc>
                <a:spcPct val="104000"/>
              </a:lnSpc>
              <a:buNone/>
            </a:pPr>
            <a:r>
              <a:rPr lang="en-US" sz="3300" dirty="0">
                <a:solidFill>
                  <a:srgbClr val="3257B8"/>
                </a:solidFill>
                <a:latin typeface="Roboto Slab" pitchFamily="34" charset="0"/>
                <a:ea typeface="Roboto Slab" pitchFamily="34" charset="-122"/>
                <a:cs typeface="Roboto Slab" pitchFamily="34" charset="-120"/>
              </a:rPr>
              <a:t>BANK ACCOUNT MANAGEMENT SYSTEM</a:t>
            </a:r>
            <a:endParaRPr lang="en-US" sz="3300" dirty="0"/>
          </a:p>
        </p:txBody>
      </p:sp>
      <p:sp>
        <p:nvSpPr>
          <p:cNvPr id="4" name="Text 1"/>
          <p:cNvSpPr/>
          <p:nvPr/>
        </p:nvSpPr>
        <p:spPr>
          <a:xfrm>
            <a:off x="5233360" y="1651000"/>
            <a:ext cx="6296860" cy="425252"/>
          </a:xfrm>
          <a:prstGeom prst="rect">
            <a:avLst/>
          </a:prstGeom>
          <a:noFill/>
          <a:ln/>
        </p:spPr>
        <p:txBody>
          <a:bodyPr wrap="none" lIns="0" tIns="0" rIns="0" bIns="0" rtlCol="0" anchor="t"/>
          <a:lstStyle/>
          <a:p>
            <a:pPr marL="0" indent="0" algn="l">
              <a:lnSpc>
                <a:spcPct val="104000"/>
              </a:lnSpc>
              <a:buNone/>
            </a:pPr>
            <a:r>
              <a:rPr lang="en-US" sz="2650" dirty="0">
                <a:solidFill>
                  <a:srgbClr val="3257B8"/>
                </a:solidFill>
                <a:latin typeface="Roboto Slab" pitchFamily="34" charset="0"/>
                <a:ea typeface="Roboto Slab" pitchFamily="34" charset="-122"/>
                <a:cs typeface="Roboto Slab" pitchFamily="34" charset="-120"/>
              </a:rPr>
              <a:t>DBMS Project – Review I</a:t>
            </a:r>
            <a:endParaRPr lang="en-US" sz="2650" dirty="0"/>
          </a:p>
        </p:txBody>
      </p:sp>
      <p:sp>
        <p:nvSpPr>
          <p:cNvPr id="5" name="Text 2"/>
          <p:cNvSpPr/>
          <p:nvPr/>
        </p:nvSpPr>
        <p:spPr>
          <a:xfrm>
            <a:off x="5233360" y="2305844"/>
            <a:ext cx="6906444" cy="258564"/>
          </a:xfrm>
          <a:prstGeom prst="rect">
            <a:avLst/>
          </a:prstGeom>
          <a:noFill/>
          <a:ln/>
        </p:spPr>
        <p:txBody>
          <a:bodyPr wrap="none" lIns="0" tIns="0" rIns="0" bIns="0" rtlCol="0" anchor="t"/>
          <a:lstStyle/>
          <a:p>
            <a:pPr marL="0" indent="0" algn="l">
              <a:lnSpc>
                <a:spcPct val="127000"/>
              </a:lnSpc>
              <a:buNone/>
            </a:pPr>
            <a:r>
              <a:rPr lang="en-US" sz="1300" dirty="0">
                <a:solidFill>
                  <a:srgbClr val="15213F"/>
                </a:solidFill>
                <a:latin typeface="Roboto" pitchFamily="34" charset="0"/>
                <a:ea typeface="Roboto" pitchFamily="34" charset="-122"/>
                <a:cs typeface="Roboto" pitchFamily="34" charset="-120"/>
              </a:rPr>
              <a:t>Batch: 2025–2029 | II B.Tech – III Semester | AIML</a:t>
            </a:r>
            <a:endParaRPr lang="en-US" sz="1300" dirty="0"/>
          </a:p>
        </p:txBody>
      </p:sp>
      <p:sp>
        <p:nvSpPr>
          <p:cNvPr id="6" name="Text 3"/>
          <p:cNvSpPr/>
          <p:nvPr/>
        </p:nvSpPr>
        <p:spPr>
          <a:xfrm>
            <a:off x="5233360" y="2794000"/>
            <a:ext cx="6296860" cy="425252"/>
          </a:xfrm>
          <a:prstGeom prst="rect">
            <a:avLst/>
          </a:prstGeom>
          <a:noFill/>
          <a:ln/>
        </p:spPr>
        <p:txBody>
          <a:bodyPr wrap="none" lIns="0" tIns="0" rIns="0" bIns="0" rtlCol="0" anchor="t"/>
          <a:lstStyle/>
          <a:p>
            <a:pPr marL="0" indent="0" algn="l">
              <a:lnSpc>
                <a:spcPct val="104000"/>
              </a:lnSpc>
              <a:buNone/>
            </a:pPr>
            <a:r>
              <a:rPr lang="en-US" sz="2650" dirty="0">
                <a:solidFill>
                  <a:srgbClr val="3257B8"/>
                </a:solidFill>
                <a:latin typeface="Roboto Slab" pitchFamily="34" charset="0"/>
                <a:ea typeface="Roboto Slab" pitchFamily="34" charset="-122"/>
                <a:cs typeface="Roboto Slab" pitchFamily="34" charset="-120"/>
              </a:rPr>
              <a:t>Team Members</a:t>
            </a:r>
            <a:endParaRPr lang="en-US" sz="2650" dirty="0"/>
          </a:p>
        </p:txBody>
      </p:sp>
      <p:sp>
        <p:nvSpPr>
          <p:cNvPr id="7" name="Shape 4"/>
          <p:cNvSpPr/>
          <p:nvPr/>
        </p:nvSpPr>
        <p:spPr>
          <a:xfrm>
            <a:off x="5233360" y="3448844"/>
            <a:ext cx="6296860" cy="605830"/>
          </a:xfrm>
          <a:prstGeom prst="roundRect">
            <a:avLst>
              <a:gd name="adj" fmla="val 4212"/>
            </a:avLst>
          </a:prstGeom>
          <a:solidFill>
            <a:srgbClr val="E9ECF2"/>
          </a:solidFill>
          <a:ln/>
        </p:spPr>
      </p:sp>
      <p:sp>
        <p:nvSpPr>
          <p:cNvPr id="8" name="Text 5"/>
          <p:cNvSpPr/>
          <p:nvPr/>
        </p:nvSpPr>
        <p:spPr>
          <a:xfrm>
            <a:off x="5403417" y="3618905"/>
            <a:ext cx="5956746" cy="265708"/>
          </a:xfrm>
          <a:prstGeom prst="rect">
            <a:avLst/>
          </a:prstGeom>
          <a:noFill/>
          <a:ln/>
        </p:spPr>
        <p:txBody>
          <a:bodyPr wrap="none" lIns="0" tIns="0" rIns="0" bIns="0" rtlCol="0" anchor="t"/>
          <a:lstStyle/>
          <a:p>
            <a:pPr marL="0" indent="0" algn="l">
              <a:lnSpc>
                <a:spcPct val="104000"/>
              </a:lnSpc>
              <a:buNone/>
            </a:pPr>
            <a:r>
              <a:rPr lang="en-US" sz="1650" dirty="0">
                <a:solidFill>
                  <a:srgbClr val="15213F"/>
                </a:solidFill>
                <a:latin typeface="Roboto Slab" pitchFamily="34" charset="0"/>
                <a:ea typeface="Roboto Slab" pitchFamily="34" charset="-122"/>
                <a:cs typeface="Roboto Slab" pitchFamily="34" charset="-120"/>
              </a:rPr>
              <a:t>Y. J. Karthikeya</a:t>
            </a:r>
            <a:endParaRPr lang="en-US" sz="1650" dirty="0"/>
          </a:p>
        </p:txBody>
      </p:sp>
      <p:sp>
        <p:nvSpPr>
          <p:cNvPr id="9" name="Shape 6"/>
          <p:cNvSpPr/>
          <p:nvPr/>
        </p:nvSpPr>
        <p:spPr>
          <a:xfrm>
            <a:off x="5233360" y="4207768"/>
            <a:ext cx="6296860" cy="605830"/>
          </a:xfrm>
          <a:prstGeom prst="roundRect">
            <a:avLst>
              <a:gd name="adj" fmla="val 4212"/>
            </a:avLst>
          </a:prstGeom>
          <a:solidFill>
            <a:srgbClr val="E9ECF2"/>
          </a:solidFill>
          <a:ln/>
        </p:spPr>
        <p:txBody>
          <a:bodyPr/>
          <a:lstStyle/>
          <a:p>
            <a:endParaRPr lang="en-IN" dirty="0"/>
          </a:p>
        </p:txBody>
      </p:sp>
      <p:sp>
        <p:nvSpPr>
          <p:cNvPr id="10" name="Text 7"/>
          <p:cNvSpPr/>
          <p:nvPr/>
        </p:nvSpPr>
        <p:spPr>
          <a:xfrm>
            <a:off x="5403417" y="4377829"/>
            <a:ext cx="5956746" cy="265708"/>
          </a:xfrm>
          <a:prstGeom prst="rect">
            <a:avLst/>
          </a:prstGeom>
          <a:noFill/>
          <a:ln/>
        </p:spPr>
        <p:txBody>
          <a:bodyPr wrap="none" lIns="0" tIns="0" rIns="0" bIns="0" rtlCol="0" anchor="t"/>
          <a:lstStyle/>
          <a:p>
            <a:pPr marL="0" indent="0" algn="l">
              <a:lnSpc>
                <a:spcPct val="104000"/>
              </a:lnSpc>
              <a:buNone/>
            </a:pPr>
            <a:r>
              <a:rPr lang="en-US" sz="1650" dirty="0">
                <a:solidFill>
                  <a:srgbClr val="15213F"/>
                </a:solidFill>
                <a:latin typeface="Roboto Slab" pitchFamily="34" charset="0"/>
                <a:ea typeface="Roboto Slab" pitchFamily="34" charset="-122"/>
                <a:cs typeface="Roboto Slab" pitchFamily="34" charset="-120"/>
              </a:rPr>
              <a:t>A. Prasanna Kumar</a:t>
            </a:r>
            <a:endParaRPr lang="en-US" sz="1650" dirty="0"/>
          </a:p>
        </p:txBody>
      </p:sp>
      <p:sp>
        <p:nvSpPr>
          <p:cNvPr id="11" name="Shape 8"/>
          <p:cNvSpPr/>
          <p:nvPr/>
        </p:nvSpPr>
        <p:spPr>
          <a:xfrm>
            <a:off x="5233360" y="4966692"/>
            <a:ext cx="6296860" cy="605830"/>
          </a:xfrm>
          <a:prstGeom prst="roundRect">
            <a:avLst>
              <a:gd name="adj" fmla="val 4212"/>
            </a:avLst>
          </a:prstGeom>
          <a:solidFill>
            <a:srgbClr val="E9ECF2"/>
          </a:solidFill>
          <a:ln/>
        </p:spPr>
        <p:txBody>
          <a:bodyPr/>
          <a:lstStyle/>
          <a:p>
            <a:endParaRPr lang="en-IN" dirty="0"/>
          </a:p>
        </p:txBody>
      </p:sp>
      <p:sp>
        <p:nvSpPr>
          <p:cNvPr id="12" name="Text 9"/>
          <p:cNvSpPr/>
          <p:nvPr/>
        </p:nvSpPr>
        <p:spPr>
          <a:xfrm>
            <a:off x="5403417" y="5136753"/>
            <a:ext cx="5956746" cy="265708"/>
          </a:xfrm>
          <a:prstGeom prst="rect">
            <a:avLst/>
          </a:prstGeom>
          <a:noFill/>
          <a:ln/>
        </p:spPr>
        <p:txBody>
          <a:bodyPr wrap="none" lIns="0" tIns="0" rIns="0" bIns="0" rtlCol="0" anchor="t"/>
          <a:lstStyle/>
          <a:p>
            <a:pPr marL="0" indent="0" algn="l">
              <a:lnSpc>
                <a:spcPct val="104000"/>
              </a:lnSpc>
              <a:buNone/>
            </a:pPr>
            <a:r>
              <a:rPr lang="en-US" sz="1650" dirty="0">
                <a:solidFill>
                  <a:srgbClr val="15213F"/>
                </a:solidFill>
                <a:latin typeface="Roboto Slab" pitchFamily="34" charset="0"/>
                <a:ea typeface="Roboto Slab" pitchFamily="34" charset="-122"/>
                <a:cs typeface="Roboto Slab" pitchFamily="34" charset="-120"/>
              </a:rPr>
              <a:t>K. Prasanna Kumar</a:t>
            </a:r>
            <a:endParaRPr lang="en-US" sz="1650" dirty="0"/>
          </a:p>
        </p:txBody>
      </p:sp>
      <p:sp>
        <p:nvSpPr>
          <p:cNvPr id="13" name="Shape 10"/>
          <p:cNvSpPr/>
          <p:nvPr/>
        </p:nvSpPr>
        <p:spPr>
          <a:xfrm>
            <a:off x="5233360" y="5725616"/>
            <a:ext cx="6296860" cy="605830"/>
          </a:xfrm>
          <a:prstGeom prst="roundRect">
            <a:avLst>
              <a:gd name="adj" fmla="val 4212"/>
            </a:avLst>
          </a:prstGeom>
          <a:solidFill>
            <a:srgbClr val="E9ECF2"/>
          </a:solidFill>
          <a:ln/>
        </p:spPr>
      </p:sp>
      <p:sp>
        <p:nvSpPr>
          <p:cNvPr id="14" name="Text 11"/>
          <p:cNvSpPr/>
          <p:nvPr/>
        </p:nvSpPr>
        <p:spPr>
          <a:xfrm>
            <a:off x="5403417" y="5895677"/>
            <a:ext cx="5956746" cy="265708"/>
          </a:xfrm>
          <a:prstGeom prst="rect">
            <a:avLst/>
          </a:prstGeom>
          <a:noFill/>
          <a:ln/>
        </p:spPr>
        <p:txBody>
          <a:bodyPr wrap="none" lIns="0" tIns="0" rIns="0" bIns="0" rtlCol="0" anchor="t"/>
          <a:lstStyle/>
          <a:p>
            <a:pPr marL="0" indent="0" algn="l">
              <a:lnSpc>
                <a:spcPct val="104000"/>
              </a:lnSpc>
              <a:buNone/>
            </a:pPr>
            <a:r>
              <a:rPr lang="en-US" sz="1650" dirty="0">
                <a:solidFill>
                  <a:srgbClr val="15213F"/>
                </a:solidFill>
                <a:latin typeface="Roboto Slab" pitchFamily="34" charset="0"/>
                <a:ea typeface="Roboto Slab" pitchFamily="34" charset="-122"/>
                <a:cs typeface="Roboto Slab" pitchFamily="34" charset="-120"/>
              </a:rPr>
              <a:t>K. Murali Krishna</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30349"/>
            <a:ext cx="10868745" cy="413445"/>
          </a:xfrm>
          <a:prstGeom prst="rect">
            <a:avLst/>
          </a:prstGeom>
          <a:noFill/>
          <a:ln/>
        </p:spPr>
        <p:txBody>
          <a:bodyPr wrap="none" lIns="0" tIns="0" rIns="0" bIns="0" rtlCol="0" anchor="t"/>
          <a:lstStyle/>
          <a:p>
            <a:pPr marL="0" indent="0" algn="l">
              <a:lnSpc>
                <a:spcPct val="104000"/>
              </a:lnSpc>
              <a:buNone/>
            </a:pPr>
            <a:r>
              <a:rPr lang="en-US" sz="2600" dirty="0">
                <a:solidFill>
                  <a:srgbClr val="3257B8"/>
                </a:solidFill>
                <a:latin typeface="Roboto Slab" pitchFamily="34" charset="0"/>
                <a:ea typeface="Roboto Slab" pitchFamily="34" charset="-122"/>
                <a:cs typeface="Roboto Slab" pitchFamily="34" charset="-120"/>
              </a:rPr>
              <a:t>Introduction</a:t>
            </a:r>
            <a:endParaRPr lang="en-US" sz="2600" dirty="0"/>
          </a:p>
        </p:txBody>
      </p:sp>
      <p:sp>
        <p:nvSpPr>
          <p:cNvPr id="3" name="Text 1"/>
          <p:cNvSpPr/>
          <p:nvPr/>
        </p:nvSpPr>
        <p:spPr>
          <a:xfrm>
            <a:off x="793730" y="1329035"/>
            <a:ext cx="10868745" cy="816967"/>
          </a:xfrm>
          <a:prstGeom prst="rect">
            <a:avLst/>
          </a:prstGeom>
          <a:noFill/>
          <a:ln/>
        </p:spPr>
        <p:txBody>
          <a:bodyPr wrap="square" lIns="0" tIns="0" rIns="0" bIns="0" rtlCol="0" anchor="t">
            <a:normAutofit/>
          </a:bodyPr>
          <a:lstStyle/>
          <a:p>
            <a:pPr marL="203200" indent="-203200" algn="l">
              <a:lnSpc>
                <a:spcPct val="113000"/>
              </a:lnSpc>
              <a:buSzPct val="100000"/>
              <a:buChar char="•"/>
            </a:pPr>
            <a:r>
              <a:rPr lang="en-US" sz="1000" dirty="0">
                <a:solidFill>
                  <a:srgbClr val="15213F"/>
                </a:solidFill>
                <a:latin typeface="Roboto" pitchFamily="34" charset="0"/>
                <a:ea typeface="Roboto" pitchFamily="34" charset="-122"/>
                <a:cs typeface="Roboto" pitchFamily="34" charset="-120"/>
              </a:rPr>
              <a:t>Introduction</a:t>
            </a:r>
            <a:endParaRPr lang="en-US" sz="1000" dirty="0"/>
          </a:p>
          <a:p>
            <a:pPr marL="203200" indent="-203200" algn="l">
              <a:lnSpc>
                <a:spcPct val="113000"/>
              </a:lnSpc>
              <a:buSzPct val="100000"/>
              <a:buChar char="•"/>
            </a:pPr>
            <a:r>
              <a:rPr lang="en-US" sz="1000" dirty="0">
                <a:solidFill>
                  <a:srgbClr val="15213F"/>
                </a:solidFill>
                <a:latin typeface="Roboto" pitchFamily="34" charset="0"/>
                <a:ea typeface="Roboto" pitchFamily="34" charset="-122"/>
                <a:cs typeface="Roboto" pitchFamily="34" charset="-120"/>
              </a:rPr>
              <a:t>Banking systems manage large amounts of customer and transaction data.</a:t>
            </a:r>
            <a:endParaRPr lang="en-US" sz="1000" dirty="0"/>
          </a:p>
          <a:p>
            <a:pPr marL="203200" indent="-203200" algn="l">
              <a:lnSpc>
                <a:spcPct val="113000"/>
              </a:lnSpc>
              <a:buSzPct val="100000"/>
              <a:buChar char="•"/>
            </a:pPr>
            <a:r>
              <a:rPr lang="en-US" sz="1000" dirty="0">
                <a:solidFill>
                  <a:srgbClr val="15213F"/>
                </a:solidFill>
                <a:latin typeface="Roboto" pitchFamily="34" charset="0"/>
                <a:ea typeface="Roboto" pitchFamily="34" charset="-122"/>
                <a:cs typeface="Roboto" pitchFamily="34" charset="-120"/>
              </a:rPr>
              <a:t>Managing this information manually can be difficult and time-consuming.</a:t>
            </a:r>
            <a:endParaRPr lang="en-US" sz="1000" dirty="0"/>
          </a:p>
          <a:p>
            <a:pPr marL="203200" indent="-203200" algn="l">
              <a:lnSpc>
                <a:spcPct val="113000"/>
              </a:lnSpc>
              <a:buSzPct val="100000"/>
              <a:buChar char="•"/>
            </a:pPr>
            <a:r>
              <a:rPr lang="en-US" sz="1000" dirty="0">
                <a:solidFill>
                  <a:srgbClr val="15213F"/>
                </a:solidFill>
                <a:latin typeface="Roboto" pitchFamily="34" charset="0"/>
                <a:ea typeface="Roboto" pitchFamily="34" charset="-122"/>
                <a:cs typeface="Roboto" pitchFamily="34" charset="-120"/>
              </a:rPr>
              <a:t>A database helps store all banking information in an organized way.</a:t>
            </a:r>
            <a:endParaRPr lang="en-US" sz="1000" dirty="0"/>
          </a:p>
        </p:txBody>
      </p:sp>
      <p:sp>
        <p:nvSpPr>
          <p:cNvPr id="4" name="Text 2"/>
          <p:cNvSpPr/>
          <p:nvPr/>
        </p:nvSpPr>
        <p:spPr>
          <a:xfrm>
            <a:off x="661475" y="2250182"/>
            <a:ext cx="11478330" cy="179983"/>
          </a:xfrm>
          <a:prstGeom prst="rect">
            <a:avLst/>
          </a:prstGeom>
          <a:noFill/>
          <a:ln/>
        </p:spPr>
        <p:txBody>
          <a:bodyPr wrap="none" lIns="0" tIns="0" rIns="0" bIns="0" rtlCol="0" anchor="t"/>
          <a:lstStyle/>
          <a:p>
            <a:pPr marL="0" indent="0" algn="l">
              <a:lnSpc>
                <a:spcPct val="113000"/>
              </a:lnSpc>
              <a:buNone/>
            </a:pPr>
            <a:r>
              <a:rPr lang="en-US" sz="1000" dirty="0">
                <a:solidFill>
                  <a:srgbClr val="15213F"/>
                </a:solidFill>
                <a:latin typeface="Roboto" pitchFamily="34" charset="0"/>
                <a:ea typeface="Roboto" pitchFamily="34" charset="-122"/>
                <a:cs typeface="Roboto" pitchFamily="34" charset="-120"/>
              </a:rPr>
              <a:t>Our project designs a database for managing:</a:t>
            </a:r>
            <a:endParaRPr lang="en-US" sz="1000" dirty="0"/>
          </a:p>
        </p:txBody>
      </p:sp>
      <p:sp>
        <p:nvSpPr>
          <p:cNvPr id="5" name="Shape 3"/>
          <p:cNvSpPr/>
          <p:nvPr/>
        </p:nvSpPr>
        <p:spPr>
          <a:xfrm>
            <a:off x="661475" y="2534345"/>
            <a:ext cx="5388039" cy="960636"/>
          </a:xfrm>
          <a:prstGeom prst="roundRect">
            <a:avLst>
              <a:gd name="adj" fmla="val 2066"/>
            </a:avLst>
          </a:prstGeom>
          <a:solidFill>
            <a:srgbClr val="E9ECF2"/>
          </a:solidFill>
          <a:ln/>
        </p:spPr>
      </p:sp>
      <p:sp>
        <p:nvSpPr>
          <p:cNvPr id="6" name="Shape 4"/>
          <p:cNvSpPr/>
          <p:nvPr/>
        </p:nvSpPr>
        <p:spPr>
          <a:xfrm>
            <a:off x="793730" y="2666603"/>
            <a:ext cx="396865" cy="396875"/>
          </a:xfrm>
          <a:prstGeom prst="ellipse">
            <a:avLst/>
          </a:prstGeom>
          <a:solidFill>
            <a:srgbClr val="476FD6"/>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2868" y="2775744"/>
            <a:ext cx="178589" cy="178594"/>
          </a:xfrm>
          <a:prstGeom prst="rect">
            <a:avLst/>
          </a:prstGeom>
        </p:spPr>
      </p:pic>
      <p:sp>
        <p:nvSpPr>
          <p:cNvPr id="8" name="Text 5"/>
          <p:cNvSpPr/>
          <p:nvPr/>
        </p:nvSpPr>
        <p:spPr>
          <a:xfrm>
            <a:off x="793730" y="3156049"/>
            <a:ext cx="5123528" cy="206673"/>
          </a:xfrm>
          <a:prstGeom prst="rect">
            <a:avLst/>
          </a:prstGeom>
          <a:noFill/>
          <a:ln/>
        </p:spPr>
        <p:txBody>
          <a:bodyPr wrap="none" lIns="0" tIns="0" rIns="0" bIns="0" rtlCol="0" anchor="t"/>
          <a:lstStyle/>
          <a:p>
            <a:pPr marL="0" indent="0" algn="l">
              <a:lnSpc>
                <a:spcPct val="104000"/>
              </a:lnSpc>
              <a:buNone/>
            </a:pPr>
            <a:r>
              <a:rPr lang="en-US" sz="1300" dirty="0">
                <a:solidFill>
                  <a:srgbClr val="15213F"/>
                </a:solidFill>
                <a:latin typeface="Roboto Slab" pitchFamily="34" charset="0"/>
                <a:ea typeface="Roboto Slab" pitchFamily="34" charset="-122"/>
                <a:cs typeface="Roboto Slab" pitchFamily="34" charset="-120"/>
              </a:rPr>
              <a:t>Customers</a:t>
            </a:r>
            <a:endParaRPr lang="en-US" sz="1300" dirty="0"/>
          </a:p>
        </p:txBody>
      </p:sp>
      <p:sp>
        <p:nvSpPr>
          <p:cNvPr id="9" name="Shape 6"/>
          <p:cNvSpPr/>
          <p:nvPr/>
        </p:nvSpPr>
        <p:spPr>
          <a:xfrm>
            <a:off x="6142082" y="2534345"/>
            <a:ext cx="5388138" cy="960636"/>
          </a:xfrm>
          <a:prstGeom prst="roundRect">
            <a:avLst>
              <a:gd name="adj" fmla="val 2066"/>
            </a:avLst>
          </a:prstGeom>
          <a:solidFill>
            <a:srgbClr val="E9ECF2"/>
          </a:solidFill>
          <a:ln/>
        </p:spPr>
      </p:sp>
      <p:sp>
        <p:nvSpPr>
          <p:cNvPr id="10" name="Shape 7"/>
          <p:cNvSpPr/>
          <p:nvPr/>
        </p:nvSpPr>
        <p:spPr>
          <a:xfrm>
            <a:off x="6274338" y="2666603"/>
            <a:ext cx="396865" cy="396875"/>
          </a:xfrm>
          <a:prstGeom prst="ellipse">
            <a:avLst/>
          </a:prstGeom>
          <a:solidFill>
            <a:srgbClr val="476FD6"/>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3475" y="2775744"/>
            <a:ext cx="178589" cy="178594"/>
          </a:xfrm>
          <a:prstGeom prst="rect">
            <a:avLst/>
          </a:prstGeom>
        </p:spPr>
      </p:pic>
      <p:sp>
        <p:nvSpPr>
          <p:cNvPr id="12" name="Text 8"/>
          <p:cNvSpPr/>
          <p:nvPr/>
        </p:nvSpPr>
        <p:spPr>
          <a:xfrm>
            <a:off x="6274338" y="3156049"/>
            <a:ext cx="5123627" cy="206673"/>
          </a:xfrm>
          <a:prstGeom prst="rect">
            <a:avLst/>
          </a:prstGeom>
          <a:noFill/>
          <a:ln/>
        </p:spPr>
        <p:txBody>
          <a:bodyPr wrap="none" lIns="0" tIns="0" rIns="0" bIns="0" rtlCol="0" anchor="t"/>
          <a:lstStyle/>
          <a:p>
            <a:pPr marL="0" indent="0" algn="l">
              <a:lnSpc>
                <a:spcPct val="104000"/>
              </a:lnSpc>
              <a:buNone/>
            </a:pPr>
            <a:r>
              <a:rPr lang="en-US" sz="1300" dirty="0">
                <a:solidFill>
                  <a:srgbClr val="15213F"/>
                </a:solidFill>
                <a:latin typeface="Roboto Slab" pitchFamily="34" charset="0"/>
                <a:ea typeface="Roboto Slab" pitchFamily="34" charset="-122"/>
                <a:cs typeface="Roboto Slab" pitchFamily="34" charset="-120"/>
              </a:rPr>
              <a:t>Accounts</a:t>
            </a:r>
            <a:endParaRPr lang="en-US" sz="1300" dirty="0"/>
          </a:p>
        </p:txBody>
      </p:sp>
      <p:sp>
        <p:nvSpPr>
          <p:cNvPr id="13" name="Shape 9"/>
          <p:cNvSpPr/>
          <p:nvPr/>
        </p:nvSpPr>
        <p:spPr>
          <a:xfrm>
            <a:off x="661475" y="3587552"/>
            <a:ext cx="5388039" cy="960636"/>
          </a:xfrm>
          <a:prstGeom prst="roundRect">
            <a:avLst>
              <a:gd name="adj" fmla="val 2066"/>
            </a:avLst>
          </a:prstGeom>
          <a:solidFill>
            <a:srgbClr val="E9ECF2"/>
          </a:solidFill>
          <a:ln/>
        </p:spPr>
      </p:sp>
      <p:sp>
        <p:nvSpPr>
          <p:cNvPr id="14" name="Shape 10"/>
          <p:cNvSpPr/>
          <p:nvPr/>
        </p:nvSpPr>
        <p:spPr>
          <a:xfrm>
            <a:off x="793730" y="3719810"/>
            <a:ext cx="396865" cy="396875"/>
          </a:xfrm>
          <a:prstGeom prst="ellipse">
            <a:avLst/>
          </a:prstGeom>
          <a:solidFill>
            <a:srgbClr val="476FD6"/>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02868" y="3828951"/>
            <a:ext cx="178589" cy="178594"/>
          </a:xfrm>
          <a:prstGeom prst="rect">
            <a:avLst/>
          </a:prstGeom>
        </p:spPr>
      </p:pic>
      <p:sp>
        <p:nvSpPr>
          <p:cNvPr id="16" name="Text 11"/>
          <p:cNvSpPr/>
          <p:nvPr/>
        </p:nvSpPr>
        <p:spPr>
          <a:xfrm>
            <a:off x="793730" y="4209256"/>
            <a:ext cx="5123528" cy="206673"/>
          </a:xfrm>
          <a:prstGeom prst="rect">
            <a:avLst/>
          </a:prstGeom>
          <a:noFill/>
          <a:ln/>
        </p:spPr>
        <p:txBody>
          <a:bodyPr wrap="none" lIns="0" tIns="0" rIns="0" bIns="0" rtlCol="0" anchor="t"/>
          <a:lstStyle/>
          <a:p>
            <a:pPr marL="0" indent="0" algn="l">
              <a:lnSpc>
                <a:spcPct val="104000"/>
              </a:lnSpc>
              <a:buNone/>
            </a:pPr>
            <a:r>
              <a:rPr lang="en-US" sz="1300" dirty="0">
                <a:solidFill>
                  <a:srgbClr val="15213F"/>
                </a:solidFill>
                <a:latin typeface="Roboto Slab" pitchFamily="34" charset="0"/>
                <a:ea typeface="Roboto Slab" pitchFamily="34" charset="-122"/>
                <a:cs typeface="Roboto Slab" pitchFamily="34" charset="-120"/>
              </a:rPr>
              <a:t>Transactions</a:t>
            </a:r>
            <a:endParaRPr lang="en-US" sz="1300" dirty="0"/>
          </a:p>
        </p:txBody>
      </p:sp>
      <p:sp>
        <p:nvSpPr>
          <p:cNvPr id="17" name="Shape 12"/>
          <p:cNvSpPr/>
          <p:nvPr/>
        </p:nvSpPr>
        <p:spPr>
          <a:xfrm>
            <a:off x="6142082" y="3587552"/>
            <a:ext cx="5388138" cy="960636"/>
          </a:xfrm>
          <a:prstGeom prst="roundRect">
            <a:avLst>
              <a:gd name="adj" fmla="val 2066"/>
            </a:avLst>
          </a:prstGeom>
          <a:solidFill>
            <a:srgbClr val="E9ECF2"/>
          </a:solidFill>
          <a:ln/>
        </p:spPr>
      </p:sp>
      <p:sp>
        <p:nvSpPr>
          <p:cNvPr id="18" name="Shape 13"/>
          <p:cNvSpPr/>
          <p:nvPr/>
        </p:nvSpPr>
        <p:spPr>
          <a:xfrm>
            <a:off x="6274338" y="3719810"/>
            <a:ext cx="396865" cy="396875"/>
          </a:xfrm>
          <a:prstGeom prst="ellipse">
            <a:avLst/>
          </a:prstGeom>
          <a:solidFill>
            <a:srgbClr val="476FD6"/>
          </a:solidFill>
          <a:ln/>
        </p:spPr>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83475" y="3828951"/>
            <a:ext cx="178589" cy="178594"/>
          </a:xfrm>
          <a:prstGeom prst="rect">
            <a:avLst/>
          </a:prstGeom>
        </p:spPr>
      </p:pic>
      <p:sp>
        <p:nvSpPr>
          <p:cNvPr id="20" name="Text 14"/>
          <p:cNvSpPr/>
          <p:nvPr/>
        </p:nvSpPr>
        <p:spPr>
          <a:xfrm>
            <a:off x="6274338" y="4209256"/>
            <a:ext cx="5123627" cy="206673"/>
          </a:xfrm>
          <a:prstGeom prst="rect">
            <a:avLst/>
          </a:prstGeom>
          <a:noFill/>
          <a:ln/>
        </p:spPr>
        <p:txBody>
          <a:bodyPr wrap="none" lIns="0" tIns="0" rIns="0" bIns="0" rtlCol="0" anchor="t"/>
          <a:lstStyle/>
          <a:p>
            <a:pPr marL="0" indent="0" algn="l">
              <a:lnSpc>
                <a:spcPct val="104000"/>
              </a:lnSpc>
              <a:buNone/>
            </a:pPr>
            <a:r>
              <a:rPr lang="en-US" sz="1300" dirty="0">
                <a:solidFill>
                  <a:srgbClr val="15213F"/>
                </a:solidFill>
                <a:latin typeface="Roboto Slab" pitchFamily="34" charset="0"/>
                <a:ea typeface="Roboto Slab" pitchFamily="34" charset="-122"/>
                <a:cs typeface="Roboto Slab" pitchFamily="34" charset="-120"/>
              </a:rPr>
              <a:t>Branches</a:t>
            </a:r>
            <a:endParaRPr lang="en-US" sz="1300" dirty="0"/>
          </a:p>
        </p:txBody>
      </p:sp>
      <p:sp>
        <p:nvSpPr>
          <p:cNvPr id="21" name="Shape 15"/>
          <p:cNvSpPr/>
          <p:nvPr/>
        </p:nvSpPr>
        <p:spPr>
          <a:xfrm>
            <a:off x="661475" y="4640759"/>
            <a:ext cx="5388039" cy="960636"/>
          </a:xfrm>
          <a:prstGeom prst="roundRect">
            <a:avLst>
              <a:gd name="adj" fmla="val 2066"/>
            </a:avLst>
          </a:prstGeom>
          <a:solidFill>
            <a:srgbClr val="E9ECF2"/>
          </a:solidFill>
          <a:ln/>
        </p:spPr>
      </p:sp>
      <p:sp>
        <p:nvSpPr>
          <p:cNvPr id="22" name="Shape 16"/>
          <p:cNvSpPr/>
          <p:nvPr/>
        </p:nvSpPr>
        <p:spPr>
          <a:xfrm>
            <a:off x="793730" y="4773017"/>
            <a:ext cx="396865" cy="396875"/>
          </a:xfrm>
          <a:prstGeom prst="ellipse">
            <a:avLst/>
          </a:prstGeom>
          <a:solidFill>
            <a:srgbClr val="476FD6"/>
          </a:solidFill>
          <a:ln/>
        </p:spPr>
      </p:sp>
      <p:pic>
        <p:nvPicPr>
          <p:cNvPr id="2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2868" y="4882158"/>
            <a:ext cx="178589" cy="178594"/>
          </a:xfrm>
          <a:prstGeom prst="rect">
            <a:avLst/>
          </a:prstGeom>
        </p:spPr>
      </p:pic>
      <p:sp>
        <p:nvSpPr>
          <p:cNvPr id="24" name="Text 17"/>
          <p:cNvSpPr/>
          <p:nvPr/>
        </p:nvSpPr>
        <p:spPr>
          <a:xfrm>
            <a:off x="793730" y="5262463"/>
            <a:ext cx="5123528" cy="206673"/>
          </a:xfrm>
          <a:prstGeom prst="rect">
            <a:avLst/>
          </a:prstGeom>
          <a:noFill/>
          <a:ln/>
        </p:spPr>
        <p:txBody>
          <a:bodyPr wrap="none" lIns="0" tIns="0" rIns="0" bIns="0" rtlCol="0" anchor="t"/>
          <a:lstStyle/>
          <a:p>
            <a:pPr marL="0" indent="0" algn="l">
              <a:lnSpc>
                <a:spcPct val="104000"/>
              </a:lnSpc>
              <a:buNone/>
            </a:pPr>
            <a:r>
              <a:rPr lang="en-US" sz="1300" dirty="0">
                <a:solidFill>
                  <a:srgbClr val="15213F"/>
                </a:solidFill>
                <a:latin typeface="Roboto Slab" pitchFamily="34" charset="0"/>
                <a:ea typeface="Roboto Slab" pitchFamily="34" charset="-122"/>
                <a:cs typeface="Roboto Slab" pitchFamily="34" charset="-120"/>
              </a:rPr>
              <a:t>Employees</a:t>
            </a:r>
            <a:endParaRPr lang="en-US" sz="1300" dirty="0"/>
          </a:p>
        </p:txBody>
      </p:sp>
      <p:sp>
        <p:nvSpPr>
          <p:cNvPr id="25" name="Shape 18"/>
          <p:cNvSpPr/>
          <p:nvPr/>
        </p:nvSpPr>
        <p:spPr>
          <a:xfrm>
            <a:off x="6142082" y="4640759"/>
            <a:ext cx="5388138" cy="960636"/>
          </a:xfrm>
          <a:prstGeom prst="roundRect">
            <a:avLst>
              <a:gd name="adj" fmla="val 2066"/>
            </a:avLst>
          </a:prstGeom>
          <a:solidFill>
            <a:srgbClr val="E9ECF2"/>
          </a:solidFill>
          <a:ln/>
        </p:spPr>
      </p:sp>
      <p:sp>
        <p:nvSpPr>
          <p:cNvPr id="26" name="Shape 19"/>
          <p:cNvSpPr/>
          <p:nvPr/>
        </p:nvSpPr>
        <p:spPr>
          <a:xfrm>
            <a:off x="6274338" y="4773017"/>
            <a:ext cx="396865" cy="396875"/>
          </a:xfrm>
          <a:prstGeom prst="ellipse">
            <a:avLst/>
          </a:prstGeom>
          <a:solidFill>
            <a:srgbClr val="476FD6"/>
          </a:solidFill>
          <a:ln/>
        </p:spPr>
      </p:sp>
      <p:pic>
        <p:nvPicPr>
          <p:cNvPr id="27"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83475" y="4882158"/>
            <a:ext cx="178589" cy="178594"/>
          </a:xfrm>
          <a:prstGeom prst="rect">
            <a:avLst/>
          </a:prstGeom>
        </p:spPr>
      </p:pic>
      <p:sp>
        <p:nvSpPr>
          <p:cNvPr id="28" name="Text 20"/>
          <p:cNvSpPr/>
          <p:nvPr/>
        </p:nvSpPr>
        <p:spPr>
          <a:xfrm>
            <a:off x="6274338" y="5262463"/>
            <a:ext cx="5123627" cy="206673"/>
          </a:xfrm>
          <a:prstGeom prst="rect">
            <a:avLst/>
          </a:prstGeom>
          <a:noFill/>
          <a:ln/>
        </p:spPr>
        <p:txBody>
          <a:bodyPr wrap="none" lIns="0" tIns="0" rIns="0" bIns="0" rtlCol="0" anchor="t"/>
          <a:lstStyle/>
          <a:p>
            <a:pPr marL="0" indent="0" algn="l">
              <a:lnSpc>
                <a:spcPct val="104000"/>
              </a:lnSpc>
              <a:buNone/>
            </a:pPr>
            <a:r>
              <a:rPr lang="en-US" sz="1300" dirty="0">
                <a:solidFill>
                  <a:srgbClr val="15213F"/>
                </a:solidFill>
                <a:latin typeface="Roboto Slab" pitchFamily="34" charset="0"/>
                <a:ea typeface="Roboto Slab" pitchFamily="34" charset="-122"/>
                <a:cs typeface="Roboto Slab" pitchFamily="34" charset="-120"/>
              </a:rPr>
              <a:t>Loans</a:t>
            </a:r>
            <a:endParaRPr lang="en-US" sz="1300" dirty="0"/>
          </a:p>
        </p:txBody>
      </p:sp>
      <p:sp>
        <p:nvSpPr>
          <p:cNvPr id="29" name="Shape 21"/>
          <p:cNvSpPr/>
          <p:nvPr/>
        </p:nvSpPr>
        <p:spPr>
          <a:xfrm>
            <a:off x="661475" y="5705574"/>
            <a:ext cx="10868745" cy="421977"/>
          </a:xfrm>
          <a:prstGeom prst="roundRect">
            <a:avLst>
              <a:gd name="adj" fmla="val 4703"/>
            </a:avLst>
          </a:prstGeom>
          <a:solidFill>
            <a:srgbClr val="D7DFF4"/>
          </a:solidFill>
          <a:ln/>
        </p:spPr>
      </p:sp>
      <p:pic>
        <p:nvPicPr>
          <p:cNvPr id="30" name="Image 6" descr="preencoded.png"/>
          <p:cNvPicPr>
            <a:picLocks noChangeAspect="1"/>
          </p:cNvPicPr>
          <p:nvPr/>
        </p:nvPicPr>
        <p:blipFill>
          <a:blip r:embed="rId9"/>
          <a:stretch>
            <a:fillRect/>
          </a:stretch>
        </p:blipFill>
        <p:spPr>
          <a:xfrm>
            <a:off x="793730" y="5842397"/>
            <a:ext cx="165294" cy="132259"/>
          </a:xfrm>
          <a:prstGeom prst="rect">
            <a:avLst/>
          </a:prstGeom>
        </p:spPr>
      </p:pic>
      <p:sp>
        <p:nvSpPr>
          <p:cNvPr id="31" name="Text 22"/>
          <p:cNvSpPr/>
          <p:nvPr/>
        </p:nvSpPr>
        <p:spPr>
          <a:xfrm>
            <a:off x="1091280" y="5831185"/>
            <a:ext cx="10916270" cy="179983"/>
          </a:xfrm>
          <a:prstGeom prst="rect">
            <a:avLst/>
          </a:prstGeom>
          <a:noFill/>
          <a:ln/>
        </p:spPr>
        <p:txBody>
          <a:bodyPr wrap="none" lIns="0" tIns="0" rIns="0" bIns="0" rtlCol="0" anchor="t"/>
          <a:lstStyle/>
          <a:p>
            <a:pPr marL="0" indent="0" algn="l">
              <a:lnSpc>
                <a:spcPct val="113000"/>
              </a:lnSpc>
              <a:buNone/>
            </a:pPr>
            <a:r>
              <a:rPr lang="en-US" sz="1000" b="1" dirty="0">
                <a:solidFill>
                  <a:srgbClr val="000000"/>
                </a:solidFill>
                <a:latin typeface="Roboto Bold" pitchFamily="34" charset="0"/>
                <a:ea typeface="Roboto Bold" pitchFamily="34" charset="-122"/>
                <a:cs typeface="Roboto Bold" pitchFamily="34" charset="-120"/>
              </a:rPr>
              <a:t>Easy explanation:</a:t>
            </a:r>
            <a:r>
              <a:rPr lang="en-US" sz="1000" dirty="0">
                <a:solidFill>
                  <a:srgbClr val="000000"/>
                </a:solidFill>
                <a:latin typeface="Roboto" pitchFamily="34" charset="0"/>
                <a:ea typeface="Roboto" pitchFamily="34" charset="-122"/>
                <a:cs typeface="Roboto" pitchFamily="34" charset="-120"/>
              </a:rPr>
              <a:t> "Our project is a database designed to store and manage important banking information in one organized system."</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468041"/>
            <a:ext cx="10868745" cy="502047"/>
          </a:xfrm>
          <a:prstGeom prst="rect">
            <a:avLst/>
          </a:prstGeom>
          <a:noFill/>
          <a:ln/>
        </p:spPr>
        <p:txBody>
          <a:bodyPr wrap="none" lIns="0" tIns="0" rIns="0" bIns="0" rtlCol="0" anchor="t"/>
          <a:lstStyle/>
          <a:p>
            <a:pPr marL="0" indent="0" algn="l">
              <a:lnSpc>
                <a:spcPct val="104000"/>
              </a:lnSpc>
              <a:buNone/>
            </a:pPr>
            <a:r>
              <a:rPr lang="en-US" sz="3150" dirty="0">
                <a:solidFill>
                  <a:srgbClr val="3257B8"/>
                </a:solidFill>
                <a:latin typeface="Roboto Slab" pitchFamily="34" charset="0"/>
                <a:ea typeface="Roboto Slab" pitchFamily="34" charset="-122"/>
                <a:cs typeface="Roboto Slab" pitchFamily="34" charset="-120"/>
              </a:rPr>
              <a:t>Problem Statement</a:t>
            </a:r>
            <a:endParaRPr lang="en-US" sz="3150" dirty="0"/>
          </a:p>
        </p:txBody>
      </p:sp>
      <p:sp>
        <p:nvSpPr>
          <p:cNvPr id="3" name="Shape 1"/>
          <p:cNvSpPr/>
          <p:nvPr/>
        </p:nvSpPr>
        <p:spPr>
          <a:xfrm>
            <a:off x="545789" y="2041182"/>
            <a:ext cx="5469793" cy="3215084"/>
          </a:xfrm>
          <a:prstGeom prst="roundRect">
            <a:avLst>
              <a:gd name="adj" fmla="val 750"/>
            </a:avLst>
          </a:prstGeom>
          <a:solidFill>
            <a:srgbClr val="3257B8"/>
          </a:solidFill>
          <a:ln/>
        </p:spPr>
      </p:sp>
      <p:sp>
        <p:nvSpPr>
          <p:cNvPr id="4" name="Text 2"/>
          <p:cNvSpPr/>
          <p:nvPr/>
        </p:nvSpPr>
        <p:spPr>
          <a:xfrm>
            <a:off x="706420" y="2311400"/>
            <a:ext cx="5148531" cy="251023"/>
          </a:xfrm>
          <a:prstGeom prst="rect">
            <a:avLst/>
          </a:prstGeom>
          <a:noFill/>
          <a:ln/>
        </p:spPr>
        <p:txBody>
          <a:bodyPr wrap="none" lIns="0" tIns="0" rIns="0" bIns="0" rtlCol="0" anchor="t"/>
          <a:lstStyle/>
          <a:p>
            <a:pPr marL="0" indent="0" algn="l">
              <a:lnSpc>
                <a:spcPct val="104000"/>
              </a:lnSpc>
              <a:buNone/>
            </a:pPr>
            <a:r>
              <a:rPr lang="en-US" sz="1550" dirty="0">
                <a:solidFill>
                  <a:srgbClr val="FFFFFF"/>
                </a:solidFill>
                <a:latin typeface="Roboto Slab" pitchFamily="34" charset="0"/>
                <a:ea typeface="Roboto Slab" pitchFamily="34" charset="-122"/>
                <a:cs typeface="Roboto Slab" pitchFamily="34" charset="-120"/>
              </a:rPr>
              <a:t>Traditional banking systems may involve:</a:t>
            </a:r>
            <a:endParaRPr lang="en-US" sz="1550" dirty="0"/>
          </a:p>
        </p:txBody>
      </p:sp>
      <p:sp>
        <p:nvSpPr>
          <p:cNvPr id="5" name="Text 3"/>
          <p:cNvSpPr/>
          <p:nvPr/>
        </p:nvSpPr>
        <p:spPr>
          <a:xfrm>
            <a:off x="867051" y="2739231"/>
            <a:ext cx="5148531" cy="1379538"/>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dirty="0">
                <a:solidFill>
                  <a:srgbClr val="FFFFFF"/>
                </a:solidFill>
                <a:latin typeface="Roboto" pitchFamily="34" charset="0"/>
                <a:ea typeface="Roboto" pitchFamily="34" charset="-122"/>
                <a:cs typeface="Roboto" pitchFamily="34" charset="-120"/>
              </a:rPr>
              <a:t>Multiple records for customer information</a:t>
            </a:r>
            <a:endParaRPr lang="en-US" sz="1250" dirty="0"/>
          </a:p>
          <a:p>
            <a:pPr marL="254000" indent="-254000" algn="l">
              <a:lnSpc>
                <a:spcPct val="123000"/>
              </a:lnSpc>
              <a:buSzPct val="100000"/>
              <a:buChar char="•"/>
            </a:pPr>
            <a:r>
              <a:rPr lang="en-US" sz="1250" dirty="0">
                <a:solidFill>
                  <a:srgbClr val="FFFFFF"/>
                </a:solidFill>
                <a:latin typeface="Roboto" pitchFamily="34" charset="0"/>
                <a:ea typeface="Roboto" pitchFamily="34" charset="-122"/>
                <a:cs typeface="Roboto" pitchFamily="34" charset="-120"/>
              </a:rPr>
              <a:t>Difficulty in managing account details</a:t>
            </a:r>
            <a:endParaRPr lang="en-US" sz="1250" dirty="0"/>
          </a:p>
          <a:p>
            <a:pPr marL="254000" indent="-254000" algn="l">
              <a:lnSpc>
                <a:spcPct val="123000"/>
              </a:lnSpc>
              <a:buSzPct val="100000"/>
              <a:buChar char="•"/>
            </a:pPr>
            <a:r>
              <a:rPr lang="en-US" sz="1250" dirty="0">
                <a:solidFill>
                  <a:srgbClr val="FFFFFF"/>
                </a:solidFill>
                <a:latin typeface="Roboto" pitchFamily="34" charset="0"/>
                <a:ea typeface="Roboto" pitchFamily="34" charset="-122"/>
                <a:cs typeface="Roboto" pitchFamily="34" charset="-120"/>
              </a:rPr>
              <a:t>Errors in transaction records</a:t>
            </a:r>
            <a:endParaRPr lang="en-US" sz="1250" dirty="0"/>
          </a:p>
          <a:p>
            <a:pPr marL="254000" indent="-254000" algn="l">
              <a:lnSpc>
                <a:spcPct val="123000"/>
              </a:lnSpc>
              <a:buSzPct val="100000"/>
              <a:buChar char="•"/>
            </a:pPr>
            <a:r>
              <a:rPr lang="en-US" sz="1250" dirty="0">
                <a:solidFill>
                  <a:srgbClr val="FFFFFF"/>
                </a:solidFill>
                <a:latin typeface="Roboto" pitchFamily="34" charset="0"/>
                <a:ea typeface="Roboto" pitchFamily="34" charset="-122"/>
                <a:cs typeface="Roboto" pitchFamily="34" charset="-120"/>
              </a:rPr>
              <a:t>Difficulty in finding previous transactions</a:t>
            </a:r>
            <a:endParaRPr lang="en-US" sz="1250" dirty="0"/>
          </a:p>
          <a:p>
            <a:pPr marL="254000" indent="-254000" algn="l">
              <a:lnSpc>
                <a:spcPct val="123000"/>
              </a:lnSpc>
              <a:buSzPct val="100000"/>
              <a:buChar char="•"/>
            </a:pPr>
            <a:r>
              <a:rPr lang="en-US" sz="1250" dirty="0">
                <a:solidFill>
                  <a:srgbClr val="FFFFFF"/>
                </a:solidFill>
                <a:latin typeface="Roboto" pitchFamily="34" charset="0"/>
                <a:ea typeface="Roboto" pitchFamily="34" charset="-122"/>
                <a:cs typeface="Roboto" pitchFamily="34" charset="-120"/>
              </a:rPr>
              <a:t>Problems maintaining branch, employee and loan information</a:t>
            </a:r>
            <a:endParaRPr lang="en-US" sz="1250" dirty="0"/>
          </a:p>
        </p:txBody>
      </p:sp>
      <p:sp>
        <p:nvSpPr>
          <p:cNvPr id="6" name="Text 4"/>
          <p:cNvSpPr/>
          <p:nvPr/>
        </p:nvSpPr>
        <p:spPr>
          <a:xfrm>
            <a:off x="6298149" y="2175791"/>
            <a:ext cx="5238421" cy="251023"/>
          </a:xfrm>
          <a:prstGeom prst="rect">
            <a:avLst/>
          </a:prstGeom>
          <a:noFill/>
          <a:ln/>
        </p:spPr>
        <p:txBody>
          <a:bodyPr wrap="none" lIns="0" tIns="0" rIns="0" bIns="0" rtlCol="0" anchor="t"/>
          <a:lstStyle/>
          <a:p>
            <a:pPr marL="0" indent="0" algn="l">
              <a:lnSpc>
                <a:spcPct val="104000"/>
              </a:lnSpc>
              <a:buNone/>
            </a:pPr>
            <a:r>
              <a:rPr lang="en-US" sz="1550" dirty="0">
                <a:solidFill>
                  <a:srgbClr val="3257B8"/>
                </a:solidFill>
                <a:latin typeface="Roboto Slab" pitchFamily="34" charset="0"/>
                <a:ea typeface="Roboto Slab" pitchFamily="34" charset="-122"/>
                <a:cs typeface="Roboto Slab" pitchFamily="34" charset="-120"/>
              </a:rPr>
              <a:t>Our Solution</a:t>
            </a:r>
            <a:endParaRPr lang="en-US" sz="1550" dirty="0"/>
          </a:p>
        </p:txBody>
      </p:sp>
      <p:sp>
        <p:nvSpPr>
          <p:cNvPr id="7" name="Text 5"/>
          <p:cNvSpPr/>
          <p:nvPr/>
        </p:nvSpPr>
        <p:spPr>
          <a:xfrm>
            <a:off x="6485719" y="2461220"/>
            <a:ext cx="5238421" cy="475456"/>
          </a:xfrm>
          <a:prstGeom prst="rect">
            <a:avLst/>
          </a:prstGeom>
          <a:noFill/>
          <a:ln/>
        </p:spPr>
        <p:txBody>
          <a:bodyPr wrap="square" lIns="0" tIns="0" rIns="0" bIns="0" rtlCol="0" anchor="t">
            <a:normAutofit/>
          </a:bodyPr>
          <a:lstStyle/>
          <a:p>
            <a:pPr marL="0" indent="0" algn="l">
              <a:lnSpc>
                <a:spcPct val="123000"/>
              </a:lnSpc>
              <a:buNone/>
            </a:pPr>
            <a:r>
              <a:rPr lang="en-US" sz="1250" dirty="0">
                <a:solidFill>
                  <a:srgbClr val="15213F"/>
                </a:solidFill>
                <a:latin typeface="Roboto" pitchFamily="34" charset="0"/>
                <a:ea typeface="Roboto" pitchFamily="34" charset="-122"/>
                <a:cs typeface="Roboto" pitchFamily="34" charset="-120"/>
              </a:rPr>
              <a:t>Design a centralized database that stores banking information accurately and connects related records.</a:t>
            </a:r>
            <a:endParaRPr lang="en-US" sz="1250" dirty="0"/>
          </a:p>
        </p:txBody>
      </p:sp>
      <p:sp>
        <p:nvSpPr>
          <p:cNvPr id="8" name="Text 6"/>
          <p:cNvSpPr/>
          <p:nvPr/>
        </p:nvSpPr>
        <p:spPr>
          <a:xfrm>
            <a:off x="6595133" y="3024935"/>
            <a:ext cx="5238421" cy="2044998"/>
          </a:xfrm>
          <a:prstGeom prst="rect">
            <a:avLst/>
          </a:prstGeom>
          <a:noFill/>
          <a:ln/>
        </p:spPr>
        <p:txBody>
          <a:bodyPr wrap="square" lIns="0" tIns="0" rIns="0" bIns="0" rtlCol="0" anchor="t">
            <a:normAutofit/>
          </a:bodyPr>
          <a:lstStyle/>
          <a:p>
            <a:pPr marL="254000" indent="-254000" algn="l">
              <a:lnSpc>
                <a:spcPct val="123000"/>
              </a:lnSpc>
              <a:buSzPct val="100000"/>
              <a:buChar char="•"/>
            </a:pPr>
            <a:r>
              <a:rPr lang="en-US" sz="1250" dirty="0">
                <a:solidFill>
                  <a:srgbClr val="15213F"/>
                </a:solidFill>
                <a:latin typeface="Roboto" pitchFamily="34" charset="0"/>
                <a:ea typeface="Roboto" pitchFamily="34" charset="-122"/>
                <a:cs typeface="Roboto" pitchFamily="34" charset="-120"/>
              </a:rPr>
              <a:t>Centralized Database - All banking data stored in one organized system</a:t>
            </a:r>
            <a:endParaRPr lang="en-US" sz="1250" dirty="0"/>
          </a:p>
          <a:p>
            <a:pPr marL="254000" indent="-254000" algn="l">
              <a:lnSpc>
                <a:spcPct val="123000"/>
              </a:lnSpc>
              <a:buSzPct val="100000"/>
              <a:buChar char="•"/>
            </a:pPr>
            <a:r>
              <a:rPr lang="en-US" sz="1250" dirty="0">
                <a:solidFill>
                  <a:srgbClr val="15213F"/>
                </a:solidFill>
                <a:latin typeface="Roboto" pitchFamily="34" charset="0"/>
                <a:ea typeface="Roboto" pitchFamily="34" charset="-122"/>
                <a:cs typeface="Roboto" pitchFamily="34" charset="-120"/>
              </a:rPr>
              <a:t>Data Relationships - Tables connected through primary and foreign keys to maintain accuracy</a:t>
            </a:r>
            <a:endParaRPr lang="en-US" sz="1250" dirty="0"/>
          </a:p>
          <a:p>
            <a:pPr marL="254000" indent="-254000" algn="l">
              <a:lnSpc>
                <a:spcPct val="123000"/>
              </a:lnSpc>
              <a:buSzPct val="100000"/>
              <a:buChar char="•"/>
            </a:pPr>
            <a:r>
              <a:rPr lang="en-US" sz="1250" dirty="0">
                <a:solidFill>
                  <a:srgbClr val="15213F"/>
                </a:solidFill>
                <a:latin typeface="Roboto" pitchFamily="34" charset="0"/>
                <a:ea typeface="Roboto" pitchFamily="34" charset="-122"/>
                <a:cs typeface="Roboto" pitchFamily="34" charset="-120"/>
              </a:rPr>
              <a:t>Easy Access &amp; Reporting - Quick retrieval of customer, account, and transaction information</a:t>
            </a:r>
            <a:endParaRPr lang="en-US" sz="1250" dirty="0"/>
          </a:p>
          <a:p>
            <a:pPr marL="254000" indent="-254000" algn="l">
              <a:lnSpc>
                <a:spcPct val="123000"/>
              </a:lnSpc>
              <a:buSzPct val="100000"/>
              <a:buChar char="•"/>
            </a:pPr>
            <a:r>
              <a:rPr lang="en-US" sz="1250" dirty="0">
                <a:solidFill>
                  <a:srgbClr val="15213F"/>
                </a:solidFill>
                <a:latin typeface="Roboto" pitchFamily="34" charset="0"/>
                <a:ea typeface="Roboto" pitchFamily="34" charset="-122"/>
                <a:cs typeface="Roboto" pitchFamily="34" charset="-120"/>
              </a:rPr>
              <a:t>Error Prevention - Eliminates duplicate records and ensures data consistency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68523"/>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3257B8"/>
                </a:solidFill>
                <a:latin typeface="Roboto Slab" pitchFamily="34" charset="0"/>
                <a:ea typeface="Roboto Slab" pitchFamily="34" charset="-122"/>
                <a:cs typeface="Roboto Slab" pitchFamily="34" charset="-120"/>
              </a:rPr>
              <a:t>Objectives</a:t>
            </a:r>
            <a:endParaRPr lang="en-US" sz="2950" dirty="0"/>
          </a:p>
        </p:txBody>
      </p:sp>
      <p:sp>
        <p:nvSpPr>
          <p:cNvPr id="3" name="Text 1"/>
          <p:cNvSpPr/>
          <p:nvPr/>
        </p:nvSpPr>
        <p:spPr>
          <a:xfrm>
            <a:off x="661475" y="1282898"/>
            <a:ext cx="11478330" cy="272157"/>
          </a:xfrm>
          <a:prstGeom prst="rect">
            <a:avLst/>
          </a:prstGeom>
          <a:noFill/>
          <a:ln/>
        </p:spPr>
        <p:txBody>
          <a:bodyPr wrap="none" lIns="0" tIns="0" rIns="0" bIns="0" rtlCol="0" anchor="t"/>
          <a:lstStyle/>
          <a:p>
            <a:pPr marL="0" indent="0" algn="l">
              <a:lnSpc>
                <a:spcPct val="120000"/>
              </a:lnSpc>
              <a:buNone/>
            </a:pPr>
            <a:r>
              <a:rPr lang="en-US" sz="1450" dirty="0">
                <a:solidFill>
                  <a:srgbClr val="15213F"/>
                </a:solidFill>
                <a:latin typeface="Roboto" pitchFamily="34" charset="0"/>
                <a:ea typeface="Roboto" pitchFamily="34" charset="-122"/>
                <a:cs typeface="Roboto" pitchFamily="34" charset="-120"/>
              </a:rPr>
              <a:t>Our database aims to:</a:t>
            </a:r>
            <a:endParaRPr lang="en-US" sz="14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127" y="1831727"/>
            <a:ext cx="226808" cy="226814"/>
          </a:xfrm>
          <a:prstGeom prst="rect">
            <a:avLst/>
          </a:prstGeom>
        </p:spPr>
      </p:pic>
      <p:sp>
        <p:nvSpPr>
          <p:cNvPr id="5" name="Text 2"/>
          <p:cNvSpPr/>
          <p:nvPr/>
        </p:nvSpPr>
        <p:spPr>
          <a:xfrm>
            <a:off x="1152893" y="1827113"/>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Manage customer information</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127" y="2531914"/>
            <a:ext cx="226808" cy="226814"/>
          </a:xfrm>
          <a:prstGeom prst="rect">
            <a:avLst/>
          </a:prstGeom>
        </p:spPr>
      </p:pic>
      <p:sp>
        <p:nvSpPr>
          <p:cNvPr id="7" name="Text 3"/>
          <p:cNvSpPr/>
          <p:nvPr/>
        </p:nvSpPr>
        <p:spPr>
          <a:xfrm>
            <a:off x="1152893" y="2527300"/>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Create and manage bank accounts</a:t>
            </a:r>
            <a:endParaRPr lang="en-US" sz="14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127" y="3232100"/>
            <a:ext cx="226808" cy="226814"/>
          </a:xfrm>
          <a:prstGeom prst="rect">
            <a:avLst/>
          </a:prstGeom>
        </p:spPr>
      </p:pic>
      <p:sp>
        <p:nvSpPr>
          <p:cNvPr id="9" name="Text 4"/>
          <p:cNvSpPr/>
          <p:nvPr/>
        </p:nvSpPr>
        <p:spPr>
          <a:xfrm>
            <a:off x="1152893" y="3227487"/>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Record deposits and withdrawals</a:t>
            </a:r>
            <a:endParaRPr lang="en-US" sz="14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127" y="3932287"/>
            <a:ext cx="226808" cy="226814"/>
          </a:xfrm>
          <a:prstGeom prst="rect">
            <a:avLst/>
          </a:prstGeom>
        </p:spPr>
      </p:pic>
      <p:sp>
        <p:nvSpPr>
          <p:cNvPr id="11" name="Text 5"/>
          <p:cNvSpPr/>
          <p:nvPr/>
        </p:nvSpPr>
        <p:spPr>
          <a:xfrm>
            <a:off x="1152893" y="3927673"/>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Manage fund transfers</a:t>
            </a:r>
            <a:endParaRPr lang="en-US" sz="1450" dirty="0"/>
          </a:p>
        </p:txBody>
      </p:sp>
      <p:pic>
        <p:nvPicPr>
          <p:cNvPr id="12"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127" y="4632474"/>
            <a:ext cx="226808" cy="226814"/>
          </a:xfrm>
          <a:prstGeom prst="rect">
            <a:avLst/>
          </a:prstGeom>
        </p:spPr>
      </p:pic>
      <p:sp>
        <p:nvSpPr>
          <p:cNvPr id="13" name="Text 6"/>
          <p:cNvSpPr/>
          <p:nvPr/>
        </p:nvSpPr>
        <p:spPr>
          <a:xfrm>
            <a:off x="1152893" y="4627860"/>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Store transaction history</a:t>
            </a:r>
            <a:endParaRPr lang="en-US" sz="1450" dirty="0"/>
          </a:p>
        </p:txBody>
      </p:sp>
      <p:pic>
        <p:nvPicPr>
          <p:cNvPr id="14"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3293" y="1831727"/>
            <a:ext cx="226808" cy="226814"/>
          </a:xfrm>
          <a:prstGeom prst="rect">
            <a:avLst/>
          </a:prstGeom>
        </p:spPr>
      </p:pic>
      <p:sp>
        <p:nvSpPr>
          <p:cNvPr id="15" name="Text 7"/>
          <p:cNvSpPr/>
          <p:nvPr/>
        </p:nvSpPr>
        <p:spPr>
          <a:xfrm>
            <a:off x="6778059" y="1827113"/>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Manage branch and employee details</a:t>
            </a:r>
            <a:endParaRPr lang="en-US" sz="1450" dirty="0"/>
          </a:p>
        </p:txBody>
      </p:sp>
      <p:pic>
        <p:nvPicPr>
          <p:cNvPr id="16"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3293" y="2531914"/>
            <a:ext cx="226808" cy="226814"/>
          </a:xfrm>
          <a:prstGeom prst="rect">
            <a:avLst/>
          </a:prstGeom>
        </p:spPr>
      </p:pic>
      <p:sp>
        <p:nvSpPr>
          <p:cNvPr id="17" name="Text 8"/>
          <p:cNvSpPr/>
          <p:nvPr/>
        </p:nvSpPr>
        <p:spPr>
          <a:xfrm>
            <a:off x="6778059" y="2527300"/>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Maintain loan information</a:t>
            </a:r>
            <a:endParaRPr lang="en-US" sz="1450" dirty="0"/>
          </a:p>
        </p:txBody>
      </p:sp>
      <p:pic>
        <p:nvPicPr>
          <p:cNvPr id="18" name="Image 7"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3293" y="3232100"/>
            <a:ext cx="226808" cy="226814"/>
          </a:xfrm>
          <a:prstGeom prst="rect">
            <a:avLst/>
          </a:prstGeom>
        </p:spPr>
      </p:pic>
      <p:sp>
        <p:nvSpPr>
          <p:cNvPr id="19" name="Text 9"/>
          <p:cNvSpPr/>
          <p:nvPr/>
        </p:nvSpPr>
        <p:spPr>
          <a:xfrm>
            <a:off x="6778059" y="3227487"/>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Generate reports using SQL</a:t>
            </a:r>
            <a:endParaRPr lang="en-US" sz="1450" dirty="0"/>
          </a:p>
        </p:txBody>
      </p:sp>
      <p:pic>
        <p:nvPicPr>
          <p:cNvPr id="20" name="Image 8"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43293" y="3932287"/>
            <a:ext cx="226808" cy="226814"/>
          </a:xfrm>
          <a:prstGeom prst="rect">
            <a:avLst/>
          </a:prstGeom>
        </p:spPr>
      </p:pic>
      <p:sp>
        <p:nvSpPr>
          <p:cNvPr id="21" name="Text 10"/>
          <p:cNvSpPr/>
          <p:nvPr/>
        </p:nvSpPr>
        <p:spPr>
          <a:xfrm>
            <a:off x="6778059" y="3927673"/>
            <a:ext cx="4758511" cy="23624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Maintain data accuracy using keys and constraints</a:t>
            </a:r>
            <a:endParaRPr lang="en-US" sz="1450" dirty="0"/>
          </a:p>
        </p:txBody>
      </p:sp>
      <p:sp>
        <p:nvSpPr>
          <p:cNvPr id="22" name="Text 11"/>
          <p:cNvSpPr/>
          <p:nvPr/>
        </p:nvSpPr>
        <p:spPr>
          <a:xfrm>
            <a:off x="661475" y="5358209"/>
            <a:ext cx="11478330" cy="272157"/>
          </a:xfrm>
          <a:prstGeom prst="rect">
            <a:avLst/>
          </a:prstGeom>
          <a:noFill/>
          <a:ln/>
        </p:spPr>
        <p:txBody>
          <a:bodyPr wrap="none" lIns="0" tIns="0" rIns="0" bIns="0" rtlCol="0" anchor="t"/>
          <a:lstStyle/>
          <a:p>
            <a:pPr marL="0" indent="0" algn="l">
              <a:lnSpc>
                <a:spcPct val="120000"/>
              </a:lnSpc>
              <a:buNone/>
            </a:pPr>
            <a:r>
              <a:rPr lang="en-US" sz="1450" dirty="0">
                <a:solidFill>
                  <a:srgbClr val="15213F"/>
                </a:solidFill>
                <a:latin typeface="Roboto" pitchFamily="34" charset="0"/>
                <a:ea typeface="Roboto" pitchFamily="34" charset="-122"/>
                <a:cs typeface="Roboto" pitchFamily="34" charset="-120"/>
              </a:rPr>
              <a:t>These are simplified directly from your original objectives.</a:t>
            </a:r>
            <a:endParaRPr lang="en-US" sz="1450" dirty="0"/>
          </a:p>
        </p:txBody>
      </p:sp>
      <p:sp>
        <p:nvSpPr>
          <p:cNvPr id="23" name="Shape 12"/>
          <p:cNvSpPr/>
          <p:nvPr/>
        </p:nvSpPr>
        <p:spPr>
          <a:xfrm>
            <a:off x="661475" y="5766395"/>
            <a:ext cx="10868745" cy="523081"/>
          </a:xfrm>
          <a:prstGeom prst="roundRect">
            <a:avLst>
              <a:gd name="adj" fmla="val 4336"/>
            </a:avLst>
          </a:prstGeom>
          <a:solidFill>
            <a:srgbClr val="D7DFF4"/>
          </a:solidFill>
          <a:ln/>
        </p:spPr>
      </p:sp>
      <p:pic>
        <p:nvPicPr>
          <p:cNvPr id="24" name="Image 9" descr="preencoded.png"/>
          <p:cNvPicPr>
            <a:picLocks noChangeAspect="1"/>
          </p:cNvPicPr>
          <p:nvPr/>
        </p:nvPicPr>
        <p:blipFill>
          <a:blip r:embed="rId4"/>
          <a:stretch>
            <a:fillRect/>
          </a:stretch>
        </p:blipFill>
        <p:spPr>
          <a:xfrm>
            <a:off x="812680" y="5938838"/>
            <a:ext cx="189007" cy="151209"/>
          </a:xfrm>
          <a:prstGeom prst="rect">
            <a:avLst/>
          </a:prstGeom>
        </p:spPr>
      </p:pic>
      <p:sp>
        <p:nvSpPr>
          <p:cNvPr id="25" name="Text 13"/>
          <p:cNvSpPr/>
          <p:nvPr/>
        </p:nvSpPr>
        <p:spPr>
          <a:xfrm>
            <a:off x="1152893" y="5925145"/>
            <a:ext cx="10835706" cy="217686"/>
          </a:xfrm>
          <a:prstGeom prst="rect">
            <a:avLst/>
          </a:prstGeom>
          <a:noFill/>
          <a:ln/>
        </p:spPr>
        <p:txBody>
          <a:bodyPr wrap="none" lIns="0" tIns="0" rIns="0" bIns="0" rtlCol="0" anchor="t"/>
          <a:lstStyle/>
          <a:p>
            <a:pPr marL="0" indent="0" algn="l">
              <a:lnSpc>
                <a:spcPct val="120000"/>
              </a:lnSpc>
              <a:buNone/>
            </a:pPr>
            <a:r>
              <a:rPr lang="en-US" sz="1150" b="1" dirty="0">
                <a:solidFill>
                  <a:srgbClr val="000000"/>
                </a:solidFill>
                <a:latin typeface="Roboto Bold" pitchFamily="34" charset="0"/>
                <a:ea typeface="Roboto Bold" pitchFamily="34" charset="-122"/>
                <a:cs typeface="Roboto Bold" pitchFamily="34" charset="-120"/>
              </a:rPr>
              <a:t>Easy explanation:</a:t>
            </a:r>
            <a:r>
              <a:rPr lang="en-US" sz="1150" dirty="0">
                <a:solidFill>
                  <a:srgbClr val="000000"/>
                </a:solidFill>
                <a:latin typeface="Roboto" pitchFamily="34" charset="0"/>
                <a:ea typeface="Roboto" pitchFamily="34" charset="-122"/>
                <a:cs typeface="Roboto" pitchFamily="34" charset="-120"/>
              </a:rPr>
              <a:t> "The main goal is to manage all major banking activities through a structured database."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653058"/>
            <a:ext cx="10868745" cy="465138"/>
          </a:xfrm>
          <a:prstGeom prst="rect">
            <a:avLst/>
          </a:prstGeom>
          <a:noFill/>
          <a:ln/>
        </p:spPr>
        <p:txBody>
          <a:bodyPr wrap="none" lIns="0" tIns="0" rIns="0" bIns="0" rtlCol="0" anchor="t"/>
          <a:lstStyle/>
          <a:p>
            <a:pPr marL="0" indent="0" algn="l">
              <a:lnSpc>
                <a:spcPct val="104000"/>
              </a:lnSpc>
              <a:buNone/>
            </a:pPr>
            <a:r>
              <a:rPr lang="en-US" sz="2900" dirty="0">
                <a:solidFill>
                  <a:srgbClr val="3257B8"/>
                </a:solidFill>
                <a:latin typeface="Roboto Slab" pitchFamily="34" charset="0"/>
                <a:ea typeface="Roboto Slab" pitchFamily="34" charset="-122"/>
                <a:cs typeface="Roboto Slab" pitchFamily="34" charset="-120"/>
              </a:rPr>
              <a:t>System Scope</a:t>
            </a:r>
            <a:endParaRPr lang="en-US" sz="2900" dirty="0"/>
          </a:p>
        </p:txBody>
      </p:sp>
      <p:sp>
        <p:nvSpPr>
          <p:cNvPr id="3" name="Text 1"/>
          <p:cNvSpPr/>
          <p:nvPr/>
        </p:nvSpPr>
        <p:spPr>
          <a:xfrm>
            <a:off x="661475" y="1352550"/>
            <a:ext cx="11478330" cy="170259"/>
          </a:xfrm>
          <a:prstGeom prst="rect">
            <a:avLst/>
          </a:prstGeom>
          <a:noFill/>
          <a:ln/>
        </p:spPr>
        <p:txBody>
          <a:bodyPr wrap="none" lIns="0" tIns="0" rIns="0" bIns="0" rtlCol="0" anchor="t"/>
          <a:lstStyle/>
          <a:p>
            <a:pPr marL="0" indent="0" algn="l">
              <a:lnSpc>
                <a:spcPct val="119000"/>
              </a:lnSpc>
              <a:buNone/>
            </a:pPr>
            <a:r>
              <a:rPr lang="en-US" sz="900" dirty="0">
                <a:solidFill>
                  <a:srgbClr val="15213F"/>
                </a:solidFill>
                <a:latin typeface="Roboto" pitchFamily="34" charset="0"/>
                <a:ea typeface="Roboto" pitchFamily="34" charset="-122"/>
                <a:cs typeface="Roboto" pitchFamily="34" charset="-120"/>
              </a:rPr>
              <a:t>Our system covers </a:t>
            </a:r>
            <a:r>
              <a:rPr lang="en-US" sz="900" b="1" dirty="0">
                <a:solidFill>
                  <a:srgbClr val="15213F"/>
                </a:solidFill>
                <a:latin typeface="Roboto Bold" pitchFamily="34" charset="0"/>
                <a:ea typeface="Roboto Bold" pitchFamily="34" charset="-122"/>
                <a:cs typeface="Roboto Bold" pitchFamily="34" charset="-120"/>
              </a:rPr>
              <a:t>6 major areas:</a:t>
            </a:r>
            <a:endParaRPr lang="en-US" sz="900" dirty="0"/>
          </a:p>
        </p:txBody>
      </p:sp>
      <p:sp>
        <p:nvSpPr>
          <p:cNvPr id="4" name="Shape 2"/>
          <p:cNvSpPr/>
          <p:nvPr/>
        </p:nvSpPr>
        <p:spPr>
          <a:xfrm>
            <a:off x="661475" y="1691878"/>
            <a:ext cx="10868745" cy="19050"/>
          </a:xfrm>
          <a:prstGeom prst="roundRect">
            <a:avLst>
              <a:gd name="adj" fmla="val 49999"/>
            </a:avLst>
          </a:prstGeom>
          <a:solidFill>
            <a:srgbClr val="15213F">
              <a:alpha val="50000"/>
            </a:srgbClr>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011859"/>
            <a:ext cx="3343291" cy="1538486"/>
          </a:xfrm>
          <a:prstGeom prst="rect">
            <a:avLst/>
          </a:prstGeom>
        </p:spPr>
      </p:pic>
      <p:pic>
        <p:nvPicPr>
          <p:cNvPr id="6" name="Image 1" descr="preencoded.png"/>
          <p:cNvPicPr>
            <a:picLocks noChangeAspect="1"/>
          </p:cNvPicPr>
          <p:nvPr/>
        </p:nvPicPr>
        <p:blipFill>
          <a:blip r:embed="rId4"/>
          <a:stretch>
            <a:fillRect/>
          </a:stretch>
        </p:blipFill>
        <p:spPr>
          <a:xfrm>
            <a:off x="2243776" y="2145804"/>
            <a:ext cx="178589" cy="178594"/>
          </a:xfrm>
          <a:prstGeom prst="rect">
            <a:avLst/>
          </a:prstGeom>
        </p:spPr>
      </p:pic>
      <p:sp>
        <p:nvSpPr>
          <p:cNvPr id="7" name="Text 3"/>
          <p:cNvSpPr/>
          <p:nvPr/>
        </p:nvSpPr>
        <p:spPr>
          <a:xfrm>
            <a:off x="829349" y="2607171"/>
            <a:ext cx="3007543" cy="23247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 Customer </a:t>
            </a:r>
            <a:endParaRPr lang="en-US" sz="1450" dirty="0"/>
          </a:p>
        </p:txBody>
      </p:sp>
      <p:sp>
        <p:nvSpPr>
          <p:cNvPr id="8" name="Text 4"/>
          <p:cNvSpPr/>
          <p:nvPr/>
        </p:nvSpPr>
        <p:spPr>
          <a:xfrm>
            <a:off x="829349" y="2956818"/>
            <a:ext cx="3007543" cy="425648"/>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15213F"/>
                </a:solidFill>
                <a:latin typeface="Roboto" pitchFamily="34" charset="0"/>
                <a:ea typeface="Roboto" pitchFamily="34" charset="-122"/>
                <a:cs typeface="Roboto" pitchFamily="34" charset="-120"/>
              </a:rPr>
              <a:t>→ Stores personal information, contact details, and customer identification data.</a:t>
            </a:r>
            <a:endParaRPr lang="en-US" sz="11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3667522"/>
            <a:ext cx="3343291" cy="1538486"/>
          </a:xfrm>
          <a:prstGeom prst="rect">
            <a:avLst/>
          </a:prstGeom>
        </p:spPr>
      </p:pic>
      <p:pic>
        <p:nvPicPr>
          <p:cNvPr id="10" name="Image 3" descr="preencoded.png"/>
          <p:cNvPicPr>
            <a:picLocks noChangeAspect="1"/>
          </p:cNvPicPr>
          <p:nvPr/>
        </p:nvPicPr>
        <p:blipFill>
          <a:blip r:embed="rId5"/>
          <a:stretch>
            <a:fillRect/>
          </a:stretch>
        </p:blipFill>
        <p:spPr>
          <a:xfrm>
            <a:off x="2243776" y="3801467"/>
            <a:ext cx="178589" cy="178594"/>
          </a:xfrm>
          <a:prstGeom prst="rect">
            <a:avLst/>
          </a:prstGeom>
        </p:spPr>
      </p:pic>
      <p:sp>
        <p:nvSpPr>
          <p:cNvPr id="11" name="Text 5"/>
          <p:cNvSpPr/>
          <p:nvPr/>
        </p:nvSpPr>
        <p:spPr>
          <a:xfrm>
            <a:off x="829349" y="4262834"/>
            <a:ext cx="3007543" cy="23247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 Account</a:t>
            </a:r>
            <a:endParaRPr lang="en-US" sz="1450" dirty="0"/>
          </a:p>
        </p:txBody>
      </p:sp>
      <p:sp>
        <p:nvSpPr>
          <p:cNvPr id="12" name="Text 6"/>
          <p:cNvSpPr/>
          <p:nvPr/>
        </p:nvSpPr>
        <p:spPr>
          <a:xfrm>
            <a:off x="829349" y="4612481"/>
            <a:ext cx="3007543" cy="425648"/>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15213F"/>
                </a:solidFill>
                <a:latin typeface="Roboto" pitchFamily="34" charset="0"/>
                <a:ea typeface="Roboto" pitchFamily="34" charset="-122"/>
                <a:cs typeface="Roboto" pitchFamily="34" charset="-120"/>
              </a:rPr>
              <a:t>→ Tracks account types, account numbers, balances, and account status.</a:t>
            </a:r>
            <a:endParaRPr lang="en-US" sz="115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4247" y="2011859"/>
            <a:ext cx="3343291" cy="1538486"/>
          </a:xfrm>
          <a:prstGeom prst="rect">
            <a:avLst/>
          </a:prstGeom>
        </p:spPr>
      </p:pic>
      <p:pic>
        <p:nvPicPr>
          <p:cNvPr id="14" name="Image 5" descr="preencoded.png"/>
          <p:cNvPicPr>
            <a:picLocks noChangeAspect="1"/>
          </p:cNvPicPr>
          <p:nvPr/>
        </p:nvPicPr>
        <p:blipFill>
          <a:blip r:embed="rId6"/>
          <a:stretch>
            <a:fillRect/>
          </a:stretch>
        </p:blipFill>
        <p:spPr>
          <a:xfrm>
            <a:off x="5956548" y="2145804"/>
            <a:ext cx="178589" cy="178594"/>
          </a:xfrm>
          <a:prstGeom prst="rect">
            <a:avLst/>
          </a:prstGeom>
        </p:spPr>
      </p:pic>
      <p:sp>
        <p:nvSpPr>
          <p:cNvPr id="15" name="Text 7"/>
          <p:cNvSpPr/>
          <p:nvPr/>
        </p:nvSpPr>
        <p:spPr>
          <a:xfrm>
            <a:off x="4542121" y="2607171"/>
            <a:ext cx="3007543" cy="23247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 Branch</a:t>
            </a:r>
            <a:endParaRPr lang="en-US" sz="1450" dirty="0"/>
          </a:p>
        </p:txBody>
      </p:sp>
      <p:sp>
        <p:nvSpPr>
          <p:cNvPr id="16" name="Text 8"/>
          <p:cNvSpPr/>
          <p:nvPr/>
        </p:nvSpPr>
        <p:spPr>
          <a:xfrm>
            <a:off x="4542121" y="2956818"/>
            <a:ext cx="3007543" cy="425648"/>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15213F"/>
                </a:solidFill>
                <a:latin typeface="Roboto" pitchFamily="34" charset="0"/>
                <a:ea typeface="Roboto" pitchFamily="34" charset="-122"/>
                <a:cs typeface="Roboto" pitchFamily="34" charset="-120"/>
              </a:rPr>
              <a:t>→ Maintains branch location, branch code, and office details.</a:t>
            </a:r>
            <a:endParaRPr lang="en-US" sz="1150" dirty="0"/>
          </a:p>
        </p:txBody>
      </p:sp>
      <p:pic>
        <p:nvPicPr>
          <p:cNvPr id="17" name="Image 6"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4247" y="3667522"/>
            <a:ext cx="3343291" cy="1538486"/>
          </a:xfrm>
          <a:prstGeom prst="rect">
            <a:avLst/>
          </a:prstGeom>
        </p:spPr>
      </p:pic>
      <p:pic>
        <p:nvPicPr>
          <p:cNvPr id="18" name="Image 7" descr="preencoded.png"/>
          <p:cNvPicPr>
            <a:picLocks noChangeAspect="1"/>
          </p:cNvPicPr>
          <p:nvPr/>
        </p:nvPicPr>
        <p:blipFill>
          <a:blip r:embed="rId7"/>
          <a:stretch>
            <a:fillRect/>
          </a:stretch>
        </p:blipFill>
        <p:spPr>
          <a:xfrm>
            <a:off x="5956548" y="3801467"/>
            <a:ext cx="178589" cy="178594"/>
          </a:xfrm>
          <a:prstGeom prst="rect">
            <a:avLst/>
          </a:prstGeom>
        </p:spPr>
      </p:pic>
      <p:sp>
        <p:nvSpPr>
          <p:cNvPr id="19" name="Text 9"/>
          <p:cNvSpPr/>
          <p:nvPr/>
        </p:nvSpPr>
        <p:spPr>
          <a:xfrm>
            <a:off x="4542121" y="4262834"/>
            <a:ext cx="3007543" cy="23247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 Employee</a:t>
            </a:r>
            <a:endParaRPr lang="en-US" sz="1450" dirty="0"/>
          </a:p>
        </p:txBody>
      </p:sp>
      <p:sp>
        <p:nvSpPr>
          <p:cNvPr id="20" name="Text 10"/>
          <p:cNvSpPr/>
          <p:nvPr/>
        </p:nvSpPr>
        <p:spPr>
          <a:xfrm>
            <a:off x="4542121" y="4612481"/>
            <a:ext cx="3007543" cy="425648"/>
          </a:xfrm>
          <a:prstGeom prst="rect">
            <a:avLst/>
          </a:prstGeom>
          <a:noFill/>
          <a:ln/>
        </p:spPr>
        <p:txBody>
          <a:bodyPr wrap="square" lIns="0" tIns="0" rIns="0" bIns="0" rtlCol="0" anchor="t">
            <a:normAutofit/>
          </a:bodyPr>
          <a:lstStyle/>
          <a:p>
            <a:pPr>
              <a:lnSpc>
                <a:spcPct val="119000"/>
              </a:lnSpc>
            </a:pPr>
            <a:r>
              <a:rPr lang="en-US" sz="1150" dirty="0">
                <a:solidFill>
                  <a:srgbClr val="15213F"/>
                </a:solidFill>
                <a:latin typeface="Roboto" pitchFamily="34" charset="0"/>
                <a:ea typeface="Roboto" pitchFamily="34" charset="-122"/>
                <a:cs typeface="Roboto" pitchFamily="34" charset="-120"/>
              </a:rPr>
              <a:t>→ </a:t>
            </a:r>
            <a:r>
              <a:rPr lang="en-IN" sz="1150" dirty="0">
                <a:latin typeface="Roboto" panose="02000000000000000000" pitchFamily="2" charset="0"/>
                <a:ea typeface="Roboto" panose="02000000000000000000" pitchFamily="2" charset="0"/>
                <a:cs typeface="Roboto" panose="02000000000000000000" pitchFamily="2" charset="0"/>
              </a:rPr>
              <a:t>Stores staff records, designations, contact details, and branch assignments.</a:t>
            </a:r>
            <a:endParaRPr lang="en-US" sz="1150" dirty="0">
              <a:latin typeface="Roboto" panose="02000000000000000000" pitchFamily="2" charset="0"/>
              <a:ea typeface="Roboto" panose="02000000000000000000" pitchFamily="2" charset="0"/>
              <a:cs typeface="Roboto" panose="02000000000000000000" pitchFamily="2" charset="0"/>
            </a:endParaRPr>
          </a:p>
        </p:txBody>
      </p:sp>
      <p:pic>
        <p:nvPicPr>
          <p:cNvPr id="21" name="Image 8"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7019" y="2011859"/>
            <a:ext cx="3343291" cy="1538486"/>
          </a:xfrm>
          <a:prstGeom prst="rect">
            <a:avLst/>
          </a:prstGeom>
        </p:spPr>
      </p:pic>
      <p:pic>
        <p:nvPicPr>
          <p:cNvPr id="22" name="Image 9" descr="preencoded.png"/>
          <p:cNvPicPr>
            <a:picLocks noChangeAspect="1"/>
          </p:cNvPicPr>
          <p:nvPr/>
        </p:nvPicPr>
        <p:blipFill>
          <a:blip r:embed="rId8"/>
          <a:stretch>
            <a:fillRect/>
          </a:stretch>
        </p:blipFill>
        <p:spPr>
          <a:xfrm>
            <a:off x="9669320" y="2145804"/>
            <a:ext cx="178589" cy="178594"/>
          </a:xfrm>
          <a:prstGeom prst="rect">
            <a:avLst/>
          </a:prstGeom>
        </p:spPr>
      </p:pic>
      <p:sp>
        <p:nvSpPr>
          <p:cNvPr id="23" name="Text 11"/>
          <p:cNvSpPr/>
          <p:nvPr/>
        </p:nvSpPr>
        <p:spPr>
          <a:xfrm>
            <a:off x="8254893" y="2607171"/>
            <a:ext cx="3007543" cy="23247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 Transaction</a:t>
            </a:r>
            <a:endParaRPr lang="en-US" sz="1450" dirty="0"/>
          </a:p>
        </p:txBody>
      </p:sp>
      <p:sp>
        <p:nvSpPr>
          <p:cNvPr id="24" name="Text 12"/>
          <p:cNvSpPr/>
          <p:nvPr/>
        </p:nvSpPr>
        <p:spPr>
          <a:xfrm>
            <a:off x="8254893" y="2956818"/>
            <a:ext cx="3007543" cy="425648"/>
          </a:xfrm>
          <a:prstGeom prst="rect">
            <a:avLst/>
          </a:prstGeom>
          <a:noFill/>
          <a:ln/>
        </p:spPr>
        <p:txBody>
          <a:bodyPr wrap="square" lIns="0" tIns="0" rIns="0" bIns="0" rtlCol="0" anchor="t">
            <a:normAutofit/>
          </a:bodyPr>
          <a:lstStyle/>
          <a:p>
            <a:pPr marL="0" indent="0" algn="l">
              <a:lnSpc>
                <a:spcPct val="119000"/>
              </a:lnSpc>
              <a:buNone/>
            </a:pPr>
            <a:r>
              <a:rPr lang="en-US" sz="1150" dirty="0">
                <a:solidFill>
                  <a:srgbClr val="15213F"/>
                </a:solidFill>
                <a:latin typeface="Roboto" pitchFamily="34" charset="0"/>
                <a:ea typeface="Roboto" pitchFamily="34" charset="-122"/>
                <a:cs typeface="Roboto" pitchFamily="34" charset="-120"/>
              </a:rPr>
              <a:t>→ Records deposits, withdrawals, transfers, dates, amounts, and transaction history.</a:t>
            </a:r>
            <a:endParaRPr lang="en-US" sz="1150" dirty="0"/>
          </a:p>
        </p:txBody>
      </p:sp>
      <p:pic>
        <p:nvPicPr>
          <p:cNvPr id="25" name="Image 1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7019" y="3667522"/>
            <a:ext cx="3343291" cy="1538486"/>
          </a:xfrm>
          <a:prstGeom prst="rect">
            <a:avLst/>
          </a:prstGeom>
        </p:spPr>
      </p:pic>
      <p:pic>
        <p:nvPicPr>
          <p:cNvPr id="26" name="Image 11" descr="preencoded.png"/>
          <p:cNvPicPr>
            <a:picLocks noChangeAspect="1"/>
          </p:cNvPicPr>
          <p:nvPr/>
        </p:nvPicPr>
        <p:blipFill>
          <a:blip r:embed="rId9"/>
          <a:stretch>
            <a:fillRect/>
          </a:stretch>
        </p:blipFill>
        <p:spPr>
          <a:xfrm>
            <a:off x="9669320" y="3801467"/>
            <a:ext cx="178589" cy="178594"/>
          </a:xfrm>
          <a:prstGeom prst="rect">
            <a:avLst/>
          </a:prstGeom>
        </p:spPr>
      </p:pic>
      <p:sp>
        <p:nvSpPr>
          <p:cNvPr id="27" name="Text 13"/>
          <p:cNvSpPr/>
          <p:nvPr/>
        </p:nvSpPr>
        <p:spPr>
          <a:xfrm>
            <a:off x="8254893" y="4262834"/>
            <a:ext cx="3007543" cy="232470"/>
          </a:xfrm>
          <a:prstGeom prst="rect">
            <a:avLst/>
          </a:prstGeom>
          <a:noFill/>
          <a:ln/>
        </p:spPr>
        <p:txBody>
          <a:bodyPr wrap="none" lIns="0" tIns="0" rIns="0" bIns="0" rtlCol="0" anchor="t"/>
          <a:lstStyle/>
          <a:p>
            <a:pPr marL="0" indent="0" algn="l">
              <a:lnSpc>
                <a:spcPct val="104000"/>
              </a:lnSpc>
              <a:buNone/>
            </a:pPr>
            <a:r>
              <a:rPr lang="en-US" sz="1450" dirty="0">
                <a:solidFill>
                  <a:srgbClr val="15213F"/>
                </a:solidFill>
                <a:latin typeface="Roboto Slab" pitchFamily="34" charset="0"/>
                <a:ea typeface="Roboto Slab" pitchFamily="34" charset="-122"/>
                <a:cs typeface="Roboto Slab" pitchFamily="34" charset="-120"/>
              </a:rPr>
              <a:t> Loan</a:t>
            </a:r>
            <a:endParaRPr lang="en-US" sz="1450" dirty="0"/>
          </a:p>
        </p:txBody>
      </p:sp>
      <p:sp>
        <p:nvSpPr>
          <p:cNvPr id="28" name="Text 14"/>
          <p:cNvSpPr/>
          <p:nvPr/>
        </p:nvSpPr>
        <p:spPr>
          <a:xfrm>
            <a:off x="8254893" y="4612481"/>
            <a:ext cx="3007543" cy="425648"/>
          </a:xfrm>
          <a:prstGeom prst="rect">
            <a:avLst/>
          </a:prstGeom>
          <a:noFill/>
          <a:ln/>
        </p:spPr>
        <p:txBody>
          <a:bodyPr wrap="square" lIns="0" tIns="0" rIns="0" bIns="0" rtlCol="0" anchor="t">
            <a:normAutofit/>
          </a:bodyPr>
          <a:lstStyle/>
          <a:p>
            <a:pPr>
              <a:lnSpc>
                <a:spcPct val="119000"/>
              </a:lnSpc>
            </a:pPr>
            <a:r>
              <a:rPr lang="en-US" sz="1150" dirty="0">
                <a:solidFill>
                  <a:srgbClr val="15213F"/>
                </a:solidFill>
                <a:latin typeface="Roboto" pitchFamily="34" charset="0"/>
                <a:ea typeface="Roboto" pitchFamily="34" charset="-122"/>
                <a:cs typeface="Roboto" pitchFamily="34" charset="-120"/>
              </a:rPr>
              <a:t>→ </a:t>
            </a:r>
            <a:r>
              <a:rPr lang="en-IN" sz="1150" dirty="0">
                <a:latin typeface="Roboto" panose="02000000000000000000" pitchFamily="2" charset="0"/>
                <a:ea typeface="Roboto" panose="02000000000000000000" pitchFamily="2" charset="0"/>
                <a:cs typeface="Roboto" panose="02000000000000000000" pitchFamily="2" charset="0"/>
              </a:rPr>
              <a:t>Manages loan types, loan amounts, interest rates, and customer loan records.</a:t>
            </a:r>
            <a:endParaRPr lang="en-US" sz="1150" dirty="0">
              <a:latin typeface="Roboto" panose="02000000000000000000" pitchFamily="2" charset="0"/>
              <a:ea typeface="Roboto" panose="02000000000000000000" pitchFamily="2" charset="0"/>
              <a:cs typeface="Roboto" panose="02000000000000000000" pitchFamily="2" charset="0"/>
            </a:endParaRPr>
          </a:p>
        </p:txBody>
      </p:sp>
      <p:sp>
        <p:nvSpPr>
          <p:cNvPr id="29" name="Shape 15"/>
          <p:cNvSpPr/>
          <p:nvPr/>
        </p:nvSpPr>
        <p:spPr>
          <a:xfrm>
            <a:off x="661475" y="5506938"/>
            <a:ext cx="10868745" cy="19050"/>
          </a:xfrm>
          <a:prstGeom prst="roundRect">
            <a:avLst>
              <a:gd name="adj" fmla="val 49999"/>
            </a:avLst>
          </a:prstGeom>
          <a:solidFill>
            <a:srgbClr val="15213F">
              <a:alpha val="50000"/>
            </a:srgbClr>
          </a:solidFill>
          <a:ln/>
        </p:spPr>
      </p:sp>
      <p:sp>
        <p:nvSpPr>
          <p:cNvPr id="30" name="Shape 16"/>
          <p:cNvSpPr/>
          <p:nvPr/>
        </p:nvSpPr>
        <p:spPr>
          <a:xfrm>
            <a:off x="661475" y="5695057"/>
            <a:ext cx="10868745" cy="509885"/>
          </a:xfrm>
          <a:prstGeom prst="roundRect">
            <a:avLst>
              <a:gd name="adj" fmla="val 4379"/>
            </a:avLst>
          </a:prstGeom>
          <a:solidFill>
            <a:srgbClr val="D7DFF4"/>
          </a:solidFill>
          <a:ln/>
        </p:spPr>
      </p:sp>
      <p:pic>
        <p:nvPicPr>
          <p:cNvPr id="31" name="Image 12" descr="preencoded.png"/>
          <p:cNvPicPr>
            <a:picLocks noChangeAspect="1"/>
          </p:cNvPicPr>
          <p:nvPr/>
        </p:nvPicPr>
        <p:blipFill>
          <a:blip r:embed="rId10"/>
          <a:stretch>
            <a:fillRect/>
          </a:stretch>
        </p:blipFill>
        <p:spPr>
          <a:xfrm>
            <a:off x="810299" y="5865217"/>
            <a:ext cx="186031" cy="148828"/>
          </a:xfrm>
          <a:prstGeom prst="rect">
            <a:avLst/>
          </a:prstGeom>
        </p:spPr>
      </p:pic>
      <p:sp>
        <p:nvSpPr>
          <p:cNvPr id="32" name="Text 17"/>
          <p:cNvSpPr/>
          <p:nvPr/>
        </p:nvSpPr>
        <p:spPr>
          <a:xfrm>
            <a:off x="1145154" y="5849441"/>
            <a:ext cx="10845826" cy="212824"/>
          </a:xfrm>
          <a:prstGeom prst="rect">
            <a:avLst/>
          </a:prstGeom>
          <a:noFill/>
          <a:ln/>
        </p:spPr>
        <p:txBody>
          <a:bodyPr wrap="none" lIns="0" tIns="0" rIns="0" bIns="0" rtlCol="0" anchor="t"/>
          <a:lstStyle/>
          <a:p>
            <a:pPr marL="0" indent="0" algn="l">
              <a:lnSpc>
                <a:spcPct val="119000"/>
              </a:lnSpc>
              <a:buNone/>
            </a:pPr>
            <a:r>
              <a:rPr lang="en-US" sz="1150" b="1" dirty="0">
                <a:solidFill>
                  <a:srgbClr val="000000"/>
                </a:solidFill>
                <a:latin typeface="Roboto Bold" pitchFamily="34" charset="0"/>
                <a:ea typeface="Roboto Bold" pitchFamily="34" charset="-122"/>
                <a:cs typeface="Roboto Bold" pitchFamily="34" charset="-120"/>
              </a:rPr>
              <a:t>Easy explanation:</a:t>
            </a:r>
            <a:r>
              <a:rPr lang="en-US" sz="1150" dirty="0">
                <a:solidFill>
                  <a:srgbClr val="000000"/>
                </a:solidFill>
                <a:latin typeface="Roboto" pitchFamily="34" charset="0"/>
                <a:ea typeface="Roboto" pitchFamily="34" charset="-122"/>
                <a:cs typeface="Roboto" pitchFamily="34" charset="-120"/>
              </a:rPr>
              <a:t> "We divided our banking system into six major areas. Each area stores the data needed to manage that part of the bank."</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02244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Entities and Attributes</a:t>
            </a:r>
            <a:endParaRPr lang="en-US" sz="3700" dirty="0"/>
          </a:p>
        </p:txBody>
      </p:sp>
      <p:sp>
        <p:nvSpPr>
          <p:cNvPr id="3" name="Shape 1"/>
          <p:cNvSpPr/>
          <p:nvPr/>
        </p:nvSpPr>
        <p:spPr>
          <a:xfrm>
            <a:off x="661475" y="1991122"/>
            <a:ext cx="10868745" cy="3844330"/>
          </a:xfrm>
          <a:prstGeom prst="roundRect">
            <a:avLst>
              <a:gd name="adj" fmla="val 738"/>
            </a:avLst>
          </a:prstGeom>
          <a:noFill/>
          <a:ln w="6350">
            <a:solidFill>
              <a:srgbClr val="000000">
                <a:alpha val="8000"/>
              </a:srgbClr>
            </a:solidFill>
            <a:prstDash val="solid"/>
          </a:ln>
        </p:spPr>
      </p:sp>
      <p:sp>
        <p:nvSpPr>
          <p:cNvPr id="4" name="Shape 2"/>
          <p:cNvSpPr/>
          <p:nvPr/>
        </p:nvSpPr>
        <p:spPr>
          <a:xfrm>
            <a:off x="661475" y="2542580"/>
            <a:ext cx="10868745" cy="11814"/>
          </a:xfrm>
          <a:prstGeom prst="rect">
            <a:avLst/>
          </a:prstGeom>
          <a:solidFill>
            <a:srgbClr val="000000">
              <a:alpha val="8000"/>
            </a:srgbClr>
          </a:solidFill>
          <a:ln/>
        </p:spPr>
      </p:sp>
      <p:sp>
        <p:nvSpPr>
          <p:cNvPr id="5" name="Shape 3"/>
          <p:cNvSpPr/>
          <p:nvPr/>
        </p:nvSpPr>
        <p:spPr>
          <a:xfrm>
            <a:off x="661475" y="3090863"/>
            <a:ext cx="10868745" cy="11814"/>
          </a:xfrm>
          <a:prstGeom prst="rect">
            <a:avLst/>
          </a:prstGeom>
          <a:solidFill>
            <a:srgbClr val="000000">
              <a:alpha val="8000"/>
            </a:srgbClr>
          </a:solidFill>
          <a:ln/>
        </p:spPr>
      </p:sp>
      <p:sp>
        <p:nvSpPr>
          <p:cNvPr id="6" name="Shape 4"/>
          <p:cNvSpPr/>
          <p:nvPr/>
        </p:nvSpPr>
        <p:spPr>
          <a:xfrm>
            <a:off x="661475" y="3639145"/>
            <a:ext cx="10868745" cy="11814"/>
          </a:xfrm>
          <a:prstGeom prst="rect">
            <a:avLst/>
          </a:prstGeom>
          <a:solidFill>
            <a:srgbClr val="000000">
              <a:alpha val="8000"/>
            </a:srgbClr>
          </a:solidFill>
          <a:ln/>
        </p:spPr>
      </p:sp>
      <p:sp>
        <p:nvSpPr>
          <p:cNvPr id="7" name="Shape 5"/>
          <p:cNvSpPr/>
          <p:nvPr/>
        </p:nvSpPr>
        <p:spPr>
          <a:xfrm>
            <a:off x="661475" y="4187428"/>
            <a:ext cx="10868745" cy="11814"/>
          </a:xfrm>
          <a:prstGeom prst="rect">
            <a:avLst/>
          </a:prstGeom>
          <a:solidFill>
            <a:srgbClr val="000000">
              <a:alpha val="8000"/>
            </a:srgbClr>
          </a:solidFill>
          <a:ln/>
        </p:spPr>
      </p:sp>
      <p:sp>
        <p:nvSpPr>
          <p:cNvPr id="8" name="Shape 6"/>
          <p:cNvSpPr/>
          <p:nvPr/>
        </p:nvSpPr>
        <p:spPr>
          <a:xfrm>
            <a:off x="661475" y="4735711"/>
            <a:ext cx="10868745" cy="11814"/>
          </a:xfrm>
          <a:prstGeom prst="rect">
            <a:avLst/>
          </a:prstGeom>
          <a:solidFill>
            <a:srgbClr val="000000">
              <a:alpha val="8000"/>
            </a:srgbClr>
          </a:solidFill>
          <a:ln/>
        </p:spPr>
      </p:sp>
      <p:sp>
        <p:nvSpPr>
          <p:cNvPr id="9" name="Shape 7"/>
          <p:cNvSpPr/>
          <p:nvPr/>
        </p:nvSpPr>
        <p:spPr>
          <a:xfrm>
            <a:off x="661475" y="5283994"/>
            <a:ext cx="10868745" cy="11814"/>
          </a:xfrm>
          <a:prstGeom prst="rect">
            <a:avLst/>
          </a:prstGeom>
          <a:solidFill>
            <a:srgbClr val="000000">
              <a:alpha val="8000"/>
            </a:srgbClr>
          </a:solidFill>
          <a:ln/>
        </p:spPr>
      </p:sp>
      <p:sp>
        <p:nvSpPr>
          <p:cNvPr id="10" name="Shape 8"/>
          <p:cNvSpPr/>
          <p:nvPr/>
        </p:nvSpPr>
        <p:spPr>
          <a:xfrm>
            <a:off x="2839074" y="1991122"/>
            <a:ext cx="11814" cy="3844330"/>
          </a:xfrm>
          <a:prstGeom prst="rect">
            <a:avLst/>
          </a:prstGeom>
          <a:solidFill>
            <a:srgbClr val="000000">
              <a:alpha val="8000"/>
            </a:srgbClr>
          </a:solidFill>
          <a:ln/>
        </p:spPr>
      </p:sp>
      <p:sp>
        <p:nvSpPr>
          <p:cNvPr id="11" name="Shape 9"/>
          <p:cNvSpPr/>
          <p:nvPr/>
        </p:nvSpPr>
        <p:spPr>
          <a:xfrm>
            <a:off x="667924" y="1997472"/>
            <a:ext cx="2171150" cy="545108"/>
          </a:xfrm>
          <a:custGeom>
            <a:avLst/>
            <a:gdLst/>
            <a:ahLst/>
            <a:cxnLst/>
            <a:rect l="l" t="t" r="r" b="b"/>
            <a:pathLst>
              <a:path w="2171150" h="545108">
                <a:moveTo>
                  <a:pt x="23627" y="0"/>
                </a:moveTo>
                <a:lnTo>
                  <a:pt x="2171150" y="0"/>
                </a:lnTo>
                <a:lnTo>
                  <a:pt x="2171150" y="545108"/>
                </a:lnTo>
                <a:lnTo>
                  <a:pt x="0" y="545108"/>
                </a:lnTo>
                <a:lnTo>
                  <a:pt x="0" y="23628"/>
                </a:lnTo>
                <a:arcTo wR="23627" hR="23628" stAng="10800000" swAng="5400000"/>
                <a:close/>
              </a:path>
            </a:pathLst>
          </a:custGeom>
          <a:solidFill>
            <a:srgbClr val="3257B8"/>
          </a:solidFill>
          <a:ln/>
        </p:spPr>
      </p:sp>
      <p:sp>
        <p:nvSpPr>
          <p:cNvPr id="12" name="Text 10"/>
          <p:cNvSpPr/>
          <p:nvPr/>
        </p:nvSpPr>
        <p:spPr>
          <a:xfrm>
            <a:off x="856931" y="2117229"/>
            <a:ext cx="2399545" cy="302419"/>
          </a:xfrm>
          <a:prstGeom prst="rect">
            <a:avLst/>
          </a:prstGeom>
          <a:noFill/>
          <a:ln/>
        </p:spPr>
        <p:txBody>
          <a:bodyPr wrap="none" lIns="0" tIns="0" rIns="0" bIns="0" rtlCol="0" anchor="t"/>
          <a:lstStyle/>
          <a:p>
            <a:pPr marL="0" indent="0" algn="l">
              <a:lnSpc>
                <a:spcPct val="133000"/>
              </a:lnSpc>
              <a:buNone/>
            </a:pPr>
            <a:r>
              <a:rPr lang="en-US" sz="1450" b="1" dirty="0">
                <a:solidFill>
                  <a:srgbClr val="FFFFFF"/>
                </a:solidFill>
                <a:latin typeface="Roboto Bold" pitchFamily="34" charset="0"/>
                <a:ea typeface="Roboto Bold" pitchFamily="34" charset="-122"/>
                <a:cs typeface="Roboto Bold" pitchFamily="34" charset="-120"/>
              </a:rPr>
              <a:t>Entity</a:t>
            </a:r>
            <a:endParaRPr lang="en-US" sz="1450" dirty="0"/>
          </a:p>
        </p:txBody>
      </p:sp>
      <p:sp>
        <p:nvSpPr>
          <p:cNvPr id="13" name="Shape 11"/>
          <p:cNvSpPr/>
          <p:nvPr/>
        </p:nvSpPr>
        <p:spPr>
          <a:xfrm>
            <a:off x="2839074" y="1997472"/>
            <a:ext cx="8684797" cy="545108"/>
          </a:xfrm>
          <a:custGeom>
            <a:avLst/>
            <a:gdLst/>
            <a:ahLst/>
            <a:cxnLst/>
            <a:rect l="l" t="t" r="r" b="b"/>
            <a:pathLst>
              <a:path w="8684797" h="545108">
                <a:moveTo>
                  <a:pt x="0" y="0"/>
                </a:moveTo>
                <a:lnTo>
                  <a:pt x="8661169" y="0"/>
                </a:lnTo>
                <a:arcTo wR="23627" hR="23628" stAng="16200000" swAng="5400000"/>
                <a:lnTo>
                  <a:pt x="8684797" y="545108"/>
                </a:lnTo>
                <a:lnTo>
                  <a:pt x="0" y="545108"/>
                </a:lnTo>
                <a:lnTo>
                  <a:pt x="0" y="0"/>
                </a:lnTo>
                <a:close/>
              </a:path>
            </a:pathLst>
          </a:custGeom>
          <a:solidFill>
            <a:srgbClr val="3257B8"/>
          </a:solidFill>
          <a:ln/>
        </p:spPr>
      </p:sp>
      <p:sp>
        <p:nvSpPr>
          <p:cNvPr id="14" name="Text 12"/>
          <p:cNvSpPr/>
          <p:nvPr/>
        </p:nvSpPr>
        <p:spPr>
          <a:xfrm>
            <a:off x="3031255" y="2117229"/>
            <a:ext cx="8913193" cy="302419"/>
          </a:xfrm>
          <a:prstGeom prst="rect">
            <a:avLst/>
          </a:prstGeom>
          <a:noFill/>
          <a:ln/>
        </p:spPr>
        <p:txBody>
          <a:bodyPr wrap="none" lIns="0" tIns="0" rIns="0" bIns="0" rtlCol="0" anchor="t"/>
          <a:lstStyle/>
          <a:p>
            <a:pPr marL="0" indent="0" algn="l">
              <a:lnSpc>
                <a:spcPct val="133000"/>
              </a:lnSpc>
              <a:buNone/>
            </a:pPr>
            <a:r>
              <a:rPr lang="en-US" sz="1450" b="1" dirty="0">
                <a:solidFill>
                  <a:srgbClr val="FFFFFF"/>
                </a:solidFill>
                <a:latin typeface="Roboto Bold" pitchFamily="34" charset="0"/>
                <a:ea typeface="Roboto Bold" pitchFamily="34" charset="-122"/>
                <a:cs typeface="Roboto Bold" pitchFamily="34" charset="-120"/>
              </a:rPr>
              <a:t>Attributes</a:t>
            </a:r>
            <a:endParaRPr lang="en-US" sz="1450" dirty="0"/>
          </a:p>
        </p:txBody>
      </p:sp>
      <p:sp>
        <p:nvSpPr>
          <p:cNvPr id="15" name="Text 13"/>
          <p:cNvSpPr/>
          <p:nvPr/>
        </p:nvSpPr>
        <p:spPr>
          <a:xfrm>
            <a:off x="856931" y="2665512"/>
            <a:ext cx="2399545"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Customer</a:t>
            </a:r>
            <a:endParaRPr lang="en-US" sz="1450" dirty="0"/>
          </a:p>
        </p:txBody>
      </p:sp>
      <p:sp>
        <p:nvSpPr>
          <p:cNvPr id="16" name="Text 14"/>
          <p:cNvSpPr/>
          <p:nvPr/>
        </p:nvSpPr>
        <p:spPr>
          <a:xfrm>
            <a:off x="3031255" y="2665512"/>
            <a:ext cx="8913193"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Customer_ID, Name, Date_of_Birth, Gender, Phone, Email, Address</a:t>
            </a:r>
            <a:endParaRPr lang="en-US" sz="1450" dirty="0"/>
          </a:p>
        </p:txBody>
      </p:sp>
      <p:sp>
        <p:nvSpPr>
          <p:cNvPr id="17" name="Text 15"/>
          <p:cNvSpPr/>
          <p:nvPr/>
        </p:nvSpPr>
        <p:spPr>
          <a:xfrm>
            <a:off x="856931" y="3213795"/>
            <a:ext cx="2399545"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Account</a:t>
            </a:r>
            <a:endParaRPr lang="en-US" sz="1450" dirty="0"/>
          </a:p>
        </p:txBody>
      </p:sp>
      <p:sp>
        <p:nvSpPr>
          <p:cNvPr id="18" name="Text 16"/>
          <p:cNvSpPr/>
          <p:nvPr/>
        </p:nvSpPr>
        <p:spPr>
          <a:xfrm>
            <a:off x="3031255" y="3213795"/>
            <a:ext cx="8913193" cy="302419"/>
          </a:xfrm>
          <a:prstGeom prst="rect">
            <a:avLst/>
          </a:prstGeom>
          <a:noFill/>
          <a:ln/>
        </p:spPr>
        <p:txBody>
          <a:bodyPr wrap="none" lIns="0" tIns="0" rIns="0" bIns="0" rtlCol="0" anchor="t"/>
          <a:lstStyle/>
          <a:p>
            <a:pPr>
              <a:lnSpc>
                <a:spcPct val="133000"/>
              </a:lnSpc>
            </a:pPr>
            <a:r>
              <a:rPr lang="en-US" sz="1450" dirty="0">
                <a:solidFill>
                  <a:srgbClr val="15213F"/>
                </a:solidFill>
                <a:latin typeface="Roboto" pitchFamily="34" charset="0"/>
                <a:ea typeface="Roboto" pitchFamily="34" charset="-122"/>
                <a:cs typeface="Roboto" pitchFamily="34" charset="-120"/>
              </a:rPr>
              <a:t>Account_Number, Account_Type, Balance, Opening_Date, Customer_ID, </a:t>
            </a:r>
            <a:r>
              <a:rPr lang="en-US" sz="1450" dirty="0" err="1">
                <a:solidFill>
                  <a:srgbClr val="15213F"/>
                </a:solidFill>
                <a:latin typeface="Roboto" pitchFamily="34" charset="0"/>
                <a:ea typeface="Roboto" pitchFamily="34" charset="-122"/>
                <a:cs typeface="Roboto" pitchFamily="34" charset="-120"/>
              </a:rPr>
              <a:t>Branch_ID</a:t>
            </a:r>
            <a:r>
              <a:rPr lang="en-US" sz="1450" dirty="0">
                <a:solidFill>
                  <a:srgbClr val="15213F"/>
                </a:solidFill>
                <a:latin typeface="Roboto" pitchFamily="34" charset="0"/>
                <a:ea typeface="Roboto" pitchFamily="34" charset="-122"/>
                <a:cs typeface="Roboto" pitchFamily="34" charset="-120"/>
              </a:rPr>
              <a:t>, </a:t>
            </a:r>
            <a:r>
              <a:rPr lang="en-IN" sz="1600" dirty="0" err="1">
                <a:latin typeface="Roboto" panose="02000000000000000000" pitchFamily="2" charset="0"/>
                <a:ea typeface="Roboto" panose="02000000000000000000" pitchFamily="2" charset="0"/>
                <a:cs typeface="Roboto" panose="02000000000000000000" pitchFamily="2" charset="0"/>
              </a:rPr>
              <a:t>Account_Status</a:t>
            </a:r>
            <a:endParaRPr lang="en-US" sz="1600" dirty="0">
              <a:latin typeface="Roboto" panose="02000000000000000000" pitchFamily="2" charset="0"/>
              <a:ea typeface="Roboto" panose="02000000000000000000" pitchFamily="2" charset="0"/>
              <a:cs typeface="Roboto" panose="02000000000000000000" pitchFamily="2" charset="0"/>
            </a:endParaRPr>
          </a:p>
          <a:p>
            <a:pPr marL="0" indent="0" algn="l">
              <a:lnSpc>
                <a:spcPct val="133000"/>
              </a:lnSpc>
              <a:buNone/>
            </a:pPr>
            <a:endParaRPr lang="en-US" sz="1450" dirty="0"/>
          </a:p>
        </p:txBody>
      </p:sp>
      <p:sp>
        <p:nvSpPr>
          <p:cNvPr id="19" name="Text 17"/>
          <p:cNvSpPr/>
          <p:nvPr/>
        </p:nvSpPr>
        <p:spPr>
          <a:xfrm>
            <a:off x="856931" y="3762077"/>
            <a:ext cx="2399545"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Branch</a:t>
            </a:r>
            <a:endParaRPr lang="en-US" sz="1450" dirty="0"/>
          </a:p>
        </p:txBody>
      </p:sp>
      <p:sp>
        <p:nvSpPr>
          <p:cNvPr id="20" name="Text 18"/>
          <p:cNvSpPr/>
          <p:nvPr/>
        </p:nvSpPr>
        <p:spPr>
          <a:xfrm>
            <a:off x="3031255" y="3762077"/>
            <a:ext cx="8913193"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Branch_ID, Branch_Name, IFSC_Code, Address, City</a:t>
            </a:r>
            <a:endParaRPr lang="en-US" sz="1450" dirty="0"/>
          </a:p>
        </p:txBody>
      </p:sp>
      <p:sp>
        <p:nvSpPr>
          <p:cNvPr id="21" name="Text 19"/>
          <p:cNvSpPr/>
          <p:nvPr/>
        </p:nvSpPr>
        <p:spPr>
          <a:xfrm>
            <a:off x="856931" y="4310360"/>
            <a:ext cx="2399545"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Employee</a:t>
            </a:r>
            <a:endParaRPr lang="en-US" sz="1450" dirty="0"/>
          </a:p>
        </p:txBody>
      </p:sp>
      <p:sp>
        <p:nvSpPr>
          <p:cNvPr id="22" name="Text 20"/>
          <p:cNvSpPr/>
          <p:nvPr/>
        </p:nvSpPr>
        <p:spPr>
          <a:xfrm>
            <a:off x="3031255" y="4310360"/>
            <a:ext cx="8913193"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Employee_ID, Employee_Name, Designation, Phone, Branch_ID</a:t>
            </a:r>
            <a:endParaRPr lang="en-US" sz="1450" dirty="0"/>
          </a:p>
        </p:txBody>
      </p:sp>
      <p:sp>
        <p:nvSpPr>
          <p:cNvPr id="23" name="Text 21"/>
          <p:cNvSpPr/>
          <p:nvPr/>
        </p:nvSpPr>
        <p:spPr>
          <a:xfrm>
            <a:off x="856931" y="4858643"/>
            <a:ext cx="2399545"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Transaction</a:t>
            </a:r>
            <a:endParaRPr lang="en-US" sz="1450" dirty="0"/>
          </a:p>
        </p:txBody>
      </p:sp>
      <p:sp>
        <p:nvSpPr>
          <p:cNvPr id="24" name="Text 22"/>
          <p:cNvSpPr/>
          <p:nvPr/>
        </p:nvSpPr>
        <p:spPr>
          <a:xfrm>
            <a:off x="3031255" y="4858643"/>
            <a:ext cx="8913193"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Transaction_ID, Account_Number, Transaction_Type, Amount, Transaction_Date, Status</a:t>
            </a:r>
            <a:endParaRPr lang="en-US" sz="1450" dirty="0"/>
          </a:p>
        </p:txBody>
      </p:sp>
      <p:sp>
        <p:nvSpPr>
          <p:cNvPr id="25" name="Text 23"/>
          <p:cNvSpPr/>
          <p:nvPr/>
        </p:nvSpPr>
        <p:spPr>
          <a:xfrm>
            <a:off x="856931" y="5406926"/>
            <a:ext cx="2399545" cy="302419"/>
          </a:xfrm>
          <a:prstGeom prst="rect">
            <a:avLst/>
          </a:prstGeom>
          <a:noFill/>
          <a:ln/>
        </p:spPr>
        <p:txBody>
          <a:bodyPr wrap="none" lIns="0" tIns="0" rIns="0" bIns="0" rtlCol="0" anchor="t"/>
          <a:lstStyle/>
          <a:p>
            <a:pPr marL="0" indent="0" algn="l">
              <a:lnSpc>
                <a:spcPct val="133000"/>
              </a:lnSpc>
              <a:buNone/>
            </a:pPr>
            <a:r>
              <a:rPr lang="en-US" sz="1450" b="1" dirty="0">
                <a:solidFill>
                  <a:srgbClr val="15213F"/>
                </a:solidFill>
                <a:latin typeface="Roboto Bold" pitchFamily="34" charset="0"/>
                <a:ea typeface="Roboto Bold" pitchFamily="34" charset="-122"/>
                <a:cs typeface="Roboto Bold" pitchFamily="34" charset="-120"/>
              </a:rPr>
              <a:t>Loan</a:t>
            </a:r>
            <a:endParaRPr lang="en-US" sz="1450" dirty="0"/>
          </a:p>
        </p:txBody>
      </p:sp>
      <p:sp>
        <p:nvSpPr>
          <p:cNvPr id="26" name="Text 24"/>
          <p:cNvSpPr/>
          <p:nvPr/>
        </p:nvSpPr>
        <p:spPr>
          <a:xfrm>
            <a:off x="3031255" y="5406926"/>
            <a:ext cx="8913193"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Loan_ID, Loan_Type, Loan_Amount, Interest_Rate, Customer_ID</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720030"/>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Relationships Between Entities</a:t>
            </a:r>
            <a:endParaRPr lang="en-US" sz="3700" dirty="0"/>
          </a:p>
        </p:txBody>
      </p:sp>
      <p:sp>
        <p:nvSpPr>
          <p:cNvPr id="3" name="Shape 1"/>
          <p:cNvSpPr/>
          <p:nvPr/>
        </p:nvSpPr>
        <p:spPr>
          <a:xfrm>
            <a:off x="661475" y="1688703"/>
            <a:ext cx="10868745" cy="3583477"/>
          </a:xfrm>
          <a:prstGeom prst="roundRect">
            <a:avLst>
              <a:gd name="adj" fmla="val 637"/>
            </a:avLst>
          </a:prstGeom>
          <a:noFill/>
          <a:ln w="6350">
            <a:solidFill>
              <a:srgbClr val="000000">
                <a:alpha val="8000"/>
              </a:srgbClr>
            </a:solidFill>
            <a:prstDash val="solid"/>
          </a:ln>
        </p:spPr>
      </p:sp>
      <p:sp>
        <p:nvSpPr>
          <p:cNvPr id="4" name="Shape 2"/>
          <p:cNvSpPr/>
          <p:nvPr/>
        </p:nvSpPr>
        <p:spPr>
          <a:xfrm>
            <a:off x="661475" y="2542580"/>
            <a:ext cx="10868745" cy="11814"/>
          </a:xfrm>
          <a:prstGeom prst="rect">
            <a:avLst/>
          </a:prstGeom>
          <a:solidFill>
            <a:srgbClr val="000000">
              <a:alpha val="8000"/>
            </a:srgbClr>
          </a:solidFill>
          <a:ln/>
        </p:spPr>
      </p:sp>
      <p:sp>
        <p:nvSpPr>
          <p:cNvPr id="5" name="Shape 3"/>
          <p:cNvSpPr/>
          <p:nvPr/>
        </p:nvSpPr>
        <p:spPr>
          <a:xfrm>
            <a:off x="661475" y="3090863"/>
            <a:ext cx="10868745" cy="11814"/>
          </a:xfrm>
          <a:prstGeom prst="rect">
            <a:avLst/>
          </a:prstGeom>
          <a:solidFill>
            <a:srgbClr val="000000">
              <a:alpha val="8000"/>
            </a:srgbClr>
          </a:solidFill>
          <a:ln/>
        </p:spPr>
      </p:sp>
      <p:sp>
        <p:nvSpPr>
          <p:cNvPr id="6" name="Shape 4"/>
          <p:cNvSpPr/>
          <p:nvPr/>
        </p:nvSpPr>
        <p:spPr>
          <a:xfrm>
            <a:off x="661475" y="3639145"/>
            <a:ext cx="10868745" cy="11814"/>
          </a:xfrm>
          <a:prstGeom prst="rect">
            <a:avLst/>
          </a:prstGeom>
          <a:solidFill>
            <a:srgbClr val="000000">
              <a:alpha val="8000"/>
            </a:srgbClr>
          </a:solidFill>
          <a:ln/>
        </p:spPr>
      </p:sp>
      <p:sp>
        <p:nvSpPr>
          <p:cNvPr id="7" name="Shape 5"/>
          <p:cNvSpPr/>
          <p:nvPr/>
        </p:nvSpPr>
        <p:spPr>
          <a:xfrm>
            <a:off x="661475" y="4187428"/>
            <a:ext cx="10868745" cy="11814"/>
          </a:xfrm>
          <a:prstGeom prst="rect">
            <a:avLst/>
          </a:prstGeom>
          <a:solidFill>
            <a:srgbClr val="000000">
              <a:alpha val="8000"/>
            </a:srgbClr>
          </a:solidFill>
          <a:ln/>
        </p:spPr>
      </p:sp>
      <p:sp>
        <p:nvSpPr>
          <p:cNvPr id="8" name="Shape 6"/>
          <p:cNvSpPr/>
          <p:nvPr/>
        </p:nvSpPr>
        <p:spPr>
          <a:xfrm>
            <a:off x="661475" y="4735711"/>
            <a:ext cx="10868745" cy="11814"/>
          </a:xfrm>
          <a:prstGeom prst="rect">
            <a:avLst/>
          </a:prstGeom>
          <a:solidFill>
            <a:srgbClr val="000000">
              <a:alpha val="8000"/>
            </a:srgbClr>
          </a:solidFill>
          <a:ln/>
        </p:spPr>
      </p:sp>
      <p:sp>
        <p:nvSpPr>
          <p:cNvPr id="9" name="Shape 7"/>
          <p:cNvSpPr/>
          <p:nvPr/>
        </p:nvSpPr>
        <p:spPr>
          <a:xfrm>
            <a:off x="661475" y="5283994"/>
            <a:ext cx="10868745" cy="11814"/>
          </a:xfrm>
          <a:prstGeom prst="rect">
            <a:avLst/>
          </a:prstGeom>
          <a:solidFill>
            <a:srgbClr val="000000">
              <a:alpha val="8000"/>
            </a:srgbClr>
          </a:solidFill>
          <a:ln/>
        </p:spPr>
      </p:sp>
      <p:sp>
        <p:nvSpPr>
          <p:cNvPr id="10" name="Shape 8"/>
          <p:cNvSpPr/>
          <p:nvPr/>
        </p:nvSpPr>
        <p:spPr>
          <a:xfrm flipH="1">
            <a:off x="2576269" y="1688704"/>
            <a:ext cx="45719" cy="3480594"/>
          </a:xfrm>
          <a:prstGeom prst="rect">
            <a:avLst/>
          </a:prstGeom>
          <a:solidFill>
            <a:srgbClr val="000000">
              <a:alpha val="8000"/>
            </a:srgbClr>
          </a:solidFill>
          <a:ln/>
        </p:spPr>
      </p:sp>
      <p:sp>
        <p:nvSpPr>
          <p:cNvPr id="11" name="Shape 9"/>
          <p:cNvSpPr/>
          <p:nvPr/>
        </p:nvSpPr>
        <p:spPr>
          <a:xfrm flipH="1">
            <a:off x="4530334" y="1688704"/>
            <a:ext cx="45719" cy="3480594"/>
          </a:xfrm>
          <a:prstGeom prst="rect">
            <a:avLst/>
          </a:prstGeom>
          <a:solidFill>
            <a:srgbClr val="000000">
              <a:alpha val="8000"/>
            </a:srgbClr>
          </a:solidFill>
          <a:ln/>
        </p:spPr>
      </p:sp>
      <p:sp>
        <p:nvSpPr>
          <p:cNvPr id="12" name="Shape 10"/>
          <p:cNvSpPr/>
          <p:nvPr/>
        </p:nvSpPr>
        <p:spPr>
          <a:xfrm>
            <a:off x="5878761" y="1688703"/>
            <a:ext cx="45719" cy="3595291"/>
          </a:xfrm>
          <a:prstGeom prst="rect">
            <a:avLst/>
          </a:prstGeom>
          <a:solidFill>
            <a:srgbClr val="000000">
              <a:alpha val="8000"/>
            </a:srgbClr>
          </a:solidFill>
          <a:ln/>
        </p:spPr>
      </p:sp>
      <p:sp>
        <p:nvSpPr>
          <p:cNvPr id="13" name="Shape 11"/>
          <p:cNvSpPr/>
          <p:nvPr/>
        </p:nvSpPr>
        <p:spPr>
          <a:xfrm>
            <a:off x="667924" y="1695053"/>
            <a:ext cx="1954064" cy="847527"/>
          </a:xfrm>
          <a:custGeom>
            <a:avLst/>
            <a:gdLst/>
            <a:ahLst/>
            <a:cxnLst/>
            <a:rect l="l" t="t" r="r" b="b"/>
            <a:pathLst>
              <a:path w="1954064" h="847527">
                <a:moveTo>
                  <a:pt x="23627" y="0"/>
                </a:moveTo>
                <a:lnTo>
                  <a:pt x="1954064" y="0"/>
                </a:lnTo>
                <a:lnTo>
                  <a:pt x="1954064" y="847527"/>
                </a:lnTo>
                <a:lnTo>
                  <a:pt x="0" y="847527"/>
                </a:lnTo>
                <a:lnTo>
                  <a:pt x="0" y="23628"/>
                </a:lnTo>
                <a:arcTo wR="23627" hR="23628" stAng="10800000" swAng="5400000"/>
                <a:close/>
              </a:path>
            </a:pathLst>
          </a:custGeom>
          <a:solidFill>
            <a:srgbClr val="3257B8"/>
          </a:solidFill>
          <a:ln/>
        </p:spPr>
      </p:sp>
      <p:sp>
        <p:nvSpPr>
          <p:cNvPr id="14" name="Text 12"/>
          <p:cNvSpPr/>
          <p:nvPr/>
        </p:nvSpPr>
        <p:spPr>
          <a:xfrm>
            <a:off x="856931" y="1814810"/>
            <a:ext cx="2182460" cy="302419"/>
          </a:xfrm>
          <a:prstGeom prst="rect">
            <a:avLst/>
          </a:prstGeom>
          <a:noFill/>
          <a:ln/>
        </p:spPr>
        <p:txBody>
          <a:bodyPr wrap="none" lIns="0" tIns="0" rIns="0" bIns="0" rtlCol="0" anchor="t"/>
          <a:lstStyle/>
          <a:p>
            <a:pPr marL="0" indent="0" algn="l">
              <a:lnSpc>
                <a:spcPct val="133000"/>
              </a:lnSpc>
              <a:buNone/>
            </a:pPr>
            <a:r>
              <a:rPr lang="en-US" sz="1450" b="1" dirty="0">
                <a:solidFill>
                  <a:srgbClr val="FFFFFF"/>
                </a:solidFill>
                <a:latin typeface="Roboto Bold" pitchFamily="34" charset="0"/>
                <a:ea typeface="Roboto Bold" pitchFamily="34" charset="-122"/>
                <a:cs typeface="Roboto Bold" pitchFamily="34" charset="-120"/>
              </a:rPr>
              <a:t>Entity 1</a:t>
            </a:r>
            <a:endParaRPr lang="en-US" sz="1450" dirty="0"/>
          </a:p>
        </p:txBody>
      </p:sp>
      <p:sp>
        <p:nvSpPr>
          <p:cNvPr id="15" name="Shape 13"/>
          <p:cNvSpPr/>
          <p:nvPr/>
        </p:nvSpPr>
        <p:spPr>
          <a:xfrm>
            <a:off x="2621988" y="1695053"/>
            <a:ext cx="1954064" cy="847527"/>
          </a:xfrm>
          <a:prstGeom prst="rect">
            <a:avLst/>
          </a:prstGeom>
          <a:solidFill>
            <a:srgbClr val="3257B8"/>
          </a:solidFill>
          <a:ln/>
        </p:spPr>
      </p:sp>
      <p:sp>
        <p:nvSpPr>
          <p:cNvPr id="16" name="Text 14"/>
          <p:cNvSpPr/>
          <p:nvPr/>
        </p:nvSpPr>
        <p:spPr>
          <a:xfrm>
            <a:off x="2814170" y="1814810"/>
            <a:ext cx="2179285" cy="302419"/>
          </a:xfrm>
          <a:prstGeom prst="rect">
            <a:avLst/>
          </a:prstGeom>
          <a:noFill/>
          <a:ln/>
        </p:spPr>
        <p:txBody>
          <a:bodyPr wrap="none" lIns="0" tIns="0" rIns="0" bIns="0" rtlCol="0" anchor="t"/>
          <a:lstStyle/>
          <a:p>
            <a:pPr marL="0" indent="0" algn="l">
              <a:lnSpc>
                <a:spcPct val="133000"/>
              </a:lnSpc>
              <a:buNone/>
            </a:pPr>
            <a:r>
              <a:rPr lang="en-US" sz="1450" b="1" dirty="0">
                <a:solidFill>
                  <a:srgbClr val="FFFFFF"/>
                </a:solidFill>
                <a:latin typeface="Roboto Bold" pitchFamily="34" charset="0"/>
                <a:ea typeface="Roboto Bold" pitchFamily="34" charset="-122"/>
                <a:cs typeface="Roboto Bold" pitchFamily="34" charset="-120"/>
              </a:rPr>
              <a:t>Entity 2</a:t>
            </a:r>
            <a:endParaRPr lang="en-US" sz="1450" dirty="0"/>
          </a:p>
        </p:txBody>
      </p:sp>
      <p:sp>
        <p:nvSpPr>
          <p:cNvPr id="17" name="Shape 15"/>
          <p:cNvSpPr/>
          <p:nvPr/>
        </p:nvSpPr>
        <p:spPr>
          <a:xfrm>
            <a:off x="4576053" y="1695053"/>
            <a:ext cx="1302710" cy="847527"/>
          </a:xfrm>
          <a:prstGeom prst="rect">
            <a:avLst/>
          </a:prstGeom>
          <a:solidFill>
            <a:srgbClr val="3257B8"/>
          </a:solidFill>
          <a:ln/>
        </p:spPr>
      </p:sp>
      <p:sp>
        <p:nvSpPr>
          <p:cNvPr id="18" name="Text 16"/>
          <p:cNvSpPr/>
          <p:nvPr/>
        </p:nvSpPr>
        <p:spPr>
          <a:xfrm>
            <a:off x="4768235" y="1814810"/>
            <a:ext cx="918346" cy="604838"/>
          </a:xfrm>
          <a:prstGeom prst="rect">
            <a:avLst/>
          </a:prstGeom>
          <a:noFill/>
          <a:ln/>
        </p:spPr>
        <p:txBody>
          <a:bodyPr wrap="square" lIns="0" tIns="0" rIns="0" bIns="0" rtlCol="0" anchor="t">
            <a:normAutofit/>
          </a:bodyPr>
          <a:lstStyle/>
          <a:p>
            <a:pPr marL="0" indent="0" algn="l">
              <a:lnSpc>
                <a:spcPct val="133000"/>
              </a:lnSpc>
              <a:buNone/>
            </a:pPr>
            <a:r>
              <a:rPr lang="en-US" sz="1450" b="1" dirty="0">
                <a:solidFill>
                  <a:srgbClr val="FFFFFF"/>
                </a:solidFill>
                <a:latin typeface="Roboto Bold" pitchFamily="34" charset="0"/>
                <a:ea typeface="Roboto Bold" pitchFamily="34" charset="-122"/>
                <a:cs typeface="Roboto Bold" pitchFamily="34" charset="-120"/>
              </a:rPr>
              <a:t>Relationship</a:t>
            </a:r>
            <a:endParaRPr lang="en-US" sz="1450" dirty="0"/>
          </a:p>
        </p:txBody>
      </p:sp>
      <p:sp>
        <p:nvSpPr>
          <p:cNvPr id="19" name="Shape 17"/>
          <p:cNvSpPr/>
          <p:nvPr/>
        </p:nvSpPr>
        <p:spPr>
          <a:xfrm>
            <a:off x="5878762" y="1695053"/>
            <a:ext cx="5645108" cy="847527"/>
          </a:xfrm>
          <a:custGeom>
            <a:avLst/>
            <a:gdLst/>
            <a:ahLst/>
            <a:cxnLst/>
            <a:rect l="l" t="t" r="r" b="b"/>
            <a:pathLst>
              <a:path w="5645108" h="847527">
                <a:moveTo>
                  <a:pt x="0" y="0"/>
                </a:moveTo>
                <a:lnTo>
                  <a:pt x="5621481" y="0"/>
                </a:lnTo>
                <a:arcTo wR="23627" hR="23628" stAng="16200000" swAng="5400000"/>
                <a:lnTo>
                  <a:pt x="5645108" y="847527"/>
                </a:lnTo>
                <a:lnTo>
                  <a:pt x="0" y="847527"/>
                </a:lnTo>
                <a:lnTo>
                  <a:pt x="0" y="0"/>
                </a:lnTo>
                <a:close/>
              </a:path>
            </a:pathLst>
          </a:custGeom>
          <a:solidFill>
            <a:srgbClr val="3257B8"/>
          </a:solidFill>
          <a:ln/>
        </p:spPr>
      </p:sp>
      <p:sp>
        <p:nvSpPr>
          <p:cNvPr id="20" name="Text 18"/>
          <p:cNvSpPr/>
          <p:nvPr/>
        </p:nvSpPr>
        <p:spPr>
          <a:xfrm>
            <a:off x="6070944" y="1814810"/>
            <a:ext cx="5873504" cy="302419"/>
          </a:xfrm>
          <a:prstGeom prst="rect">
            <a:avLst/>
          </a:prstGeom>
          <a:noFill/>
          <a:ln/>
        </p:spPr>
        <p:txBody>
          <a:bodyPr wrap="none" lIns="0" tIns="0" rIns="0" bIns="0" rtlCol="0" anchor="t"/>
          <a:lstStyle/>
          <a:p>
            <a:pPr marL="0" indent="0" algn="l">
              <a:lnSpc>
                <a:spcPct val="133000"/>
              </a:lnSpc>
              <a:buNone/>
            </a:pPr>
            <a:r>
              <a:rPr lang="en-US" sz="1450" b="1" dirty="0">
                <a:solidFill>
                  <a:srgbClr val="FFFFFF"/>
                </a:solidFill>
                <a:latin typeface="Roboto Bold" pitchFamily="34" charset="0"/>
                <a:ea typeface="Roboto Bold" pitchFamily="34" charset="-122"/>
                <a:cs typeface="Roboto Bold" pitchFamily="34" charset="-120"/>
              </a:rPr>
              <a:t>What it Means</a:t>
            </a:r>
            <a:endParaRPr lang="en-US" sz="1450" dirty="0"/>
          </a:p>
        </p:txBody>
      </p:sp>
      <p:sp>
        <p:nvSpPr>
          <p:cNvPr id="21" name="Shape 19"/>
          <p:cNvSpPr/>
          <p:nvPr/>
        </p:nvSpPr>
        <p:spPr>
          <a:xfrm>
            <a:off x="667924" y="2542580"/>
            <a:ext cx="1954064" cy="548283"/>
          </a:xfrm>
          <a:prstGeom prst="rect">
            <a:avLst/>
          </a:prstGeom>
          <a:solidFill>
            <a:srgbClr val="F4F7FB"/>
          </a:solidFill>
          <a:ln/>
        </p:spPr>
      </p:sp>
      <p:sp>
        <p:nvSpPr>
          <p:cNvPr id="22" name="Text 20"/>
          <p:cNvSpPr/>
          <p:nvPr/>
        </p:nvSpPr>
        <p:spPr>
          <a:xfrm>
            <a:off x="856931" y="2665512"/>
            <a:ext cx="218246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Customer</a:t>
            </a:r>
            <a:endParaRPr lang="en-US" sz="1450" dirty="0"/>
          </a:p>
        </p:txBody>
      </p:sp>
      <p:sp>
        <p:nvSpPr>
          <p:cNvPr id="23" name="Shape 21"/>
          <p:cNvSpPr/>
          <p:nvPr/>
        </p:nvSpPr>
        <p:spPr>
          <a:xfrm>
            <a:off x="2621988" y="2542580"/>
            <a:ext cx="1954064" cy="548283"/>
          </a:xfrm>
          <a:prstGeom prst="rect">
            <a:avLst/>
          </a:prstGeom>
          <a:solidFill>
            <a:srgbClr val="F4F7FB"/>
          </a:solidFill>
          <a:ln/>
        </p:spPr>
      </p:sp>
      <p:sp>
        <p:nvSpPr>
          <p:cNvPr id="24" name="Text 22"/>
          <p:cNvSpPr/>
          <p:nvPr/>
        </p:nvSpPr>
        <p:spPr>
          <a:xfrm>
            <a:off x="2814170" y="2665512"/>
            <a:ext cx="2179285"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Account</a:t>
            </a:r>
            <a:endParaRPr lang="en-US" sz="1450" dirty="0"/>
          </a:p>
        </p:txBody>
      </p:sp>
      <p:sp>
        <p:nvSpPr>
          <p:cNvPr id="25" name="Shape 23"/>
          <p:cNvSpPr/>
          <p:nvPr/>
        </p:nvSpPr>
        <p:spPr>
          <a:xfrm>
            <a:off x="4576053" y="2542580"/>
            <a:ext cx="1302710" cy="548283"/>
          </a:xfrm>
          <a:prstGeom prst="rect">
            <a:avLst/>
          </a:prstGeom>
          <a:solidFill>
            <a:srgbClr val="F4F7FB"/>
          </a:solidFill>
          <a:ln/>
        </p:spPr>
        <p:txBody>
          <a:bodyPr/>
          <a:lstStyle/>
          <a:p>
            <a:endParaRPr lang="en-IN" dirty="0"/>
          </a:p>
        </p:txBody>
      </p:sp>
      <p:sp>
        <p:nvSpPr>
          <p:cNvPr id="26" name="Text 24"/>
          <p:cNvSpPr/>
          <p:nvPr/>
        </p:nvSpPr>
        <p:spPr>
          <a:xfrm>
            <a:off x="4768235" y="2665512"/>
            <a:ext cx="1527931"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1:M</a:t>
            </a:r>
            <a:endParaRPr lang="en-US" sz="1450" dirty="0"/>
          </a:p>
        </p:txBody>
      </p:sp>
      <p:sp>
        <p:nvSpPr>
          <p:cNvPr id="27" name="Shape 25"/>
          <p:cNvSpPr/>
          <p:nvPr/>
        </p:nvSpPr>
        <p:spPr>
          <a:xfrm>
            <a:off x="5878762" y="2542580"/>
            <a:ext cx="5645108" cy="548283"/>
          </a:xfrm>
          <a:prstGeom prst="rect">
            <a:avLst/>
          </a:prstGeom>
          <a:solidFill>
            <a:srgbClr val="F4F7FB"/>
          </a:solidFill>
          <a:ln/>
        </p:spPr>
      </p:sp>
      <p:sp>
        <p:nvSpPr>
          <p:cNvPr id="28" name="Text 26"/>
          <p:cNvSpPr/>
          <p:nvPr/>
        </p:nvSpPr>
        <p:spPr>
          <a:xfrm>
            <a:off x="6070944" y="2665512"/>
            <a:ext cx="5873504"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A single customer may hold multiple bank accounts.</a:t>
            </a:r>
            <a:endParaRPr lang="en-US" sz="1450" dirty="0"/>
          </a:p>
        </p:txBody>
      </p:sp>
      <p:sp>
        <p:nvSpPr>
          <p:cNvPr id="29" name="Text 27"/>
          <p:cNvSpPr/>
          <p:nvPr/>
        </p:nvSpPr>
        <p:spPr>
          <a:xfrm>
            <a:off x="856931" y="3213795"/>
            <a:ext cx="2182460"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Branch</a:t>
            </a:r>
            <a:endParaRPr lang="en-US" sz="1450" dirty="0"/>
          </a:p>
        </p:txBody>
      </p:sp>
      <p:sp>
        <p:nvSpPr>
          <p:cNvPr id="30" name="Text 28"/>
          <p:cNvSpPr/>
          <p:nvPr/>
        </p:nvSpPr>
        <p:spPr>
          <a:xfrm>
            <a:off x="2814170" y="3213795"/>
            <a:ext cx="2179285"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Account</a:t>
            </a:r>
            <a:endParaRPr lang="en-US" sz="1450" dirty="0"/>
          </a:p>
        </p:txBody>
      </p:sp>
      <p:sp>
        <p:nvSpPr>
          <p:cNvPr id="31" name="Text 29"/>
          <p:cNvSpPr/>
          <p:nvPr/>
        </p:nvSpPr>
        <p:spPr>
          <a:xfrm>
            <a:off x="4768235" y="3213795"/>
            <a:ext cx="1527931"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1:M</a:t>
            </a:r>
            <a:endParaRPr lang="en-US" sz="1450" dirty="0"/>
          </a:p>
        </p:txBody>
      </p:sp>
      <p:sp>
        <p:nvSpPr>
          <p:cNvPr id="32" name="Text 30"/>
          <p:cNvSpPr/>
          <p:nvPr/>
        </p:nvSpPr>
        <p:spPr>
          <a:xfrm>
            <a:off x="6070944" y="3213795"/>
            <a:ext cx="5873504"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Each branch services many customer accounts.</a:t>
            </a:r>
            <a:endParaRPr lang="en-US" sz="1450" dirty="0"/>
          </a:p>
        </p:txBody>
      </p:sp>
      <p:sp>
        <p:nvSpPr>
          <p:cNvPr id="33" name="Shape 31"/>
          <p:cNvSpPr/>
          <p:nvPr/>
        </p:nvSpPr>
        <p:spPr>
          <a:xfrm>
            <a:off x="667924" y="3639145"/>
            <a:ext cx="1954064" cy="548283"/>
          </a:xfrm>
          <a:prstGeom prst="rect">
            <a:avLst/>
          </a:prstGeom>
          <a:solidFill>
            <a:srgbClr val="F4F7FB"/>
          </a:solidFill>
          <a:ln/>
        </p:spPr>
      </p:sp>
      <p:sp>
        <p:nvSpPr>
          <p:cNvPr id="34" name="Text 32"/>
          <p:cNvSpPr/>
          <p:nvPr/>
        </p:nvSpPr>
        <p:spPr>
          <a:xfrm>
            <a:off x="856931" y="3762077"/>
            <a:ext cx="218246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Branch</a:t>
            </a:r>
            <a:endParaRPr lang="en-US" sz="1450" dirty="0"/>
          </a:p>
        </p:txBody>
      </p:sp>
      <p:sp>
        <p:nvSpPr>
          <p:cNvPr id="35" name="Shape 33"/>
          <p:cNvSpPr/>
          <p:nvPr/>
        </p:nvSpPr>
        <p:spPr>
          <a:xfrm>
            <a:off x="2621988" y="3639145"/>
            <a:ext cx="1954064" cy="548283"/>
          </a:xfrm>
          <a:prstGeom prst="rect">
            <a:avLst/>
          </a:prstGeom>
          <a:solidFill>
            <a:srgbClr val="F4F7FB"/>
          </a:solidFill>
          <a:ln/>
        </p:spPr>
      </p:sp>
      <p:sp>
        <p:nvSpPr>
          <p:cNvPr id="36" name="Text 34"/>
          <p:cNvSpPr/>
          <p:nvPr/>
        </p:nvSpPr>
        <p:spPr>
          <a:xfrm>
            <a:off x="2814170" y="3762077"/>
            <a:ext cx="2179285"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Employee</a:t>
            </a:r>
            <a:endParaRPr lang="en-US" sz="1450" dirty="0"/>
          </a:p>
        </p:txBody>
      </p:sp>
      <p:sp>
        <p:nvSpPr>
          <p:cNvPr id="37" name="Shape 35"/>
          <p:cNvSpPr/>
          <p:nvPr/>
        </p:nvSpPr>
        <p:spPr>
          <a:xfrm>
            <a:off x="4576053" y="3639145"/>
            <a:ext cx="1302710" cy="548283"/>
          </a:xfrm>
          <a:prstGeom prst="rect">
            <a:avLst/>
          </a:prstGeom>
          <a:solidFill>
            <a:srgbClr val="F4F7FB"/>
          </a:solidFill>
          <a:ln/>
        </p:spPr>
      </p:sp>
      <p:sp>
        <p:nvSpPr>
          <p:cNvPr id="38" name="Text 36"/>
          <p:cNvSpPr/>
          <p:nvPr/>
        </p:nvSpPr>
        <p:spPr>
          <a:xfrm>
            <a:off x="4768235" y="3762077"/>
            <a:ext cx="1527931"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1:M</a:t>
            </a:r>
            <a:endParaRPr lang="en-US" sz="1450" dirty="0"/>
          </a:p>
        </p:txBody>
      </p:sp>
      <p:sp>
        <p:nvSpPr>
          <p:cNvPr id="39" name="Shape 37"/>
          <p:cNvSpPr/>
          <p:nvPr/>
        </p:nvSpPr>
        <p:spPr>
          <a:xfrm>
            <a:off x="5878762" y="3639145"/>
            <a:ext cx="5645108" cy="548283"/>
          </a:xfrm>
          <a:prstGeom prst="rect">
            <a:avLst/>
          </a:prstGeom>
          <a:solidFill>
            <a:srgbClr val="F4F7FB"/>
          </a:solidFill>
          <a:ln/>
        </p:spPr>
      </p:sp>
      <p:sp>
        <p:nvSpPr>
          <p:cNvPr id="40" name="Text 38"/>
          <p:cNvSpPr/>
          <p:nvPr/>
        </p:nvSpPr>
        <p:spPr>
          <a:xfrm>
            <a:off x="6070944" y="3762077"/>
            <a:ext cx="5873504"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Each branch has several employees assigned to it.</a:t>
            </a:r>
            <a:endParaRPr lang="en-US" sz="1450" dirty="0"/>
          </a:p>
        </p:txBody>
      </p:sp>
      <p:sp>
        <p:nvSpPr>
          <p:cNvPr id="41" name="Text 39"/>
          <p:cNvSpPr/>
          <p:nvPr/>
        </p:nvSpPr>
        <p:spPr>
          <a:xfrm>
            <a:off x="856931" y="4310360"/>
            <a:ext cx="2182460"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Account</a:t>
            </a:r>
            <a:endParaRPr lang="en-US" sz="1450" dirty="0"/>
          </a:p>
        </p:txBody>
      </p:sp>
      <p:sp>
        <p:nvSpPr>
          <p:cNvPr id="42" name="Text 40"/>
          <p:cNvSpPr/>
          <p:nvPr/>
        </p:nvSpPr>
        <p:spPr>
          <a:xfrm>
            <a:off x="2814170" y="4310360"/>
            <a:ext cx="2179285"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Transaction</a:t>
            </a:r>
            <a:endParaRPr lang="en-US" sz="1450" dirty="0"/>
          </a:p>
        </p:txBody>
      </p:sp>
      <p:sp>
        <p:nvSpPr>
          <p:cNvPr id="43" name="Text 41"/>
          <p:cNvSpPr/>
          <p:nvPr/>
        </p:nvSpPr>
        <p:spPr>
          <a:xfrm>
            <a:off x="4768235" y="4310360"/>
            <a:ext cx="1527931"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1:M</a:t>
            </a:r>
            <a:endParaRPr lang="en-US" sz="1450" dirty="0"/>
          </a:p>
        </p:txBody>
      </p:sp>
      <p:sp>
        <p:nvSpPr>
          <p:cNvPr id="44" name="Text 42"/>
          <p:cNvSpPr/>
          <p:nvPr/>
        </p:nvSpPr>
        <p:spPr>
          <a:xfrm>
            <a:off x="6070944" y="4310360"/>
            <a:ext cx="5873504" cy="302419"/>
          </a:xfrm>
          <a:prstGeom prst="rect">
            <a:avLst/>
          </a:prstGeom>
          <a:noFill/>
          <a:ln/>
        </p:spPr>
        <p:txBody>
          <a:bodyPr wrap="none" lIns="0" tIns="0" rIns="0" bIns="0" rtlCol="0" anchor="t"/>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Every account can generate many transactions over time.</a:t>
            </a:r>
            <a:endParaRPr lang="en-US" sz="1450" dirty="0"/>
          </a:p>
        </p:txBody>
      </p:sp>
      <p:sp>
        <p:nvSpPr>
          <p:cNvPr id="45" name="Shape 43"/>
          <p:cNvSpPr/>
          <p:nvPr/>
        </p:nvSpPr>
        <p:spPr>
          <a:xfrm>
            <a:off x="667924" y="4735711"/>
            <a:ext cx="1954064" cy="548283"/>
          </a:xfrm>
          <a:prstGeom prst="rect">
            <a:avLst/>
          </a:prstGeom>
          <a:solidFill>
            <a:srgbClr val="F4F7FB"/>
          </a:solidFill>
          <a:ln/>
        </p:spPr>
      </p:sp>
      <p:sp>
        <p:nvSpPr>
          <p:cNvPr id="46" name="Text 44"/>
          <p:cNvSpPr/>
          <p:nvPr/>
        </p:nvSpPr>
        <p:spPr>
          <a:xfrm>
            <a:off x="856931" y="4858643"/>
            <a:ext cx="2182460"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Customer</a:t>
            </a:r>
            <a:endParaRPr lang="en-US" sz="1450" dirty="0"/>
          </a:p>
        </p:txBody>
      </p:sp>
      <p:sp>
        <p:nvSpPr>
          <p:cNvPr id="47" name="Shape 45"/>
          <p:cNvSpPr/>
          <p:nvPr/>
        </p:nvSpPr>
        <p:spPr>
          <a:xfrm>
            <a:off x="2621988" y="4735711"/>
            <a:ext cx="1954064" cy="548283"/>
          </a:xfrm>
          <a:prstGeom prst="rect">
            <a:avLst/>
          </a:prstGeom>
          <a:solidFill>
            <a:srgbClr val="F4F7FB"/>
          </a:solidFill>
          <a:ln/>
        </p:spPr>
      </p:sp>
      <p:sp>
        <p:nvSpPr>
          <p:cNvPr id="48" name="Text 46"/>
          <p:cNvSpPr/>
          <p:nvPr/>
        </p:nvSpPr>
        <p:spPr>
          <a:xfrm>
            <a:off x="2814170" y="4858643"/>
            <a:ext cx="2179285"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Loan</a:t>
            </a:r>
            <a:endParaRPr lang="en-US" sz="1450" dirty="0"/>
          </a:p>
        </p:txBody>
      </p:sp>
      <p:sp>
        <p:nvSpPr>
          <p:cNvPr id="49" name="Shape 47"/>
          <p:cNvSpPr/>
          <p:nvPr/>
        </p:nvSpPr>
        <p:spPr>
          <a:xfrm>
            <a:off x="4576053" y="4735711"/>
            <a:ext cx="1302710" cy="548283"/>
          </a:xfrm>
          <a:prstGeom prst="rect">
            <a:avLst/>
          </a:prstGeom>
          <a:solidFill>
            <a:srgbClr val="F4F7FB"/>
          </a:solidFill>
          <a:ln/>
        </p:spPr>
      </p:sp>
      <p:sp>
        <p:nvSpPr>
          <p:cNvPr id="50" name="Text 48"/>
          <p:cNvSpPr/>
          <p:nvPr/>
        </p:nvSpPr>
        <p:spPr>
          <a:xfrm>
            <a:off x="4768235" y="4858643"/>
            <a:ext cx="1527931"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1:M</a:t>
            </a:r>
            <a:endParaRPr lang="en-US" sz="1450" dirty="0"/>
          </a:p>
        </p:txBody>
      </p:sp>
      <p:sp>
        <p:nvSpPr>
          <p:cNvPr id="51" name="Shape 49"/>
          <p:cNvSpPr/>
          <p:nvPr/>
        </p:nvSpPr>
        <p:spPr>
          <a:xfrm>
            <a:off x="5878762" y="4735711"/>
            <a:ext cx="5645108" cy="548283"/>
          </a:xfrm>
          <a:prstGeom prst="rect">
            <a:avLst/>
          </a:prstGeom>
          <a:solidFill>
            <a:srgbClr val="F4F7FB"/>
          </a:solidFill>
          <a:ln/>
        </p:spPr>
      </p:sp>
      <p:sp>
        <p:nvSpPr>
          <p:cNvPr id="52" name="Text 50"/>
          <p:cNvSpPr/>
          <p:nvPr/>
        </p:nvSpPr>
        <p:spPr>
          <a:xfrm>
            <a:off x="6070944" y="4858643"/>
            <a:ext cx="5873504" cy="302419"/>
          </a:xfrm>
          <a:prstGeom prst="rect">
            <a:avLst/>
          </a:prstGeom>
          <a:noFill/>
          <a:ln/>
        </p:spPr>
        <p:txBody>
          <a:bodyPr wrap="none" lIns="0" tIns="0" rIns="0" bIns="0" rtlCol="0" anchor="t"/>
          <a:lstStyle/>
          <a:p>
            <a:pPr marL="0" indent="0" algn="l">
              <a:lnSpc>
                <a:spcPct val="133000"/>
              </a:lnSpc>
              <a:buNone/>
            </a:pPr>
            <a:r>
              <a:rPr lang="en-US" sz="1450" dirty="0">
                <a:solidFill>
                  <a:srgbClr val="272525"/>
                </a:solidFill>
                <a:latin typeface="Roboto" pitchFamily="34" charset="0"/>
                <a:ea typeface="Roboto" pitchFamily="34" charset="-122"/>
                <a:cs typeface="Roboto" pitchFamily="34" charset="-120"/>
              </a:rPr>
              <a:t>A customer may apply for and hold multiple loans.</a:t>
            </a:r>
            <a:endParaRPr lang="en-US" sz="1450" dirty="0"/>
          </a:p>
        </p:txBody>
      </p:sp>
      <p:sp>
        <p:nvSpPr>
          <p:cNvPr id="53" name="Text 51"/>
          <p:cNvSpPr/>
          <p:nvPr/>
        </p:nvSpPr>
        <p:spPr>
          <a:xfrm>
            <a:off x="856931" y="5406926"/>
            <a:ext cx="2182460" cy="302419"/>
          </a:xfrm>
          <a:prstGeom prst="rect">
            <a:avLst/>
          </a:prstGeom>
          <a:noFill/>
          <a:ln/>
        </p:spPr>
        <p:txBody>
          <a:bodyPr wrap="none" lIns="0" tIns="0" rIns="0" bIns="0" rtlCol="0" anchor="t"/>
          <a:lstStyle/>
          <a:p>
            <a:pPr marL="0" indent="0" algn="l">
              <a:lnSpc>
                <a:spcPct val="133000"/>
              </a:lnSpc>
              <a:buNone/>
            </a:pPr>
            <a:endParaRPr lang="en-US" sz="1450" dirty="0"/>
          </a:p>
        </p:txBody>
      </p:sp>
      <p:sp>
        <p:nvSpPr>
          <p:cNvPr id="55" name="Text 53"/>
          <p:cNvSpPr/>
          <p:nvPr/>
        </p:nvSpPr>
        <p:spPr>
          <a:xfrm>
            <a:off x="4768235" y="5406926"/>
            <a:ext cx="918346" cy="604838"/>
          </a:xfrm>
          <a:prstGeom prst="rect">
            <a:avLst/>
          </a:prstGeom>
          <a:noFill/>
          <a:ln/>
        </p:spPr>
        <p:txBody>
          <a:bodyPr wrap="square" lIns="0" tIns="0" rIns="0" bIns="0" rtlCol="0" anchor="t">
            <a:normAutofit/>
          </a:bodyPr>
          <a:lstStyle/>
          <a:p>
            <a:pPr marL="0" indent="0" algn="l">
              <a:lnSpc>
                <a:spcPct val="133000"/>
              </a:lnSpc>
              <a:buNone/>
            </a:pP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55427"/>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3257B8"/>
                </a:solidFill>
                <a:latin typeface="Roboto Slab" pitchFamily="34" charset="0"/>
                <a:ea typeface="Roboto Slab" pitchFamily="34" charset="-122"/>
                <a:cs typeface="Roboto Slab" pitchFamily="34" charset="-120"/>
              </a:rPr>
              <a:t>Primary Keys &amp; Foreign Keys</a:t>
            </a:r>
            <a:endParaRPr lang="en-US" sz="3500" dirty="0"/>
          </a:p>
        </p:txBody>
      </p:sp>
      <p:sp>
        <p:nvSpPr>
          <p:cNvPr id="3" name="Text 1"/>
          <p:cNvSpPr/>
          <p:nvPr/>
        </p:nvSpPr>
        <p:spPr>
          <a:xfrm>
            <a:off x="661475" y="1184771"/>
            <a:ext cx="10868745" cy="448965"/>
          </a:xfrm>
          <a:prstGeom prst="rect">
            <a:avLst/>
          </a:prstGeom>
          <a:noFill/>
          <a:ln/>
        </p:spPr>
        <p:txBody>
          <a:bodyPr wrap="none" lIns="0" tIns="0" rIns="0" bIns="0" rtlCol="0" anchor="t"/>
          <a:lstStyle/>
          <a:p>
            <a:pPr marL="0" indent="0" algn="l">
              <a:lnSpc>
                <a:spcPct val="104000"/>
              </a:lnSpc>
              <a:buNone/>
            </a:pPr>
            <a:r>
              <a:rPr lang="en-US" sz="2800" dirty="0">
                <a:solidFill>
                  <a:srgbClr val="3257B8"/>
                </a:solidFill>
                <a:latin typeface="Roboto Slab" pitchFamily="34" charset="0"/>
                <a:ea typeface="Roboto Slab" pitchFamily="34" charset="-122"/>
                <a:cs typeface="Roboto Slab" pitchFamily="34" charset="-120"/>
              </a:rPr>
              <a:t>Keys in Our Database</a:t>
            </a:r>
            <a:endParaRPr lang="en-US" sz="2800" dirty="0"/>
          </a:p>
        </p:txBody>
      </p:sp>
      <p:sp>
        <p:nvSpPr>
          <p:cNvPr id="4" name="Shape 2"/>
          <p:cNvSpPr/>
          <p:nvPr/>
        </p:nvSpPr>
        <p:spPr>
          <a:xfrm>
            <a:off x="532097" y="1889621"/>
            <a:ext cx="5474059" cy="3527127"/>
          </a:xfrm>
          <a:prstGeom prst="roundRect">
            <a:avLst>
              <a:gd name="adj" fmla="val 764"/>
            </a:avLst>
          </a:prstGeom>
          <a:solidFill>
            <a:srgbClr val="3257B8"/>
          </a:solidFill>
          <a:ln/>
        </p:spPr>
      </p:sp>
      <p:sp>
        <p:nvSpPr>
          <p:cNvPr id="5" name="Text 3"/>
          <p:cNvSpPr/>
          <p:nvPr/>
        </p:nvSpPr>
        <p:spPr>
          <a:xfrm>
            <a:off x="711579" y="2060178"/>
            <a:ext cx="5115095" cy="280491"/>
          </a:xfrm>
          <a:prstGeom prst="rect">
            <a:avLst/>
          </a:prstGeom>
          <a:noFill/>
          <a:ln/>
        </p:spPr>
        <p:txBody>
          <a:bodyPr wrap="none" lIns="0" tIns="0" rIns="0" bIns="0" rtlCol="0" anchor="t"/>
          <a:lstStyle/>
          <a:p>
            <a:pPr marL="0" indent="0" algn="l">
              <a:lnSpc>
                <a:spcPct val="104000"/>
              </a:lnSpc>
              <a:buNone/>
            </a:pPr>
            <a:r>
              <a:rPr lang="en-US" sz="1750" dirty="0">
                <a:solidFill>
                  <a:srgbClr val="FFFFFF"/>
                </a:solidFill>
                <a:latin typeface="Roboto Slab" pitchFamily="34" charset="0"/>
                <a:ea typeface="Roboto Slab" pitchFamily="34" charset="-122"/>
                <a:cs typeface="Roboto Slab" pitchFamily="34" charset="-120"/>
              </a:rPr>
              <a:t>Primary Key (PK)</a:t>
            </a:r>
            <a:endParaRPr lang="en-US" sz="1750" dirty="0"/>
          </a:p>
        </p:txBody>
      </p:sp>
      <p:sp>
        <p:nvSpPr>
          <p:cNvPr id="6" name="Text 4"/>
          <p:cNvSpPr/>
          <p:nvPr/>
        </p:nvSpPr>
        <p:spPr>
          <a:xfrm>
            <a:off x="711579" y="2511227"/>
            <a:ext cx="5115095" cy="713680"/>
          </a:xfrm>
          <a:prstGeom prst="rect">
            <a:avLst/>
          </a:prstGeom>
          <a:noFill/>
          <a:ln/>
        </p:spPr>
        <p:txBody>
          <a:bodyPr wrap="square" lIns="0" tIns="0" rIns="0" bIns="0" rtlCol="0" anchor="t"/>
          <a:lstStyle/>
          <a:p>
            <a:pPr marL="0" indent="0" algn="l">
              <a:lnSpc>
                <a:spcPct val="130000"/>
              </a:lnSpc>
              <a:spcAft>
                <a:spcPts val="1200"/>
              </a:spcAft>
              <a:buNone/>
            </a:pPr>
            <a:r>
              <a:rPr lang="en-US" sz="1400" dirty="0">
                <a:solidFill>
                  <a:srgbClr val="FFFFFF"/>
                </a:solidFill>
                <a:latin typeface="Roboto" pitchFamily="34" charset="0"/>
                <a:ea typeface="Roboto" pitchFamily="34" charset="-122"/>
                <a:cs typeface="Roboto" pitchFamily="34" charset="-120"/>
              </a:rPr>
              <a:t>Uniquely identifies each record.</a:t>
            </a:r>
            <a:endParaRPr lang="en-US" sz="1400" dirty="0"/>
          </a:p>
          <a:p>
            <a:pPr marL="0" indent="0" algn="l">
              <a:lnSpc>
                <a:spcPct val="130000"/>
              </a:lnSpc>
              <a:buNone/>
            </a:pPr>
            <a:r>
              <a:rPr lang="en-US" sz="1400" b="1" dirty="0">
                <a:solidFill>
                  <a:srgbClr val="FFFFFF"/>
                </a:solidFill>
                <a:latin typeface="Roboto Bold" pitchFamily="34" charset="0"/>
                <a:ea typeface="Roboto Bold" pitchFamily="34" charset="-122"/>
                <a:cs typeface="Roboto Bold" pitchFamily="34" charset="-120"/>
              </a:rPr>
              <a:t>Examples:</a:t>
            </a:r>
            <a:endParaRPr lang="en-US" sz="1400" dirty="0"/>
          </a:p>
        </p:txBody>
      </p:sp>
      <p:sp>
        <p:nvSpPr>
          <p:cNvPr id="7" name="Text 5"/>
          <p:cNvSpPr/>
          <p:nvPr/>
        </p:nvSpPr>
        <p:spPr>
          <a:xfrm>
            <a:off x="711579" y="3378398"/>
            <a:ext cx="5115095" cy="1978720"/>
          </a:xfrm>
          <a:prstGeom prst="rect">
            <a:avLst/>
          </a:prstGeom>
          <a:noFill/>
          <a:ln/>
        </p:spPr>
        <p:txBody>
          <a:bodyPr wrap="square" lIns="0" tIns="0" rIns="0" bIns="0" rtlCol="0" anchor="t">
            <a:normAutofit/>
          </a:bodyPr>
          <a:lstStyle/>
          <a:p>
            <a:pPr marL="284480" indent="-284480" algn="l">
              <a:lnSpc>
                <a:spcPct val="130000"/>
              </a:lnSpc>
              <a:buSzPct val="100000"/>
              <a:buChar char="•"/>
            </a:pPr>
            <a:r>
              <a:rPr lang="en-US" sz="1400" dirty="0">
                <a:solidFill>
                  <a:srgbClr val="FFFFFF"/>
                </a:solidFill>
                <a:latin typeface="Roboto" pitchFamily="34" charset="0"/>
                <a:ea typeface="Roboto" pitchFamily="34" charset="-122"/>
                <a:cs typeface="Roboto" pitchFamily="34" charset="-120"/>
              </a:rPr>
              <a:t>Customer_ID → Customer</a:t>
            </a:r>
            <a:endParaRPr lang="en-US" sz="1400" dirty="0"/>
          </a:p>
          <a:p>
            <a:pPr marL="284480" indent="-284480" algn="l">
              <a:lnSpc>
                <a:spcPct val="130000"/>
              </a:lnSpc>
              <a:buSzPct val="100000"/>
              <a:buChar char="•"/>
            </a:pPr>
            <a:r>
              <a:rPr lang="en-US" sz="1400" dirty="0">
                <a:solidFill>
                  <a:srgbClr val="FFFFFF"/>
                </a:solidFill>
                <a:latin typeface="Roboto" pitchFamily="34" charset="0"/>
                <a:ea typeface="Roboto" pitchFamily="34" charset="-122"/>
                <a:cs typeface="Roboto" pitchFamily="34" charset="-120"/>
              </a:rPr>
              <a:t>Account_Number → Account</a:t>
            </a:r>
            <a:endParaRPr lang="en-US" sz="1400" dirty="0"/>
          </a:p>
          <a:p>
            <a:pPr marL="284480" indent="-284480" algn="l">
              <a:lnSpc>
                <a:spcPct val="130000"/>
              </a:lnSpc>
              <a:buSzPct val="100000"/>
              <a:buChar char="•"/>
            </a:pPr>
            <a:r>
              <a:rPr lang="en-US" sz="1400" dirty="0">
                <a:solidFill>
                  <a:srgbClr val="FFFFFF"/>
                </a:solidFill>
                <a:latin typeface="Roboto" pitchFamily="34" charset="0"/>
                <a:ea typeface="Roboto" pitchFamily="34" charset="-122"/>
                <a:cs typeface="Roboto" pitchFamily="34" charset="-120"/>
              </a:rPr>
              <a:t>Branch_ID → Branch</a:t>
            </a:r>
            <a:endParaRPr lang="en-US" sz="1400" dirty="0"/>
          </a:p>
          <a:p>
            <a:pPr marL="284480" indent="-284480" algn="l">
              <a:lnSpc>
                <a:spcPct val="130000"/>
              </a:lnSpc>
              <a:buSzPct val="100000"/>
              <a:buChar char="•"/>
            </a:pPr>
            <a:r>
              <a:rPr lang="en-US" sz="1400" dirty="0">
                <a:solidFill>
                  <a:srgbClr val="FFFFFF"/>
                </a:solidFill>
                <a:latin typeface="Roboto" pitchFamily="34" charset="0"/>
                <a:ea typeface="Roboto" pitchFamily="34" charset="-122"/>
                <a:cs typeface="Roboto" pitchFamily="34" charset="-120"/>
              </a:rPr>
              <a:t>Employee_ID → Employee</a:t>
            </a:r>
            <a:endParaRPr lang="en-US" sz="1400" dirty="0"/>
          </a:p>
          <a:p>
            <a:pPr marL="284480" indent="-284480" algn="l">
              <a:lnSpc>
                <a:spcPct val="130000"/>
              </a:lnSpc>
              <a:buSzPct val="100000"/>
              <a:buChar char="•"/>
            </a:pPr>
            <a:r>
              <a:rPr lang="en-US" sz="1400" dirty="0">
                <a:solidFill>
                  <a:srgbClr val="FFFFFF"/>
                </a:solidFill>
                <a:latin typeface="Roboto" pitchFamily="34" charset="0"/>
                <a:ea typeface="Roboto" pitchFamily="34" charset="-122"/>
                <a:cs typeface="Roboto" pitchFamily="34" charset="-120"/>
              </a:rPr>
              <a:t>Transaction_ID → Transaction</a:t>
            </a:r>
            <a:endParaRPr lang="en-US" sz="1400" dirty="0"/>
          </a:p>
          <a:p>
            <a:pPr marL="284480" indent="-284480" algn="l">
              <a:lnSpc>
                <a:spcPct val="130000"/>
              </a:lnSpc>
              <a:buSzPct val="100000"/>
              <a:buChar char="•"/>
            </a:pPr>
            <a:r>
              <a:rPr lang="en-US" sz="1400" dirty="0">
                <a:solidFill>
                  <a:srgbClr val="FFFFFF"/>
                </a:solidFill>
                <a:latin typeface="Roboto" pitchFamily="34" charset="0"/>
                <a:ea typeface="Roboto" pitchFamily="34" charset="-122"/>
                <a:cs typeface="Roboto" pitchFamily="34" charset="-120"/>
              </a:rPr>
              <a:t>Loan_ID → Loan</a:t>
            </a:r>
            <a:endParaRPr lang="en-US" sz="1400" dirty="0"/>
          </a:p>
        </p:txBody>
      </p:sp>
      <p:sp>
        <p:nvSpPr>
          <p:cNvPr id="8" name="Text 6"/>
          <p:cNvSpPr/>
          <p:nvPr/>
        </p:nvSpPr>
        <p:spPr>
          <a:xfrm>
            <a:off x="6321267" y="2060178"/>
            <a:ext cx="5215303" cy="280491"/>
          </a:xfrm>
          <a:prstGeom prst="rect">
            <a:avLst/>
          </a:prstGeom>
          <a:noFill/>
          <a:ln/>
        </p:spPr>
        <p:txBody>
          <a:bodyPr wrap="none" lIns="0" tIns="0" rIns="0" bIns="0" rtlCol="0" anchor="t"/>
          <a:lstStyle/>
          <a:p>
            <a:pPr marL="0" indent="0" algn="l">
              <a:lnSpc>
                <a:spcPct val="104000"/>
              </a:lnSpc>
              <a:buNone/>
            </a:pPr>
            <a:r>
              <a:rPr lang="en-US" sz="1750" dirty="0">
                <a:solidFill>
                  <a:srgbClr val="3257B8"/>
                </a:solidFill>
                <a:latin typeface="Roboto Slab" pitchFamily="34" charset="0"/>
                <a:ea typeface="Roboto Slab" pitchFamily="34" charset="-122"/>
                <a:cs typeface="Roboto Slab" pitchFamily="34" charset="-120"/>
              </a:rPr>
              <a:t>Foreign Key (FK)</a:t>
            </a:r>
            <a:endParaRPr lang="en-US" sz="1750" dirty="0"/>
          </a:p>
        </p:txBody>
      </p:sp>
      <p:sp>
        <p:nvSpPr>
          <p:cNvPr id="9" name="Text 7"/>
          <p:cNvSpPr/>
          <p:nvPr/>
        </p:nvSpPr>
        <p:spPr>
          <a:xfrm>
            <a:off x="6321267" y="2511227"/>
            <a:ext cx="5215303" cy="713680"/>
          </a:xfrm>
          <a:prstGeom prst="rect">
            <a:avLst/>
          </a:prstGeom>
          <a:noFill/>
          <a:ln/>
        </p:spPr>
        <p:txBody>
          <a:bodyPr wrap="square" lIns="0" tIns="0" rIns="0" bIns="0" rtlCol="0" anchor="t"/>
          <a:lstStyle/>
          <a:p>
            <a:pPr marL="0" indent="0" algn="l">
              <a:lnSpc>
                <a:spcPct val="130000"/>
              </a:lnSpc>
              <a:spcAft>
                <a:spcPts val="1200"/>
              </a:spcAft>
              <a:buNone/>
            </a:pPr>
            <a:r>
              <a:rPr lang="en-US" sz="1400" dirty="0">
                <a:solidFill>
                  <a:srgbClr val="15213F"/>
                </a:solidFill>
                <a:latin typeface="Roboto" pitchFamily="34" charset="0"/>
                <a:ea typeface="Roboto" pitchFamily="34" charset="-122"/>
                <a:cs typeface="Roboto" pitchFamily="34" charset="-120"/>
              </a:rPr>
              <a:t>Connects one table with another table.</a:t>
            </a:r>
            <a:endParaRPr lang="en-US" sz="1400" dirty="0"/>
          </a:p>
          <a:p>
            <a:pPr marL="0" indent="0" algn="l">
              <a:lnSpc>
                <a:spcPct val="130000"/>
              </a:lnSpc>
              <a:buNone/>
            </a:pPr>
            <a:r>
              <a:rPr lang="en-US" sz="1400" b="1" dirty="0">
                <a:solidFill>
                  <a:srgbClr val="15213F"/>
                </a:solidFill>
                <a:latin typeface="Roboto Bold" pitchFamily="34" charset="0"/>
                <a:ea typeface="Roboto Bold" pitchFamily="34" charset="-122"/>
                <a:cs typeface="Roboto Bold" pitchFamily="34" charset="-120"/>
              </a:rPr>
              <a:t>Examples:</a:t>
            </a:r>
            <a:endParaRPr lang="en-US" sz="1400" dirty="0"/>
          </a:p>
        </p:txBody>
      </p:sp>
      <p:sp>
        <p:nvSpPr>
          <p:cNvPr id="10" name="Text 8"/>
          <p:cNvSpPr/>
          <p:nvPr/>
        </p:nvSpPr>
        <p:spPr>
          <a:xfrm>
            <a:off x="6321267" y="3378398"/>
            <a:ext cx="5215303" cy="1638995"/>
          </a:xfrm>
          <a:prstGeom prst="rect">
            <a:avLst/>
          </a:prstGeom>
          <a:noFill/>
          <a:ln/>
        </p:spPr>
        <p:txBody>
          <a:bodyPr wrap="square" lIns="0" tIns="0" rIns="0" bIns="0" rtlCol="0" anchor="t">
            <a:normAutofit/>
          </a:bodyPr>
          <a:lstStyle/>
          <a:p>
            <a:pPr marL="284480" indent="-284480" algn="l">
              <a:lnSpc>
                <a:spcPct val="130000"/>
              </a:lnSpc>
              <a:buSzPct val="100000"/>
              <a:buChar char="•"/>
            </a:pPr>
            <a:r>
              <a:rPr lang="en-US" sz="1400" dirty="0">
                <a:solidFill>
                  <a:srgbClr val="15213F"/>
                </a:solidFill>
                <a:latin typeface="Roboto" pitchFamily="34" charset="0"/>
                <a:ea typeface="Roboto" pitchFamily="34" charset="-122"/>
                <a:cs typeface="Roboto" pitchFamily="34" charset="-120"/>
              </a:rPr>
              <a:t>Customer_ID → Account</a:t>
            </a:r>
            <a:endParaRPr lang="en-US" sz="1400" dirty="0"/>
          </a:p>
          <a:p>
            <a:pPr marL="284480" indent="-284480" algn="l">
              <a:lnSpc>
                <a:spcPct val="130000"/>
              </a:lnSpc>
              <a:buSzPct val="100000"/>
              <a:buChar char="•"/>
            </a:pPr>
            <a:r>
              <a:rPr lang="en-US" sz="1400" dirty="0">
                <a:solidFill>
                  <a:srgbClr val="15213F"/>
                </a:solidFill>
                <a:latin typeface="Roboto" pitchFamily="34" charset="0"/>
                <a:ea typeface="Roboto" pitchFamily="34" charset="-122"/>
                <a:cs typeface="Roboto" pitchFamily="34" charset="-120"/>
              </a:rPr>
              <a:t>Branch_ID → Account</a:t>
            </a:r>
            <a:endParaRPr lang="en-US" sz="1400" dirty="0"/>
          </a:p>
          <a:p>
            <a:pPr marL="284480" indent="-284480" algn="l">
              <a:lnSpc>
                <a:spcPct val="130000"/>
              </a:lnSpc>
              <a:buSzPct val="100000"/>
              <a:buChar char="•"/>
            </a:pPr>
            <a:r>
              <a:rPr lang="en-US" sz="1400" dirty="0">
                <a:solidFill>
                  <a:srgbClr val="15213F"/>
                </a:solidFill>
                <a:latin typeface="Roboto" pitchFamily="34" charset="0"/>
                <a:ea typeface="Roboto" pitchFamily="34" charset="-122"/>
                <a:cs typeface="Roboto" pitchFamily="34" charset="-120"/>
              </a:rPr>
              <a:t>Branch_ID → Employee</a:t>
            </a:r>
            <a:endParaRPr lang="en-US" sz="1400" dirty="0"/>
          </a:p>
          <a:p>
            <a:pPr marL="284480" indent="-284480" algn="l">
              <a:lnSpc>
                <a:spcPct val="130000"/>
              </a:lnSpc>
              <a:buSzPct val="100000"/>
              <a:buChar char="•"/>
            </a:pPr>
            <a:r>
              <a:rPr lang="en-US" sz="1400" dirty="0">
                <a:solidFill>
                  <a:srgbClr val="15213F"/>
                </a:solidFill>
                <a:latin typeface="Roboto" pitchFamily="34" charset="0"/>
                <a:ea typeface="Roboto" pitchFamily="34" charset="-122"/>
                <a:cs typeface="Roboto" pitchFamily="34" charset="-120"/>
              </a:rPr>
              <a:t>Account_Number → Transaction</a:t>
            </a:r>
            <a:endParaRPr lang="en-US" sz="1400" dirty="0"/>
          </a:p>
          <a:p>
            <a:pPr marL="284480" indent="-284480" algn="l">
              <a:lnSpc>
                <a:spcPct val="130000"/>
              </a:lnSpc>
              <a:buSzPct val="100000"/>
              <a:buChar char="•"/>
            </a:pPr>
            <a:r>
              <a:rPr lang="en-US" sz="1400" dirty="0">
                <a:solidFill>
                  <a:srgbClr val="15213F"/>
                </a:solidFill>
                <a:latin typeface="Roboto" pitchFamily="34" charset="0"/>
                <a:ea typeface="Roboto" pitchFamily="34" charset="-122"/>
                <a:cs typeface="Roboto" pitchFamily="34" charset="-120"/>
              </a:rPr>
              <a:t>Customer_ID → Loan</a:t>
            </a:r>
            <a:endParaRPr lang="en-US" sz="1400" dirty="0"/>
          </a:p>
        </p:txBody>
      </p:sp>
      <p:sp>
        <p:nvSpPr>
          <p:cNvPr id="11" name="Shape 9"/>
          <p:cNvSpPr/>
          <p:nvPr/>
        </p:nvSpPr>
        <p:spPr>
          <a:xfrm>
            <a:off x="661475" y="5608638"/>
            <a:ext cx="10868745" cy="693837"/>
          </a:xfrm>
          <a:prstGeom prst="roundRect">
            <a:avLst>
              <a:gd name="adj" fmla="val 3882"/>
            </a:avLst>
          </a:prstGeom>
          <a:solidFill>
            <a:srgbClr val="D7DFF4"/>
          </a:solidFill>
          <a:ln/>
        </p:spPr>
      </p:sp>
      <p:pic>
        <p:nvPicPr>
          <p:cNvPr id="12" name="Image 0" descr="preencoded.png"/>
          <p:cNvPicPr>
            <a:picLocks noChangeAspect="1"/>
          </p:cNvPicPr>
          <p:nvPr/>
        </p:nvPicPr>
        <p:blipFill>
          <a:blip r:embed="rId3"/>
          <a:stretch>
            <a:fillRect/>
          </a:stretch>
        </p:blipFill>
        <p:spPr>
          <a:xfrm>
            <a:off x="840957" y="5851128"/>
            <a:ext cx="224427" cy="179487"/>
          </a:xfrm>
          <a:prstGeom prst="rect">
            <a:avLst/>
          </a:prstGeom>
        </p:spPr>
      </p:pic>
      <p:sp>
        <p:nvSpPr>
          <p:cNvPr id="13" name="Text 10"/>
          <p:cNvSpPr/>
          <p:nvPr/>
        </p:nvSpPr>
        <p:spPr>
          <a:xfrm>
            <a:off x="1244867" y="5824041"/>
            <a:ext cx="10715456" cy="280095"/>
          </a:xfrm>
          <a:prstGeom prst="rect">
            <a:avLst/>
          </a:prstGeom>
          <a:noFill/>
          <a:ln/>
        </p:spPr>
        <p:txBody>
          <a:bodyPr wrap="none" lIns="0" tIns="0" rIns="0" bIns="0" rtlCol="0" anchor="t"/>
          <a:lstStyle/>
          <a:p>
            <a:pPr marL="0" indent="0" algn="l">
              <a:lnSpc>
                <a:spcPct val="130000"/>
              </a:lnSpc>
              <a:buNone/>
            </a:pPr>
            <a:r>
              <a:rPr lang="en-US" sz="1400" b="1" dirty="0">
                <a:solidFill>
                  <a:srgbClr val="000000"/>
                </a:solidFill>
                <a:latin typeface="Roboto Bold" pitchFamily="34" charset="0"/>
                <a:ea typeface="Roboto Bold" pitchFamily="34" charset="-122"/>
                <a:cs typeface="Roboto Bold" pitchFamily="34" charset="-120"/>
              </a:rPr>
              <a:t>Easy explanation:</a:t>
            </a:r>
            <a:r>
              <a:rPr lang="en-US" sz="1400" dirty="0">
                <a:solidFill>
                  <a:srgbClr val="000000"/>
                </a:solidFill>
                <a:latin typeface="Roboto" pitchFamily="34" charset="0"/>
                <a:ea typeface="Roboto" pitchFamily="34" charset="-122"/>
                <a:cs typeface="Roboto" pitchFamily="34" charset="-120"/>
              </a:rPr>
              <a:t> "A primary key identifies a record uniquely, while a foreign key connects two tables."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64468"/>
            <a:ext cx="10868745" cy="383977"/>
          </a:xfrm>
          <a:prstGeom prst="rect">
            <a:avLst/>
          </a:prstGeom>
          <a:noFill/>
          <a:ln/>
        </p:spPr>
        <p:txBody>
          <a:bodyPr wrap="none" lIns="0" tIns="0" rIns="0" bIns="0" rtlCol="0" anchor="t"/>
          <a:lstStyle/>
          <a:p>
            <a:pPr marL="0" indent="0" algn="l">
              <a:lnSpc>
                <a:spcPct val="104000"/>
              </a:lnSpc>
              <a:buNone/>
            </a:pPr>
            <a:r>
              <a:rPr lang="en-US" sz="2400" dirty="0">
                <a:solidFill>
                  <a:srgbClr val="3257B8"/>
                </a:solidFill>
                <a:latin typeface="Roboto Slab" pitchFamily="34" charset="0"/>
                <a:ea typeface="Roboto Slab" pitchFamily="34" charset="-122"/>
                <a:cs typeface="Roboto Slab" pitchFamily="34" charset="-120"/>
              </a:rPr>
              <a:t>Relational Database Schema</a:t>
            </a:r>
            <a:endParaRPr lang="en-US" sz="2400" dirty="0"/>
          </a:p>
        </p:txBody>
      </p:sp>
      <p:sp>
        <p:nvSpPr>
          <p:cNvPr id="3" name="Text 1"/>
          <p:cNvSpPr/>
          <p:nvPr/>
        </p:nvSpPr>
        <p:spPr>
          <a:xfrm>
            <a:off x="661475" y="1208088"/>
            <a:ext cx="11478330" cy="162123"/>
          </a:xfrm>
          <a:prstGeom prst="rect">
            <a:avLst/>
          </a:prstGeom>
          <a:noFill/>
          <a:ln/>
        </p:spPr>
        <p:txBody>
          <a:bodyPr wrap="none" lIns="0" tIns="0" rIns="0" bIns="0" rtlCol="0" anchor="t"/>
          <a:lstStyle/>
          <a:p>
            <a:pPr marL="0" indent="0" algn="l">
              <a:lnSpc>
                <a:spcPct val="110000"/>
              </a:lnSpc>
              <a:buNone/>
            </a:pPr>
            <a:r>
              <a:rPr lang="en-US" sz="950" dirty="0">
                <a:solidFill>
                  <a:srgbClr val="15213F"/>
                </a:solidFill>
                <a:latin typeface="Roboto" pitchFamily="34" charset="0"/>
                <a:ea typeface="Roboto" pitchFamily="34" charset="-122"/>
                <a:cs typeface="Roboto" pitchFamily="34" charset="-120"/>
              </a:rPr>
              <a:t>Instead of putting complicated definitions, show the tables simply:</a:t>
            </a:r>
            <a:endParaRPr lang="en-US" sz="950" dirty="0"/>
          </a:p>
        </p:txBody>
      </p:sp>
      <p:sp>
        <p:nvSpPr>
          <p:cNvPr id="4" name="Shape 2"/>
          <p:cNvSpPr/>
          <p:nvPr/>
        </p:nvSpPr>
        <p:spPr>
          <a:xfrm>
            <a:off x="661475" y="1460004"/>
            <a:ext cx="5394488" cy="1433016"/>
          </a:xfrm>
          <a:prstGeom prst="roundRect">
            <a:avLst>
              <a:gd name="adj" fmla="val 1286"/>
            </a:avLst>
          </a:prstGeom>
          <a:solidFill>
            <a:srgbClr val="FBFCFE"/>
          </a:solidFill>
          <a:ln w="12700">
            <a:solidFill>
              <a:srgbClr val="CFD2D8"/>
            </a:solidFill>
            <a:prstDash val="solid"/>
          </a:ln>
        </p:spPr>
      </p:sp>
      <p:sp>
        <p:nvSpPr>
          <p:cNvPr id="5" name="Text 3"/>
          <p:cNvSpPr/>
          <p:nvPr/>
        </p:nvSpPr>
        <p:spPr>
          <a:xfrm>
            <a:off x="797004" y="1595537"/>
            <a:ext cx="5123429" cy="191988"/>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CUSTOMER</a:t>
            </a:r>
            <a:endParaRPr lang="en-US" sz="1200" dirty="0"/>
          </a:p>
        </p:txBody>
      </p:sp>
      <p:sp>
        <p:nvSpPr>
          <p:cNvPr id="6" name="Text 4"/>
          <p:cNvSpPr/>
          <p:nvPr/>
        </p:nvSpPr>
        <p:spPr>
          <a:xfrm>
            <a:off x="797004" y="1835348"/>
            <a:ext cx="5123429" cy="922139"/>
          </a:xfrm>
          <a:prstGeom prst="rect">
            <a:avLst/>
          </a:prstGeom>
          <a:noFill/>
          <a:ln/>
        </p:spPr>
        <p:txBody>
          <a:bodyPr wrap="square" lIns="0" tIns="0" rIns="0" bIns="0" rtlCol="0" anchor="t">
            <a:normAutofit/>
          </a:bodyPr>
          <a:lstStyle/>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Customer_ID (PK)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Name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Phone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Email</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Address</a:t>
            </a:r>
            <a:endParaRPr lang="en-US" sz="950" dirty="0"/>
          </a:p>
        </p:txBody>
      </p:sp>
      <p:sp>
        <p:nvSpPr>
          <p:cNvPr id="7" name="Shape 5"/>
          <p:cNvSpPr/>
          <p:nvPr/>
        </p:nvSpPr>
        <p:spPr>
          <a:xfrm>
            <a:off x="6135732" y="1460004"/>
            <a:ext cx="5394488" cy="1433016"/>
          </a:xfrm>
          <a:prstGeom prst="roundRect">
            <a:avLst>
              <a:gd name="adj" fmla="val 1286"/>
            </a:avLst>
          </a:prstGeom>
          <a:solidFill>
            <a:srgbClr val="FBFCFE"/>
          </a:solidFill>
          <a:ln w="12700">
            <a:solidFill>
              <a:srgbClr val="CFD2D8"/>
            </a:solidFill>
            <a:prstDash val="solid"/>
          </a:ln>
        </p:spPr>
      </p:sp>
      <p:sp>
        <p:nvSpPr>
          <p:cNvPr id="8" name="Text 6"/>
          <p:cNvSpPr/>
          <p:nvPr/>
        </p:nvSpPr>
        <p:spPr>
          <a:xfrm>
            <a:off x="6271262" y="1595537"/>
            <a:ext cx="5123429" cy="191988"/>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ACCOUNT</a:t>
            </a:r>
            <a:endParaRPr lang="en-US" sz="1200" dirty="0"/>
          </a:p>
        </p:txBody>
      </p:sp>
      <p:sp>
        <p:nvSpPr>
          <p:cNvPr id="9" name="Text 7"/>
          <p:cNvSpPr/>
          <p:nvPr/>
        </p:nvSpPr>
        <p:spPr>
          <a:xfrm>
            <a:off x="6271262" y="1835348"/>
            <a:ext cx="5123429" cy="922139"/>
          </a:xfrm>
          <a:prstGeom prst="rect">
            <a:avLst/>
          </a:prstGeom>
          <a:noFill/>
          <a:ln/>
        </p:spPr>
        <p:txBody>
          <a:bodyPr wrap="square" lIns="0" tIns="0" rIns="0" bIns="0" rtlCol="0" anchor="t">
            <a:normAutofit lnSpcReduction="10000"/>
          </a:bodyPr>
          <a:lstStyle/>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Account_Number (PK)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Account_Type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Balance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Customer_ID (FK)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Branch_ID (FK)</a:t>
            </a:r>
          </a:p>
          <a:p>
            <a:pPr marL="193040" indent="-193040">
              <a:lnSpc>
                <a:spcPct val="110000"/>
              </a:lnSpc>
              <a:buSzPct val="100000"/>
              <a:buChar char="•"/>
            </a:pPr>
            <a:r>
              <a:rPr lang="en-IN" sz="950" dirty="0" err="1">
                <a:latin typeface="Roboto" panose="02000000000000000000" pitchFamily="2" charset="0"/>
                <a:ea typeface="Roboto" panose="02000000000000000000" pitchFamily="2" charset="0"/>
                <a:cs typeface="Roboto" panose="02000000000000000000" pitchFamily="2" charset="0"/>
              </a:rPr>
              <a:t>Account_Status</a:t>
            </a:r>
            <a:endParaRPr lang="en-US" sz="950" dirty="0">
              <a:latin typeface="Roboto" panose="02000000000000000000" pitchFamily="2" charset="0"/>
              <a:ea typeface="Roboto" panose="02000000000000000000" pitchFamily="2" charset="0"/>
              <a:cs typeface="Roboto" panose="02000000000000000000" pitchFamily="2" charset="0"/>
            </a:endParaRPr>
          </a:p>
        </p:txBody>
      </p:sp>
      <p:sp>
        <p:nvSpPr>
          <p:cNvPr id="10" name="Shape 8"/>
          <p:cNvSpPr/>
          <p:nvPr/>
        </p:nvSpPr>
        <p:spPr>
          <a:xfrm>
            <a:off x="661475" y="2972792"/>
            <a:ext cx="5394488" cy="1243013"/>
          </a:xfrm>
          <a:prstGeom prst="roundRect">
            <a:avLst>
              <a:gd name="adj" fmla="val 1483"/>
            </a:avLst>
          </a:prstGeom>
          <a:solidFill>
            <a:srgbClr val="FBFCFE"/>
          </a:solidFill>
          <a:ln w="12700">
            <a:solidFill>
              <a:srgbClr val="CFD2D8"/>
            </a:solidFill>
            <a:prstDash val="solid"/>
          </a:ln>
        </p:spPr>
      </p:sp>
      <p:sp>
        <p:nvSpPr>
          <p:cNvPr id="11" name="Text 9"/>
          <p:cNvSpPr/>
          <p:nvPr/>
        </p:nvSpPr>
        <p:spPr>
          <a:xfrm>
            <a:off x="797004" y="3108325"/>
            <a:ext cx="5123429" cy="191988"/>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BRANCH</a:t>
            </a:r>
            <a:endParaRPr lang="en-US" sz="1200" dirty="0"/>
          </a:p>
        </p:txBody>
      </p:sp>
      <p:sp>
        <p:nvSpPr>
          <p:cNvPr id="12" name="Text 10"/>
          <p:cNvSpPr/>
          <p:nvPr/>
        </p:nvSpPr>
        <p:spPr>
          <a:xfrm>
            <a:off x="797004" y="3348137"/>
            <a:ext cx="5123429" cy="732135"/>
          </a:xfrm>
          <a:prstGeom prst="rect">
            <a:avLst/>
          </a:prstGeom>
          <a:noFill/>
          <a:ln/>
        </p:spPr>
        <p:txBody>
          <a:bodyPr wrap="square" lIns="0" tIns="0" rIns="0" bIns="0" rtlCol="0" anchor="t">
            <a:normAutofit/>
          </a:bodyPr>
          <a:lstStyle/>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Branch_ID (PK)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Branch_Name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IFSC_Code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Address</a:t>
            </a:r>
            <a:endParaRPr lang="en-US" sz="950" dirty="0"/>
          </a:p>
        </p:txBody>
      </p:sp>
      <p:sp>
        <p:nvSpPr>
          <p:cNvPr id="13" name="Shape 11"/>
          <p:cNvSpPr/>
          <p:nvPr/>
        </p:nvSpPr>
        <p:spPr>
          <a:xfrm>
            <a:off x="6135732" y="2972792"/>
            <a:ext cx="5394488" cy="1243013"/>
          </a:xfrm>
          <a:prstGeom prst="roundRect">
            <a:avLst>
              <a:gd name="adj" fmla="val 1483"/>
            </a:avLst>
          </a:prstGeom>
          <a:solidFill>
            <a:srgbClr val="FBFCFE"/>
          </a:solidFill>
          <a:ln w="12700">
            <a:solidFill>
              <a:srgbClr val="CFD2D8"/>
            </a:solidFill>
            <a:prstDash val="solid"/>
          </a:ln>
        </p:spPr>
      </p:sp>
      <p:sp>
        <p:nvSpPr>
          <p:cNvPr id="14" name="Text 12"/>
          <p:cNvSpPr/>
          <p:nvPr/>
        </p:nvSpPr>
        <p:spPr>
          <a:xfrm>
            <a:off x="6271262" y="3108325"/>
            <a:ext cx="5123429" cy="191988"/>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EMPLOYEE</a:t>
            </a:r>
            <a:endParaRPr lang="en-US" sz="1200" dirty="0"/>
          </a:p>
        </p:txBody>
      </p:sp>
      <p:sp>
        <p:nvSpPr>
          <p:cNvPr id="15" name="Text 13"/>
          <p:cNvSpPr/>
          <p:nvPr/>
        </p:nvSpPr>
        <p:spPr>
          <a:xfrm>
            <a:off x="6271262" y="3348137"/>
            <a:ext cx="5123429" cy="732135"/>
          </a:xfrm>
          <a:prstGeom prst="rect">
            <a:avLst/>
          </a:prstGeom>
          <a:noFill/>
          <a:ln/>
        </p:spPr>
        <p:txBody>
          <a:bodyPr wrap="square" lIns="0" tIns="0" rIns="0" bIns="0" rtlCol="0" anchor="t">
            <a:normAutofit/>
          </a:bodyPr>
          <a:lstStyle/>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Employee_ID (PK)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Employee_Name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Designation</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Branch_ID (FK)</a:t>
            </a:r>
            <a:endParaRPr lang="en-US" sz="950" dirty="0"/>
          </a:p>
        </p:txBody>
      </p:sp>
      <p:sp>
        <p:nvSpPr>
          <p:cNvPr id="16" name="Shape 14"/>
          <p:cNvSpPr/>
          <p:nvPr/>
        </p:nvSpPr>
        <p:spPr>
          <a:xfrm>
            <a:off x="661475" y="4295577"/>
            <a:ext cx="5394488" cy="1433016"/>
          </a:xfrm>
          <a:prstGeom prst="roundRect">
            <a:avLst>
              <a:gd name="adj" fmla="val 1286"/>
            </a:avLst>
          </a:prstGeom>
          <a:solidFill>
            <a:srgbClr val="FBFCFE"/>
          </a:solidFill>
          <a:ln w="12700">
            <a:solidFill>
              <a:srgbClr val="CFD2D8"/>
            </a:solidFill>
            <a:prstDash val="solid"/>
          </a:ln>
        </p:spPr>
      </p:sp>
      <p:sp>
        <p:nvSpPr>
          <p:cNvPr id="17" name="Text 15"/>
          <p:cNvSpPr/>
          <p:nvPr/>
        </p:nvSpPr>
        <p:spPr>
          <a:xfrm>
            <a:off x="797004" y="4431109"/>
            <a:ext cx="5123429" cy="191988"/>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TRANSACTION</a:t>
            </a:r>
            <a:endParaRPr lang="en-US" sz="1200" dirty="0"/>
          </a:p>
        </p:txBody>
      </p:sp>
      <p:sp>
        <p:nvSpPr>
          <p:cNvPr id="18" name="Text 16"/>
          <p:cNvSpPr/>
          <p:nvPr/>
        </p:nvSpPr>
        <p:spPr>
          <a:xfrm>
            <a:off x="797004" y="4670921"/>
            <a:ext cx="5123429" cy="922139"/>
          </a:xfrm>
          <a:prstGeom prst="rect">
            <a:avLst/>
          </a:prstGeom>
          <a:noFill/>
          <a:ln/>
        </p:spPr>
        <p:txBody>
          <a:bodyPr wrap="square" lIns="0" tIns="0" rIns="0" bIns="0" rtlCol="0" anchor="t">
            <a:normAutofit/>
          </a:bodyPr>
          <a:lstStyle/>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Transaction_ID (PK)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Account_Number (FK)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Transaction_Type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Amount</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Transaction_Date</a:t>
            </a:r>
            <a:endParaRPr lang="en-US" sz="950" dirty="0"/>
          </a:p>
        </p:txBody>
      </p:sp>
      <p:sp>
        <p:nvSpPr>
          <p:cNvPr id="19" name="Shape 17"/>
          <p:cNvSpPr/>
          <p:nvPr/>
        </p:nvSpPr>
        <p:spPr>
          <a:xfrm>
            <a:off x="6135732" y="4295577"/>
            <a:ext cx="5394488" cy="1433016"/>
          </a:xfrm>
          <a:prstGeom prst="roundRect">
            <a:avLst>
              <a:gd name="adj" fmla="val 1286"/>
            </a:avLst>
          </a:prstGeom>
          <a:solidFill>
            <a:srgbClr val="FBFCFE"/>
          </a:solidFill>
          <a:ln w="12700">
            <a:solidFill>
              <a:srgbClr val="CFD2D8"/>
            </a:solidFill>
            <a:prstDash val="solid"/>
          </a:ln>
        </p:spPr>
      </p:sp>
      <p:sp>
        <p:nvSpPr>
          <p:cNvPr id="20" name="Text 18"/>
          <p:cNvSpPr/>
          <p:nvPr/>
        </p:nvSpPr>
        <p:spPr>
          <a:xfrm>
            <a:off x="6271262" y="4431109"/>
            <a:ext cx="5123429" cy="191988"/>
          </a:xfrm>
          <a:prstGeom prst="rect">
            <a:avLst/>
          </a:prstGeom>
          <a:noFill/>
          <a:ln/>
        </p:spPr>
        <p:txBody>
          <a:bodyPr wrap="none" lIns="0" tIns="0" rIns="0" bIns="0" rtlCol="0" anchor="t"/>
          <a:lstStyle/>
          <a:p>
            <a:pPr marL="0" indent="0" algn="l">
              <a:lnSpc>
                <a:spcPct val="104000"/>
              </a:lnSpc>
              <a:buNone/>
            </a:pPr>
            <a:r>
              <a:rPr lang="en-US" sz="1200" dirty="0">
                <a:solidFill>
                  <a:srgbClr val="15213F"/>
                </a:solidFill>
                <a:latin typeface="Roboto Slab" pitchFamily="34" charset="0"/>
                <a:ea typeface="Roboto Slab" pitchFamily="34" charset="-122"/>
                <a:cs typeface="Roboto Slab" pitchFamily="34" charset="-120"/>
              </a:rPr>
              <a:t>LOAN</a:t>
            </a:r>
            <a:endParaRPr lang="en-US" sz="1200" dirty="0"/>
          </a:p>
        </p:txBody>
      </p:sp>
      <p:sp>
        <p:nvSpPr>
          <p:cNvPr id="21" name="Text 19"/>
          <p:cNvSpPr/>
          <p:nvPr/>
        </p:nvSpPr>
        <p:spPr>
          <a:xfrm>
            <a:off x="6271262" y="4670921"/>
            <a:ext cx="5123429" cy="922139"/>
          </a:xfrm>
          <a:prstGeom prst="rect">
            <a:avLst/>
          </a:prstGeom>
          <a:noFill/>
          <a:ln/>
        </p:spPr>
        <p:txBody>
          <a:bodyPr wrap="square" lIns="0" tIns="0" rIns="0" bIns="0" rtlCol="0" anchor="t">
            <a:normAutofit/>
          </a:bodyPr>
          <a:lstStyle/>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Loan_ID (PK)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Customer_ID (FK)</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Loan_Type</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Loan_Amount</a:t>
            </a:r>
            <a:endParaRPr lang="en-US" sz="950" dirty="0"/>
          </a:p>
          <a:p>
            <a:pPr marL="193040" indent="-193040" algn="l">
              <a:lnSpc>
                <a:spcPct val="110000"/>
              </a:lnSpc>
              <a:buSzPct val="100000"/>
              <a:buChar char="•"/>
            </a:pPr>
            <a:r>
              <a:rPr lang="en-US" sz="950" dirty="0">
                <a:solidFill>
                  <a:srgbClr val="15213F"/>
                </a:solidFill>
                <a:latin typeface="Roboto" pitchFamily="34" charset="0"/>
                <a:ea typeface="Roboto" pitchFamily="34" charset="-122"/>
                <a:cs typeface="Roboto" pitchFamily="34" charset="-120"/>
              </a:rPr>
              <a:t>Interest_Rate</a:t>
            </a:r>
            <a:endParaRPr lang="en-US" sz="950" dirty="0"/>
          </a:p>
        </p:txBody>
      </p:sp>
      <p:sp>
        <p:nvSpPr>
          <p:cNvPr id="22" name="Shape 20"/>
          <p:cNvSpPr/>
          <p:nvPr/>
        </p:nvSpPr>
        <p:spPr>
          <a:xfrm>
            <a:off x="538950" y="5818385"/>
            <a:ext cx="10868745" cy="746537"/>
          </a:xfrm>
          <a:prstGeom prst="roundRect">
            <a:avLst>
              <a:gd name="adj" fmla="val 4914"/>
            </a:avLst>
          </a:prstGeom>
          <a:solidFill>
            <a:srgbClr val="D7DFF4"/>
          </a:solidFill>
          <a:ln/>
        </p:spPr>
        <p:txBody>
          <a:bodyPr/>
          <a:lstStyle/>
          <a:p>
            <a:endParaRPr lang="en-IN" dirty="0"/>
          </a:p>
        </p:txBody>
      </p:sp>
      <p:pic>
        <p:nvPicPr>
          <p:cNvPr id="23" name="Image 0" descr="preencoded.png"/>
          <p:cNvPicPr>
            <a:picLocks noChangeAspect="1"/>
          </p:cNvPicPr>
          <p:nvPr/>
        </p:nvPicPr>
        <p:blipFill>
          <a:blip r:embed="rId3"/>
          <a:stretch>
            <a:fillRect/>
          </a:stretch>
        </p:blipFill>
        <p:spPr>
          <a:xfrm>
            <a:off x="784305" y="5935563"/>
            <a:ext cx="153488" cy="122833"/>
          </a:xfrm>
          <a:prstGeom prst="rect">
            <a:avLst/>
          </a:prstGeom>
        </p:spPr>
      </p:pic>
      <p:sp>
        <p:nvSpPr>
          <p:cNvPr id="24" name="Text 21"/>
          <p:cNvSpPr/>
          <p:nvPr/>
        </p:nvSpPr>
        <p:spPr>
          <a:xfrm>
            <a:off x="1060622" y="5928816"/>
            <a:ext cx="10956353" cy="162123"/>
          </a:xfrm>
          <a:prstGeom prst="rect">
            <a:avLst/>
          </a:prstGeom>
          <a:noFill/>
          <a:ln/>
        </p:spPr>
        <p:txBody>
          <a:bodyPr wrap="none" lIns="0" tIns="0" rIns="0" bIns="0" rtlCol="0" anchor="t"/>
          <a:lstStyle/>
          <a:p>
            <a:pPr marL="0" indent="0" algn="l">
              <a:lnSpc>
                <a:spcPct val="110000"/>
              </a:lnSpc>
              <a:buNone/>
            </a:pPr>
            <a:r>
              <a:rPr lang="en-US" sz="950" b="1" dirty="0">
                <a:solidFill>
                  <a:srgbClr val="000000"/>
                </a:solidFill>
                <a:latin typeface="Roboto Bold" pitchFamily="34" charset="0"/>
                <a:ea typeface="Roboto Bold" pitchFamily="34" charset="-122"/>
                <a:cs typeface="Roboto Bold" pitchFamily="34" charset="-120"/>
              </a:rPr>
              <a:t>Tip:</a:t>
            </a:r>
            <a:r>
              <a:rPr lang="en-US" sz="950" dirty="0">
                <a:solidFill>
                  <a:srgbClr val="000000"/>
                </a:solidFill>
                <a:latin typeface="Roboto" pitchFamily="34" charset="0"/>
                <a:ea typeface="Roboto" pitchFamily="34" charset="-122"/>
                <a:cs typeface="Roboto" pitchFamily="34" charset="-120"/>
              </a:rPr>
              <a:t> </a:t>
            </a:r>
          </a:p>
          <a:p>
            <a:pPr marL="171450" indent="-171450" algn="l">
              <a:lnSpc>
                <a:spcPct val="110000"/>
              </a:lnSpc>
              <a:buFont typeface="Wingdings" panose="05000000000000000000" pitchFamily="2" charset="2"/>
              <a:buChar char="Ø"/>
            </a:pPr>
            <a:r>
              <a:rPr lang="en-US" sz="950" dirty="0">
                <a:solidFill>
                  <a:srgbClr val="000000"/>
                </a:solidFill>
                <a:latin typeface="Roboto" pitchFamily="34" charset="0"/>
                <a:ea typeface="Roboto" pitchFamily="34" charset="-122"/>
                <a:cs typeface="Roboto" pitchFamily="34" charset="-120"/>
              </a:rPr>
              <a:t>This slide should be mostly visual. Use </a:t>
            </a:r>
            <a:r>
              <a:rPr lang="en-US" sz="950" b="1" dirty="0">
                <a:solidFill>
                  <a:srgbClr val="000000"/>
                </a:solidFill>
                <a:latin typeface="Roboto Bold" pitchFamily="34" charset="0"/>
                <a:ea typeface="Roboto Bold" pitchFamily="34" charset="-122"/>
                <a:cs typeface="Roboto Bold" pitchFamily="34" charset="-120"/>
              </a:rPr>
              <a:t>six small boxes</a:t>
            </a:r>
            <a:r>
              <a:rPr lang="en-US" sz="950" dirty="0">
                <a:solidFill>
                  <a:srgbClr val="000000"/>
                </a:solidFill>
                <a:latin typeface="Roboto" pitchFamily="34" charset="0"/>
                <a:ea typeface="Roboto" pitchFamily="34" charset="-122"/>
                <a:cs typeface="Roboto" pitchFamily="34" charset="-120"/>
              </a:rPr>
              <a:t> rather than paragraphs.</a:t>
            </a:r>
          </a:p>
          <a:p>
            <a:pPr marL="171450" indent="-171450">
              <a:lnSpc>
                <a:spcPct val="110000"/>
              </a:lnSpc>
              <a:buFont typeface="Wingdings" panose="05000000000000000000" pitchFamily="2" charset="2"/>
              <a:buChar char="Ø"/>
            </a:pPr>
            <a:r>
              <a:rPr lang="en-IN" sz="1000" dirty="0"/>
              <a:t>Simplified schema view shown for presentation clarity; complete attributes are defined in the Entity-Attribute table.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43421"/>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E-R Diagram</a:t>
            </a:r>
            <a:endParaRPr lang="en-US" sz="3700" dirty="0"/>
          </a:p>
        </p:txBody>
      </p:sp>
      <p:sp>
        <p:nvSpPr>
          <p:cNvPr id="3" name="Text 1"/>
          <p:cNvSpPr/>
          <p:nvPr/>
        </p:nvSpPr>
        <p:spPr>
          <a:xfrm>
            <a:off x="661475" y="1587599"/>
            <a:ext cx="3390914" cy="4006850"/>
          </a:xfrm>
          <a:prstGeom prst="rect">
            <a:avLst/>
          </a:prstGeom>
          <a:noFill/>
          <a:ln/>
        </p:spPr>
        <p:txBody>
          <a:bodyPr wrap="square" lIns="0" tIns="0" rIns="0" bIns="0" rtlCol="0" anchor="t">
            <a:normAutofit fontScale="92500"/>
          </a:bodyPr>
          <a:lstStyle/>
          <a:p>
            <a:pPr marL="285750" indent="-285750" algn="l">
              <a:lnSpc>
                <a:spcPct val="133000"/>
              </a:lnSpc>
              <a:spcAft>
                <a:spcPts val="1300"/>
              </a:spcAft>
              <a:buFont typeface="Wingdings" panose="05000000000000000000" pitchFamily="2" charset="2"/>
              <a:buChar char="ü"/>
            </a:pPr>
            <a:r>
              <a:rPr lang="en-US" sz="1450" dirty="0">
                <a:solidFill>
                  <a:srgbClr val="15213F"/>
                </a:solidFill>
                <a:latin typeface="Roboto" pitchFamily="34" charset="0"/>
                <a:ea typeface="Roboto" pitchFamily="34" charset="-122"/>
                <a:cs typeface="Roboto" pitchFamily="34" charset="-120"/>
              </a:rPr>
              <a:t>An E-R diagram is a visual model of a database.</a:t>
            </a:r>
            <a:endParaRPr lang="en-US" sz="1450" dirty="0"/>
          </a:p>
          <a:p>
            <a:pPr marL="285750" indent="-285750" algn="l">
              <a:lnSpc>
                <a:spcPct val="133000"/>
              </a:lnSpc>
              <a:spcAft>
                <a:spcPts val="1300"/>
              </a:spcAft>
              <a:buFont typeface="Wingdings" panose="05000000000000000000" pitchFamily="2" charset="2"/>
              <a:buChar char="ü"/>
            </a:pPr>
            <a:r>
              <a:rPr lang="en-US" sz="1450" dirty="0">
                <a:solidFill>
                  <a:srgbClr val="15213F"/>
                </a:solidFill>
                <a:latin typeface="Roboto" pitchFamily="34" charset="0"/>
                <a:ea typeface="Roboto" pitchFamily="34" charset="-122"/>
                <a:cs typeface="Roboto" pitchFamily="34" charset="-120"/>
              </a:rPr>
              <a:t>It shows how data is organized and connected.</a:t>
            </a:r>
            <a:endParaRPr lang="en-US" sz="1450" dirty="0"/>
          </a:p>
          <a:p>
            <a:pPr marL="285750" indent="-285750" algn="l">
              <a:lnSpc>
                <a:spcPct val="133000"/>
              </a:lnSpc>
              <a:spcAft>
                <a:spcPts val="1300"/>
              </a:spcAft>
              <a:buFont typeface="Wingdings" panose="05000000000000000000" pitchFamily="2" charset="2"/>
              <a:buChar char="ü"/>
            </a:pPr>
            <a:r>
              <a:rPr lang="en-US" sz="1450" dirty="0">
                <a:solidFill>
                  <a:srgbClr val="15213F"/>
                </a:solidFill>
                <a:latin typeface="Roboto" pitchFamily="34" charset="0"/>
                <a:ea typeface="Roboto" pitchFamily="34" charset="-122"/>
                <a:cs typeface="Roboto" pitchFamily="34" charset="-120"/>
              </a:rPr>
              <a:t>The main entities here include customer, account, branch, employee, transaction, and loan.</a:t>
            </a:r>
            <a:endParaRPr lang="en-US" sz="1450" dirty="0"/>
          </a:p>
          <a:p>
            <a:pPr marL="285750" indent="-285750">
              <a:lnSpc>
                <a:spcPct val="133000"/>
              </a:lnSpc>
              <a:spcAft>
                <a:spcPts val="1300"/>
              </a:spcAft>
              <a:buFont typeface="Wingdings" panose="05000000000000000000" pitchFamily="2" charset="2"/>
              <a:buChar char="ü"/>
            </a:pPr>
            <a:r>
              <a:rPr lang="en-IN" sz="1600" dirty="0"/>
              <a:t>Relationships between entities are represented using primary keys and foreign keys.</a:t>
            </a:r>
          </a:p>
          <a:p>
            <a:pPr marL="285750" indent="-285750">
              <a:lnSpc>
                <a:spcPct val="133000"/>
              </a:lnSpc>
              <a:spcAft>
                <a:spcPts val="1300"/>
              </a:spcAft>
              <a:buFont typeface="Wingdings" panose="05000000000000000000" pitchFamily="2" charset="2"/>
              <a:buChar char="ü"/>
            </a:pPr>
            <a:r>
              <a:rPr lang="en-US" sz="1450" dirty="0">
                <a:solidFill>
                  <a:srgbClr val="15213F"/>
                </a:solidFill>
                <a:latin typeface="Roboto" pitchFamily="34" charset="0"/>
                <a:ea typeface="Roboto" pitchFamily="34" charset="-122"/>
                <a:cs typeface="Roboto" pitchFamily="34" charset="-120"/>
              </a:rPr>
              <a:t>This helps define the structure of the banking system clearly and accurately.</a:t>
            </a:r>
            <a:endParaRPr lang="en-US" sz="1450" dirty="0"/>
          </a:p>
        </p:txBody>
      </p:sp>
      <p:pic>
        <p:nvPicPr>
          <p:cNvPr id="4" name="Image 0" descr="preencoded.png"/>
          <p:cNvPicPr>
            <a:picLocks noChangeAspect="1"/>
          </p:cNvPicPr>
          <p:nvPr/>
        </p:nvPicPr>
        <p:blipFill>
          <a:blip r:embed="rId3"/>
          <a:stretch>
            <a:fillRect/>
          </a:stretch>
        </p:blipFill>
        <p:spPr>
          <a:xfrm>
            <a:off x="4519896" y="1630164"/>
            <a:ext cx="7016574" cy="44717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64531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3257B8"/>
                </a:solidFill>
                <a:latin typeface="Roboto Slab" pitchFamily="34" charset="0"/>
                <a:ea typeface="Roboto Slab" pitchFamily="34" charset="-122"/>
                <a:cs typeface="Roboto Slab" pitchFamily="34" charset="-120"/>
              </a:rPr>
              <a:t>Team Contributions &amp; Conclusion</a:t>
            </a:r>
            <a:endParaRPr lang="en-US" sz="3700" dirty="0"/>
          </a:p>
        </p:txBody>
      </p:sp>
      <p:sp>
        <p:nvSpPr>
          <p:cNvPr id="3" name="Shape 1"/>
          <p:cNvSpPr/>
          <p:nvPr/>
        </p:nvSpPr>
        <p:spPr>
          <a:xfrm>
            <a:off x="661475" y="1613991"/>
            <a:ext cx="2575357" cy="2349599"/>
          </a:xfrm>
          <a:prstGeom prst="roundRect">
            <a:avLst>
              <a:gd name="adj" fmla="val 1207"/>
            </a:avLst>
          </a:prstGeom>
          <a:solidFill>
            <a:srgbClr val="FBFCFE"/>
          </a:solidFill>
          <a:ln w="25399">
            <a:solidFill>
              <a:srgbClr val="CFD2D8"/>
            </a:solidFill>
            <a:prstDash val="solid"/>
          </a:ln>
        </p:spPr>
      </p:sp>
      <p:sp>
        <p:nvSpPr>
          <p:cNvPr id="4" name="Text 2"/>
          <p:cNvSpPr/>
          <p:nvPr/>
        </p:nvSpPr>
        <p:spPr>
          <a:xfrm>
            <a:off x="875881" y="1828403"/>
            <a:ext cx="2146544"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Y. J. Karthikeya</a:t>
            </a:r>
            <a:endParaRPr lang="en-US" sz="1850" dirty="0"/>
          </a:p>
        </p:txBody>
      </p:sp>
      <p:sp>
        <p:nvSpPr>
          <p:cNvPr id="5" name="Text 3"/>
          <p:cNvSpPr/>
          <p:nvPr/>
        </p:nvSpPr>
        <p:spPr>
          <a:xfrm>
            <a:off x="875881" y="2237085"/>
            <a:ext cx="2146544"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Led the database design and helped define the tables, relationships, and overall structure.</a:t>
            </a:r>
            <a:endParaRPr lang="en-US" sz="1450" dirty="0"/>
          </a:p>
        </p:txBody>
      </p:sp>
      <p:sp>
        <p:nvSpPr>
          <p:cNvPr id="6" name="Shape 4"/>
          <p:cNvSpPr/>
          <p:nvPr/>
        </p:nvSpPr>
        <p:spPr>
          <a:xfrm>
            <a:off x="3425839" y="1613991"/>
            <a:ext cx="2575456" cy="2349599"/>
          </a:xfrm>
          <a:prstGeom prst="roundRect">
            <a:avLst>
              <a:gd name="adj" fmla="val 1207"/>
            </a:avLst>
          </a:prstGeom>
          <a:solidFill>
            <a:srgbClr val="FBFCFE"/>
          </a:solidFill>
          <a:ln w="25399">
            <a:solidFill>
              <a:srgbClr val="CFD2D8"/>
            </a:solidFill>
            <a:prstDash val="solid"/>
          </a:ln>
        </p:spPr>
      </p:sp>
      <p:sp>
        <p:nvSpPr>
          <p:cNvPr id="7" name="Text 5"/>
          <p:cNvSpPr/>
          <p:nvPr/>
        </p:nvSpPr>
        <p:spPr>
          <a:xfrm>
            <a:off x="3640245" y="1828403"/>
            <a:ext cx="2146643"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A. Prasanna</a:t>
            </a:r>
            <a:endParaRPr lang="en-US" sz="1850" dirty="0"/>
          </a:p>
        </p:txBody>
      </p:sp>
      <p:sp>
        <p:nvSpPr>
          <p:cNvPr id="8" name="Text 6"/>
          <p:cNvSpPr/>
          <p:nvPr/>
        </p:nvSpPr>
        <p:spPr>
          <a:xfrm>
            <a:off x="3640245" y="2237085"/>
            <a:ext cx="2146643"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Worked on the implementation part and helped build the bank account management system.</a:t>
            </a:r>
            <a:endParaRPr lang="en-US" sz="1450" dirty="0"/>
          </a:p>
        </p:txBody>
      </p:sp>
      <p:sp>
        <p:nvSpPr>
          <p:cNvPr id="9" name="Shape 7"/>
          <p:cNvSpPr/>
          <p:nvPr/>
        </p:nvSpPr>
        <p:spPr>
          <a:xfrm>
            <a:off x="6190301" y="1613991"/>
            <a:ext cx="2575456" cy="2349599"/>
          </a:xfrm>
          <a:prstGeom prst="roundRect">
            <a:avLst>
              <a:gd name="adj" fmla="val 1207"/>
            </a:avLst>
          </a:prstGeom>
          <a:solidFill>
            <a:srgbClr val="FBFCFE"/>
          </a:solidFill>
          <a:ln w="25399">
            <a:solidFill>
              <a:srgbClr val="CFD2D8"/>
            </a:solidFill>
            <a:prstDash val="solid"/>
          </a:ln>
        </p:spPr>
      </p:sp>
      <p:sp>
        <p:nvSpPr>
          <p:cNvPr id="10" name="Text 8"/>
          <p:cNvSpPr/>
          <p:nvPr/>
        </p:nvSpPr>
        <p:spPr>
          <a:xfrm>
            <a:off x="6404708" y="1828403"/>
            <a:ext cx="2146643"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K. Prasanna</a:t>
            </a:r>
            <a:endParaRPr lang="en-US" sz="1850" dirty="0"/>
          </a:p>
        </p:txBody>
      </p:sp>
      <p:sp>
        <p:nvSpPr>
          <p:cNvPr id="11" name="Text 9"/>
          <p:cNvSpPr/>
          <p:nvPr/>
        </p:nvSpPr>
        <p:spPr>
          <a:xfrm>
            <a:off x="6404708" y="2237085"/>
            <a:ext cx="2146643"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Supported testing and validation to make sure the database worked correctly and stored accurate records.</a:t>
            </a:r>
            <a:endParaRPr lang="en-US" sz="1450" dirty="0"/>
          </a:p>
        </p:txBody>
      </p:sp>
      <p:sp>
        <p:nvSpPr>
          <p:cNvPr id="12" name="Shape 10"/>
          <p:cNvSpPr/>
          <p:nvPr/>
        </p:nvSpPr>
        <p:spPr>
          <a:xfrm>
            <a:off x="8954764" y="1613991"/>
            <a:ext cx="2575456" cy="2349599"/>
          </a:xfrm>
          <a:prstGeom prst="roundRect">
            <a:avLst>
              <a:gd name="adj" fmla="val 1207"/>
            </a:avLst>
          </a:prstGeom>
          <a:solidFill>
            <a:srgbClr val="FBFCFE"/>
          </a:solidFill>
          <a:ln w="25399">
            <a:solidFill>
              <a:srgbClr val="CFD2D8"/>
            </a:solidFill>
            <a:prstDash val="solid"/>
          </a:ln>
        </p:spPr>
      </p:sp>
      <p:sp>
        <p:nvSpPr>
          <p:cNvPr id="13" name="Text 11"/>
          <p:cNvSpPr/>
          <p:nvPr/>
        </p:nvSpPr>
        <p:spPr>
          <a:xfrm>
            <a:off x="9169171" y="1828403"/>
            <a:ext cx="2146643" cy="295275"/>
          </a:xfrm>
          <a:prstGeom prst="rect">
            <a:avLst/>
          </a:prstGeom>
          <a:noFill/>
          <a:ln/>
        </p:spPr>
        <p:txBody>
          <a:bodyPr wrap="none" lIns="0" tIns="0" rIns="0" bIns="0" rtlCol="0" anchor="t"/>
          <a:lstStyle/>
          <a:p>
            <a:pPr marL="0" indent="0" algn="l">
              <a:lnSpc>
                <a:spcPct val="104000"/>
              </a:lnSpc>
              <a:buNone/>
            </a:pPr>
            <a:r>
              <a:rPr lang="en-US" sz="1850" dirty="0">
                <a:solidFill>
                  <a:srgbClr val="15213F"/>
                </a:solidFill>
                <a:latin typeface="Roboto Slab" pitchFamily="34" charset="0"/>
                <a:ea typeface="Roboto Slab" pitchFamily="34" charset="-122"/>
                <a:cs typeface="Roboto Slab" pitchFamily="34" charset="-120"/>
              </a:rPr>
              <a:t>K. Murali Krishna</a:t>
            </a:r>
            <a:endParaRPr lang="en-US" sz="1850" dirty="0"/>
          </a:p>
        </p:txBody>
      </p:sp>
      <p:sp>
        <p:nvSpPr>
          <p:cNvPr id="14" name="Text 12"/>
          <p:cNvSpPr/>
          <p:nvPr/>
        </p:nvSpPr>
        <p:spPr>
          <a:xfrm>
            <a:off x="9169171" y="2237085"/>
            <a:ext cx="2146643" cy="1512094"/>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213F"/>
                </a:solidFill>
                <a:latin typeface="Roboto" pitchFamily="34" charset="0"/>
                <a:ea typeface="Roboto" pitchFamily="34" charset="-122"/>
                <a:cs typeface="Roboto" pitchFamily="34" charset="-120"/>
              </a:rPr>
              <a:t>Prepared the documentation and helped present the project clearly and simply.</a:t>
            </a:r>
            <a:endParaRPr lang="en-US" sz="1450" dirty="0"/>
          </a:p>
        </p:txBody>
      </p:sp>
      <p:sp>
        <p:nvSpPr>
          <p:cNvPr id="15" name="Text 13"/>
          <p:cNvSpPr/>
          <p:nvPr/>
        </p:nvSpPr>
        <p:spPr>
          <a:xfrm>
            <a:off x="661475" y="4247059"/>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3257B8"/>
                </a:solidFill>
                <a:latin typeface="Roboto Slab" pitchFamily="34" charset="0"/>
                <a:ea typeface="Roboto Slab" pitchFamily="34" charset="-122"/>
                <a:cs typeface="Roboto Slab" pitchFamily="34" charset="-120"/>
              </a:rPr>
              <a:t>Conclusion</a:t>
            </a:r>
            <a:endParaRPr lang="en-US" sz="2950" dirty="0"/>
          </a:p>
        </p:txBody>
      </p:sp>
      <p:sp>
        <p:nvSpPr>
          <p:cNvPr id="16" name="Text 14"/>
          <p:cNvSpPr/>
          <p:nvPr/>
        </p:nvSpPr>
        <p:spPr>
          <a:xfrm>
            <a:off x="661475" y="5003006"/>
            <a:ext cx="10868745" cy="1209675"/>
          </a:xfrm>
          <a:prstGeom prst="rect">
            <a:avLst/>
          </a:prstGeom>
          <a:noFill/>
          <a:ln/>
        </p:spPr>
        <p:txBody>
          <a:bodyPr wrap="square" lIns="0" tIns="0" rIns="0" bIns="0" rtlCol="0" anchor="t">
            <a:normAutofit/>
          </a:bodyPr>
          <a:lstStyle/>
          <a:p>
            <a:pPr>
              <a:lnSpc>
                <a:spcPct val="133000"/>
              </a:lnSpc>
            </a:pPr>
            <a:r>
              <a:rPr lang="en-US" sz="1450" dirty="0">
                <a:solidFill>
                  <a:srgbClr val="15213F"/>
                </a:solidFill>
                <a:latin typeface="Roboto" pitchFamily="34" charset="0"/>
                <a:ea typeface="Roboto" pitchFamily="34" charset="-122"/>
                <a:cs typeface="Roboto" pitchFamily="34" charset="-120"/>
              </a:rPr>
              <a:t>       In this project, we created a bank account management database system that helps organize banking data in one place.       It makes information easy to access, keeps records accurate, and supports smoother banking operations. By centralizing the data, the system solves the problem of scattered and hard-to-manage records. </a:t>
            </a:r>
            <a:r>
              <a:rPr lang="en-IN" sz="1600" dirty="0"/>
              <a:t>The proposed system provides a structured foundation for managing banking data and can be further enhanced with advanced banking features in future development.</a:t>
            </a:r>
            <a:r>
              <a:rPr lang="en-US" sz="1450" dirty="0">
                <a:solidFill>
                  <a:srgbClr val="15213F"/>
                </a:solidFill>
                <a:latin typeface="Roboto" pitchFamily="34" charset="0"/>
                <a:ea typeface="Roboto" pitchFamily="34" charset="-122"/>
                <a:cs typeface="Roboto" pitchFamily="34" charset="-120"/>
              </a:rPr>
              <a:t>  </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1121</Words>
  <Application>Microsoft Office PowerPoint</Application>
  <PresentationFormat>Widescreen</PresentationFormat>
  <Paragraphs>190</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 Slab</vt:lpstr>
      <vt:lpstr>Roboto Bold</vt:lpstr>
      <vt:lpstr>Wingdings</vt:lpstr>
      <vt:lpstr>Arial</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Karthikeya Yalagandala</dc:creator>
  <cp:lastModifiedBy>Karthikeya Yalagandala</cp:lastModifiedBy>
  <cp:revision>3</cp:revision>
  <dcterms:created xsi:type="dcterms:W3CDTF">2026-08-10T03:05:37Z</dcterms:created>
  <dcterms:modified xsi:type="dcterms:W3CDTF">2026-08-11T02:03:17Z</dcterms:modified>
</cp:coreProperties>
</file>